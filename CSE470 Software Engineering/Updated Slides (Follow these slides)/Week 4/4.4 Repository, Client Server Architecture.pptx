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</p:sldIdLst>
  <p:sldSz cy="6858000" cx="12192000"/>
  <p:notesSz cx="6858000" cy="9144000"/>
  <p:embeddedFontLst>
    <p:embeddedFont>
      <p:font typeface="Lexend"/>
      <p:regular r:id="rId26"/>
      <p:bold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Lexend-regular.fntdata"/><Relationship Id="rId25" Type="http://schemas.openxmlformats.org/officeDocument/2006/relationships/slide" Target="slides/slide21.xml"/><Relationship Id="rId27" Type="http://schemas.openxmlformats.org/officeDocument/2006/relationships/font" Target="fonts/Lexend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94a710a4e6_0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94a710a4e6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94a710a4e6_0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94a710a4e6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94a710a4e6_0_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94a710a4e6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94a710a4e6_0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94a710a4e6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94a710a4e6_0_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94a710a4e6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94a710a4e6_0_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94a710a4e6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94a710a4e6_0_3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94a710a4e6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94a710a4e6_0_4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94a710a4e6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efb76e033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g3efb76e033a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efb4e7e8f5_4_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8" name="Google Shape;128;g3efb4e7e8f5_4_11:notes"/>
          <p:cNvSpPr txBox="1"/>
          <p:nvPr>
            <p:ph idx="1" type="body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g3efb4e7e8f5_4_11:notes"/>
          <p:cNvSpPr txBox="1"/>
          <p:nvPr>
            <p:ph idx="12" type="sldNum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efb4e7e8f5_4_4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6" name="Google Shape;166;g3efb4e7e8f5_4_48:notes"/>
          <p:cNvSpPr txBox="1"/>
          <p:nvPr>
            <p:ph idx="1" type="body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g3efb4e7e8f5_4_48:notes"/>
          <p:cNvSpPr txBox="1"/>
          <p:nvPr>
            <p:ph idx="12" type="sldNum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efb4e7e8f5_4_8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1" name="Google Shape;201;g3efb4e7e8f5_4_82:notes"/>
          <p:cNvSpPr txBox="1"/>
          <p:nvPr>
            <p:ph idx="1" type="body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g3efb4e7e8f5_4_82:notes"/>
          <p:cNvSpPr txBox="1"/>
          <p:nvPr>
            <p:ph idx="12" type="sldNum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efb4e7e8f5_4_12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2" name="Google Shape;242;g3efb4e7e8f5_4_122:notes"/>
          <p:cNvSpPr txBox="1"/>
          <p:nvPr>
            <p:ph idx="1" type="body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g3efb4e7e8f5_4_122:notes"/>
          <p:cNvSpPr txBox="1"/>
          <p:nvPr>
            <p:ph idx="12" type="sldNum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efb4e7e8f5_4_15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9" name="Google Shape;279;g3efb4e7e8f5_4_158:notes"/>
          <p:cNvSpPr txBox="1"/>
          <p:nvPr>
            <p:ph idx="1" type="body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g3efb4e7e8f5_4_158:notes"/>
          <p:cNvSpPr txBox="1"/>
          <p:nvPr>
            <p:ph idx="12" type="sldNum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efb4e7e8f5_4_20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9" name="Google Shape;329;g3efb4e7e8f5_4_207:notes"/>
          <p:cNvSpPr txBox="1"/>
          <p:nvPr>
            <p:ph idx="1" type="body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g3efb4e7e8f5_4_207:notes"/>
          <p:cNvSpPr txBox="1"/>
          <p:nvPr>
            <p:ph idx="12" type="sldNum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3efb4e7e8f5_4_24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6" name="Google Shape;366;g3efb4e7e8f5_4_243:notes"/>
          <p:cNvSpPr txBox="1"/>
          <p:nvPr>
            <p:ph idx="1" type="body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g3efb4e7e8f5_4_243:notes"/>
          <p:cNvSpPr txBox="1"/>
          <p:nvPr>
            <p:ph idx="12" type="sldNum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3efb76e033a_0_6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2" name="Google Shape;412;g3efb76e033a_0_62:notes"/>
          <p:cNvSpPr txBox="1"/>
          <p:nvPr>
            <p:ph idx="1" type="body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g3efb76e033a_0_62:notes"/>
          <p:cNvSpPr txBox="1"/>
          <p:nvPr>
            <p:ph idx="12" type="sldNum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394a710a4e6_0_4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3" name="Google Shape;443;g394a710a4e6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394a710a4e6_0_6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9" name="Google Shape;449;g394a710a4e6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394a710a4e6_0_6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5" name="Google Shape;455;g394a710a4e6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415600" y="2867800"/>
            <a:ext cx="11360700" cy="1122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415600" y="1536633"/>
            <a:ext cx="53331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6443200" y="1536633"/>
            <a:ext cx="53331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415600" y="740800"/>
            <a:ext cx="3744000" cy="10077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415600" y="1852800"/>
            <a:ext cx="3744000" cy="4239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653667" y="600200"/>
            <a:ext cx="8490300" cy="5454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354000" y="1644233"/>
            <a:ext cx="5393700" cy="19764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354000" y="3737433"/>
            <a:ext cx="5393700" cy="1646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6586000" y="965433"/>
            <a:ext cx="5115900" cy="49269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415600" y="5640767"/>
            <a:ext cx="7998300" cy="806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415600" y="1474833"/>
            <a:ext cx="11360700" cy="26181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415600" y="4202967"/>
            <a:ext cx="11360700" cy="1734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indent="-342900" lvl="2" marL="1371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indent="-342900" lvl="3" marL="18288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indent="-342900" lvl="5" marL="27432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6" name="Google Shape;56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2" cy="2749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9" cy="863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5" cy="8645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●"/>
              <a:defRPr sz="2400">
                <a:solidFill>
                  <a:schemeClr val="dk2"/>
                </a:solidFill>
              </a:defRPr>
            </a:lvl1pPr>
            <a:lvl2pPr indent="-3492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2pPr>
            <a:lvl3pPr indent="-3492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3pPr>
            <a:lvl4pPr indent="-3492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4pPr>
            <a:lvl5pPr indent="-3492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5pPr>
            <a:lvl6pPr indent="-3492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6pPr>
            <a:lvl7pPr indent="-3492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7pPr>
            <a:lvl8pPr indent="-3492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8pPr>
            <a:lvl9pPr indent="-3492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r">
              <a:buNone/>
              <a:defRPr sz="1300">
                <a:solidFill>
                  <a:schemeClr val="dk2"/>
                </a:solidFill>
              </a:defRPr>
            </a:lvl1pPr>
            <a:lvl2pPr lvl="1" algn="r">
              <a:buNone/>
              <a:defRPr sz="1300">
                <a:solidFill>
                  <a:schemeClr val="dk2"/>
                </a:solidFill>
              </a:defRPr>
            </a:lvl2pPr>
            <a:lvl3pPr lvl="2" algn="r">
              <a:buNone/>
              <a:defRPr sz="1300">
                <a:solidFill>
                  <a:schemeClr val="dk2"/>
                </a:solidFill>
              </a:defRPr>
            </a:lvl3pPr>
            <a:lvl4pPr lvl="3" algn="r">
              <a:buNone/>
              <a:defRPr sz="1300">
                <a:solidFill>
                  <a:schemeClr val="dk2"/>
                </a:solidFill>
              </a:defRPr>
            </a:lvl4pPr>
            <a:lvl5pPr lvl="4" algn="r">
              <a:buNone/>
              <a:defRPr sz="1300">
                <a:solidFill>
                  <a:schemeClr val="dk2"/>
                </a:solidFill>
              </a:defRPr>
            </a:lvl5pPr>
            <a:lvl6pPr lvl="5" algn="r">
              <a:buNone/>
              <a:defRPr sz="1300">
                <a:solidFill>
                  <a:schemeClr val="dk2"/>
                </a:solidFill>
              </a:defRPr>
            </a:lvl6pPr>
            <a:lvl7pPr lvl="6" algn="r">
              <a:buNone/>
              <a:defRPr sz="1300">
                <a:solidFill>
                  <a:schemeClr val="dk2"/>
                </a:solidFill>
              </a:defRPr>
            </a:lvl7pPr>
            <a:lvl8pPr lvl="7" algn="r">
              <a:buNone/>
              <a:defRPr sz="1300">
                <a:solidFill>
                  <a:schemeClr val="dk2"/>
                </a:solidFill>
              </a:defRPr>
            </a:lvl8pPr>
            <a:lvl9pPr lvl="8" algn="r">
              <a:buNone/>
              <a:defRPr sz="13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/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700">
                <a:latin typeface="Arial"/>
                <a:ea typeface="Arial"/>
                <a:cs typeface="Arial"/>
                <a:sym typeface="Arial"/>
              </a:rPr>
              <a:t>CSE470: Software Engineering</a:t>
            </a:r>
            <a:endParaRPr/>
          </a:p>
        </p:txBody>
      </p:sp>
      <p:sp>
        <p:nvSpPr>
          <p:cNvPr id="65" name="Google Shape;65;p15"/>
          <p:cNvSpPr txBox="1"/>
          <p:nvPr>
            <p:ph idx="1" type="subTitle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3300"/>
              <a:t>Repository, Client Server </a:t>
            </a:r>
            <a:r>
              <a:rPr lang="en-US" sz="3300"/>
              <a:t>Architecture</a:t>
            </a:r>
            <a:endParaRPr sz="33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latin typeface="Lexend"/>
                <a:ea typeface="Lexend"/>
                <a:cs typeface="Lexend"/>
                <a:sym typeface="Lexend"/>
              </a:rPr>
              <a:t>What is a Repository</a:t>
            </a:r>
            <a:endParaRPr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" name="Google Shape;71;p16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Before going into repository design pattern let's first understand what is repository:</a:t>
            </a:r>
            <a:endParaRPr/>
          </a:p>
          <a:p>
            <a:pPr indent="-406400" lvl="0" marL="457200" rtl="0" algn="l">
              <a:spcBef>
                <a:spcPts val="1600"/>
              </a:spcBef>
              <a:spcAft>
                <a:spcPts val="0"/>
              </a:spcAft>
              <a:buSzPts val="2800"/>
              <a:buFont typeface="Calibri"/>
              <a:buChar char="●"/>
            </a:pPr>
            <a:r>
              <a:rPr lang="en-US"/>
              <a:t>In generic terms repository simply means a place where things are or can be stored.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Font typeface="Calibri"/>
              <a:buChar char="●"/>
            </a:pPr>
            <a:r>
              <a:rPr lang="en-US"/>
              <a:t>This term has wide array of use in computer science for example code repository.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Font typeface="Calibri"/>
              <a:buChar char="●"/>
            </a:pPr>
            <a:r>
              <a:rPr lang="en-US"/>
              <a:t>We are all familiar with GITHUB. it’s a code repository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latin typeface="Lexend"/>
                <a:ea typeface="Lexend"/>
                <a:cs typeface="Lexend"/>
                <a:sym typeface="Lexend"/>
              </a:rPr>
              <a:t>What is a Repository Architecture</a:t>
            </a:r>
            <a:endParaRPr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" name="Google Shape;77;p17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Font typeface="Calibri"/>
              <a:buChar char="●"/>
            </a:pPr>
            <a:r>
              <a:rPr lang="en-US" sz="2400"/>
              <a:t>It will have multiple sub systems.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Calibri"/>
              <a:buChar char="●"/>
            </a:pPr>
            <a:r>
              <a:rPr lang="en-US" sz="2400"/>
              <a:t>Sub-systems must exchange data. This may be done in two ways:</a:t>
            </a:r>
            <a:endParaRPr sz="2400"/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SzPts val="2300"/>
              <a:buFont typeface="Calibri"/>
              <a:buChar char="○"/>
            </a:pPr>
            <a:r>
              <a:rPr lang="en-US" sz="2300"/>
              <a:t>Shared data is held in a central database or repository and may be accessed by all sub-systems;</a:t>
            </a:r>
            <a:endParaRPr sz="2300"/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SzPts val="2300"/>
              <a:buFont typeface="Calibri"/>
              <a:buChar char="○"/>
            </a:pPr>
            <a:r>
              <a:rPr lang="en-US" sz="2300"/>
              <a:t>Each sub-system maintains its own database and passes data explicitly to other sub-systems.</a:t>
            </a:r>
            <a:endParaRPr sz="23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US" sz="2400"/>
              <a:t>When large amounts of data are to be shared, the repository model of sharing is most commonly used as this is an efficient data sharing mechanism.</a:t>
            </a:r>
            <a:endParaRPr sz="2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2400"/>
              <a:t> </a:t>
            </a:r>
            <a:endParaRPr sz="2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latin typeface="Lexend"/>
                <a:ea typeface="Lexend"/>
                <a:cs typeface="Lexend"/>
                <a:sym typeface="Lexend"/>
              </a:rPr>
              <a:t>Formal </a:t>
            </a:r>
            <a:r>
              <a:rPr lang="en-US" sz="3300">
                <a:latin typeface="Lexend"/>
                <a:ea typeface="Lexend"/>
                <a:cs typeface="Lexend"/>
                <a:sym typeface="Lexend"/>
              </a:rPr>
              <a:t>Definition</a:t>
            </a:r>
            <a:r>
              <a:rPr lang="en-US" sz="3300">
                <a:latin typeface="Lexend"/>
                <a:ea typeface="Lexend"/>
                <a:cs typeface="Lexend"/>
                <a:sym typeface="Lexend"/>
              </a:rPr>
              <a:t> </a:t>
            </a:r>
            <a:endParaRPr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" name="Google Shape;83;p18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400"/>
              <a:t>A Repository mediates between the domain and data mapping layers, acting like an in-memory domain object collection. </a:t>
            </a:r>
            <a:r>
              <a:rPr lang="en-US" sz="2400"/>
              <a:t>Client objects construct query specifications declaratively and submit them to Repository for satisfaction. Objects can be added to and removed from the Repository, as they can from a simple collection of objects, and the mapping code encapsulated by the Repository will carry out the appropriate operations behind the scenes.</a:t>
            </a:r>
            <a:endParaRPr sz="24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9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latin typeface="Lexend"/>
                <a:ea typeface="Lexend"/>
                <a:cs typeface="Lexend"/>
                <a:sym typeface="Lexend"/>
              </a:rPr>
              <a:t>Example</a:t>
            </a:r>
            <a:endParaRPr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" name="Google Shape;89;p19"/>
          <p:cNvSpPr txBox="1"/>
          <p:nvPr>
            <p:ph idx="1" type="body"/>
          </p:nvPr>
        </p:nvSpPr>
        <p:spPr>
          <a:xfrm>
            <a:off x="838200" y="1825625"/>
            <a:ext cx="65814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/>
              <a:t>Let's think you are developing an IDE like ’eclipse’.What will you have there:</a:t>
            </a:r>
            <a:endParaRPr sz="2000"/>
          </a:p>
          <a:p>
            <a:pPr indent="-355600" lvl="0" marL="457200" rtl="0" algn="l">
              <a:spcBef>
                <a:spcPts val="160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editor for different language like java,c++.python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code generator, auto complete system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UML editor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Translator to compile the code etc.</a:t>
            </a:r>
            <a:endParaRPr sz="20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US" sz="2000"/>
              <a:t>So here in the IDE where the components use a repository of system design information.</a:t>
            </a:r>
            <a:endParaRPr sz="20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US" sz="2000"/>
              <a:t>Each software tool generates information which is then available for use by other tools.</a:t>
            </a:r>
            <a:endParaRPr sz="20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US" sz="2000"/>
              <a:t>And, sub-components do not communicate with each other, means they are independent.</a:t>
            </a:r>
            <a:endParaRPr sz="20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US" sz="2000"/>
              <a:t>Have a look at the figure for the example</a:t>
            </a:r>
            <a:endParaRPr sz="20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000"/>
          </a:p>
        </p:txBody>
      </p:sp>
      <p:pic>
        <p:nvPicPr>
          <p:cNvPr descr="6.9 RepositoryIDE.eps" id="90" name="Google Shape;90;p19"/>
          <p:cNvPicPr preferRelativeResize="0"/>
          <p:nvPr/>
        </p:nvPicPr>
        <p:blipFill rotWithShape="1">
          <a:blip r:embed="rId3">
            <a:alphaModFix/>
          </a:blip>
          <a:srcRect b="-12282" l="0" r="0" t="-12282"/>
          <a:stretch/>
        </p:blipFill>
        <p:spPr>
          <a:xfrm>
            <a:off x="7419600" y="2629488"/>
            <a:ext cx="4310824" cy="2743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latin typeface="Lexend"/>
                <a:ea typeface="Lexend"/>
                <a:cs typeface="Lexend"/>
                <a:sym typeface="Lexend"/>
              </a:rPr>
              <a:t>When Used</a:t>
            </a:r>
            <a:endParaRPr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20"/>
          <p:cNvSpPr txBox="1"/>
          <p:nvPr>
            <p:ph idx="1" type="body"/>
          </p:nvPr>
        </p:nvSpPr>
        <p:spPr>
          <a:xfrm>
            <a:off x="838200" y="18391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You should use this pattern when you have a system in which large volumes of information are generated that has to be stored for a long time. You may also use it in </a:t>
            </a:r>
            <a:r>
              <a:rPr b="1" lang="en-US"/>
              <a:t>data-driven systems</a:t>
            </a:r>
            <a:r>
              <a:rPr lang="en-US"/>
              <a:t> where the inclusion of data in the repository triggers an action or tool.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latin typeface="Lexend"/>
                <a:ea typeface="Lexend"/>
                <a:cs typeface="Lexend"/>
                <a:sym typeface="Lexend"/>
              </a:rPr>
              <a:t>Advantages-Disadvantages</a:t>
            </a:r>
            <a:endParaRPr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" name="Google Shape;102;p21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/>
              <a:t>Advantages</a:t>
            </a:r>
            <a:endParaRPr b="1"/>
          </a:p>
          <a:p>
            <a:pPr indent="-355600" lvl="0" marL="457200" rtl="0" algn="l">
              <a:spcBef>
                <a:spcPts val="160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Components can be independent—they do not need to know of the existence of other components. 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Changes made by one component can be propagated to all components. 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All data can be managed consistently (e.g., backups done at the same time) as it is all in one place. 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Data security is of higher importance.</a:t>
            </a:r>
            <a:endParaRPr sz="20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-US"/>
              <a:t>Disadvantages</a:t>
            </a:r>
            <a:endParaRPr b="1"/>
          </a:p>
          <a:p>
            <a:pPr indent="-355600" lvl="0" marL="457200" rtl="0" algn="l">
              <a:spcBef>
                <a:spcPts val="160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The repository is a single point of failure so problems in the repository affect the whole system. 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May be inefficiencies in organizing all communication through the repository – latency and processing overhead.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Distributing the repository across several computers may be difficult. (Scalability issue, can be solved by synchronizing tools, but, complex and costly.)</a:t>
            </a:r>
            <a:endParaRPr sz="20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latin typeface="Lexend"/>
                <a:ea typeface="Lexend"/>
                <a:cs typeface="Lexend"/>
                <a:sym typeface="Lexend"/>
              </a:rPr>
              <a:t>What is Client-Server Architecture</a:t>
            </a:r>
            <a:endParaRPr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" name="Google Shape;108;p22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7350" lvl="0" marL="457200" rtl="0" algn="l">
              <a:spcBef>
                <a:spcPts val="1000"/>
              </a:spcBef>
              <a:spcAft>
                <a:spcPts val="0"/>
              </a:spcAft>
              <a:buSzPts val="2500"/>
              <a:buChar char="●"/>
            </a:pPr>
            <a:r>
              <a:rPr lang="en-US" sz="2500"/>
              <a:t>This pattern consists of two parties; </a:t>
            </a:r>
            <a:r>
              <a:rPr b="1" lang="en-US" sz="2500"/>
              <a:t>a server and multiple clients</a:t>
            </a:r>
            <a:r>
              <a:rPr lang="en-US" sz="2500"/>
              <a:t>.</a:t>
            </a: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US" sz="2500"/>
              <a:t>The server component will provide services to multiple client components. </a:t>
            </a: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US" sz="2500"/>
              <a:t>Clients request services from the server and the server provides relevant services to those clients.</a:t>
            </a: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US" sz="2500"/>
              <a:t> Furthermore, the server continues to listen to client requests.</a:t>
            </a: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US" sz="2500"/>
              <a:t>Set of stand-alone servers which provide specific services such as printing, data management, etc.</a:t>
            </a: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US" sz="2500"/>
              <a:t>Set of clients which call on these services.</a:t>
            </a: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US" sz="2500"/>
              <a:t>Network which allows clients to access servers.</a:t>
            </a:r>
            <a:endParaRPr sz="2500"/>
          </a:p>
        </p:txBody>
      </p:sp>
      <p:pic>
        <p:nvPicPr>
          <p:cNvPr id="109" name="Google Shape;10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23150" y="4174501"/>
            <a:ext cx="3505525" cy="235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22"/>
          <p:cNvPicPr preferRelativeResize="0"/>
          <p:nvPr/>
        </p:nvPicPr>
        <p:blipFill rotWithShape="1">
          <a:blip r:embed="rId4">
            <a:alphaModFix/>
          </a:blip>
          <a:srcRect b="-2630" l="0" r="0" t="2630"/>
          <a:stretch/>
        </p:blipFill>
        <p:spPr>
          <a:xfrm>
            <a:off x="4844673" y="4981200"/>
            <a:ext cx="1616950" cy="1821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3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latin typeface="Lexend"/>
                <a:ea typeface="Lexend"/>
                <a:cs typeface="Lexend"/>
                <a:sym typeface="Lexend"/>
              </a:rPr>
              <a:t>Example</a:t>
            </a:r>
            <a:endParaRPr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" name="Google Shape;116;p23"/>
          <p:cNvSpPr txBox="1"/>
          <p:nvPr>
            <p:ph idx="1" type="body"/>
          </p:nvPr>
        </p:nvSpPr>
        <p:spPr>
          <a:xfrm>
            <a:off x="838200" y="1825625"/>
            <a:ext cx="10515600" cy="1161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7350" lvl="0" marL="457200" rtl="0" algn="l">
              <a:spcBef>
                <a:spcPts val="1000"/>
              </a:spcBef>
              <a:spcAft>
                <a:spcPts val="0"/>
              </a:spcAft>
              <a:buSzPts val="2500"/>
              <a:buChar char="●"/>
            </a:pPr>
            <a:r>
              <a:rPr lang="en-US" sz="2500"/>
              <a:t>Online applications such as email, document sharing and banking.</a:t>
            </a: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US" sz="2500"/>
              <a:t>Figure  is an example of a film and video/DVD library organized as a client–server system.</a:t>
            </a:r>
            <a:endParaRPr sz="25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500"/>
          </a:p>
        </p:txBody>
      </p:sp>
      <p:pic>
        <p:nvPicPr>
          <p:cNvPr descr="6.11 ClientServerFilmPhoto.eps" id="117" name="Google Shape;117;p23"/>
          <p:cNvPicPr preferRelativeResize="0"/>
          <p:nvPr/>
        </p:nvPicPr>
        <p:blipFill rotWithShape="1">
          <a:blip r:embed="rId3">
            <a:alphaModFix/>
          </a:blip>
          <a:srcRect b="0" l="-1062" r="-1062" t="0"/>
          <a:stretch/>
        </p:blipFill>
        <p:spPr>
          <a:xfrm>
            <a:off x="3076888" y="2922350"/>
            <a:ext cx="6038226" cy="3585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26150" y="523150"/>
            <a:ext cx="2247900" cy="1009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4"/>
          <p:cNvSpPr txBox="1"/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700">
                <a:latin typeface="Arial"/>
                <a:ea typeface="Arial"/>
                <a:cs typeface="Arial"/>
                <a:sym typeface="Arial"/>
              </a:rPr>
              <a:t>Client-Server Architecture</a:t>
            </a:r>
            <a:endParaRPr sz="47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24"/>
          <p:cNvSpPr txBox="1"/>
          <p:nvPr>
            <p:ph idx="1" type="subTitle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3300"/>
              <a:t>Student Record Request Flow</a:t>
            </a:r>
            <a:endParaRPr sz="3300"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3300"/>
          </a:p>
        </p:txBody>
      </p:sp>
      <p:sp>
        <p:nvSpPr>
          <p:cNvPr id="125" name="Google Shape;125;p24"/>
          <p:cNvSpPr txBox="1"/>
          <p:nvPr/>
        </p:nvSpPr>
        <p:spPr>
          <a:xfrm>
            <a:off x="-256100" y="4439175"/>
            <a:ext cx="12192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Browser</a:t>
            </a:r>
            <a:r>
              <a:rPr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→  Server  →  Database  →  Response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3FC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5"/>
          <p:cNvSpPr/>
          <p:nvPr/>
        </p:nvSpPr>
        <p:spPr>
          <a:xfrm>
            <a:off x="0" y="0"/>
            <a:ext cx="12192000" cy="146304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25"/>
          <p:cNvSpPr/>
          <p:nvPr/>
        </p:nvSpPr>
        <p:spPr>
          <a:xfrm>
            <a:off x="426720" y="268224"/>
            <a:ext cx="1341120" cy="585216"/>
          </a:xfrm>
          <a:prstGeom prst="roundRect">
            <a:avLst>
              <a:gd fmla="val 25000" name="adj"/>
            </a:avLst>
          </a:prstGeom>
          <a:solidFill>
            <a:srgbClr val="EFF3FC">
              <a:alpha val="90196"/>
            </a:srgbClr>
          </a:solidFill>
          <a:ln cap="flat" cmpd="sng" w="9525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25"/>
          <p:cNvSpPr/>
          <p:nvPr/>
        </p:nvSpPr>
        <p:spPr>
          <a:xfrm>
            <a:off x="426720" y="268224"/>
            <a:ext cx="1341120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Step 1/6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25"/>
          <p:cNvSpPr/>
          <p:nvPr/>
        </p:nvSpPr>
        <p:spPr>
          <a:xfrm>
            <a:off x="1950720" y="121920"/>
            <a:ext cx="981456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User enters student ID in the browser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25"/>
          <p:cNvSpPr/>
          <p:nvPr/>
        </p:nvSpPr>
        <p:spPr>
          <a:xfrm>
            <a:off x="2649375" y="2621280"/>
            <a:ext cx="2377440" cy="341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A6966"/>
              </a:buClr>
              <a:buSzPts val="1500"/>
              <a:buFont typeface="Calibri"/>
              <a:buNone/>
            </a:pPr>
            <a:r>
              <a:rPr i="1" lang="en-US" sz="1500">
                <a:solidFill>
                  <a:srgbClr val="6A6966"/>
                </a:solidFill>
                <a:latin typeface="Calibri"/>
                <a:ea typeface="Calibri"/>
                <a:cs typeface="Calibri"/>
                <a:sym typeface="Calibri"/>
              </a:rPr>
              <a:t>Internet / HTTPS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25"/>
          <p:cNvSpPr/>
          <p:nvPr/>
        </p:nvSpPr>
        <p:spPr>
          <a:xfrm>
            <a:off x="7221375" y="2621280"/>
            <a:ext cx="2377440" cy="341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A6966"/>
              </a:buClr>
              <a:buSzPts val="1500"/>
              <a:buFont typeface="Calibri"/>
              <a:buNone/>
            </a:pPr>
            <a:r>
              <a:rPr i="1" lang="en-US" sz="1500">
                <a:solidFill>
                  <a:srgbClr val="6A6966"/>
                </a:solidFill>
                <a:latin typeface="Calibri"/>
                <a:ea typeface="Calibri"/>
                <a:cs typeface="Calibri"/>
                <a:sym typeface="Calibri"/>
              </a:rPr>
              <a:t>Internal network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25"/>
          <p:cNvSpPr/>
          <p:nvPr/>
        </p:nvSpPr>
        <p:spPr>
          <a:xfrm>
            <a:off x="5754624" y="1584960"/>
            <a:ext cx="170688" cy="170688"/>
          </a:xfrm>
          <a:prstGeom prst="ellipse">
            <a:avLst/>
          </a:prstGeom>
          <a:solidFill>
            <a:srgbClr val="185FA5"/>
          </a:solidFill>
          <a:ln cap="flat" cmpd="sng" w="12700">
            <a:solidFill>
              <a:srgbClr val="185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25"/>
          <p:cNvSpPr/>
          <p:nvPr/>
        </p:nvSpPr>
        <p:spPr>
          <a:xfrm>
            <a:off x="6096000" y="1584960"/>
            <a:ext cx="170688" cy="170688"/>
          </a:xfrm>
          <a:prstGeom prst="ellipse">
            <a:avLst/>
          </a:prstGeom>
          <a:solidFill>
            <a:srgbClr val="C8C6BC"/>
          </a:solidFill>
          <a:ln cap="flat" cmpd="sng" w="12700">
            <a:solidFill>
              <a:srgbClr val="C8C6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25"/>
          <p:cNvSpPr/>
          <p:nvPr/>
        </p:nvSpPr>
        <p:spPr>
          <a:xfrm>
            <a:off x="6437376" y="1584960"/>
            <a:ext cx="170688" cy="170688"/>
          </a:xfrm>
          <a:prstGeom prst="ellipse">
            <a:avLst/>
          </a:prstGeom>
          <a:solidFill>
            <a:srgbClr val="C8C6BC"/>
          </a:solidFill>
          <a:ln cap="flat" cmpd="sng" w="12700">
            <a:solidFill>
              <a:srgbClr val="C8C6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25"/>
          <p:cNvSpPr/>
          <p:nvPr/>
        </p:nvSpPr>
        <p:spPr>
          <a:xfrm>
            <a:off x="6778752" y="1584960"/>
            <a:ext cx="170688" cy="170688"/>
          </a:xfrm>
          <a:prstGeom prst="ellipse">
            <a:avLst/>
          </a:prstGeom>
          <a:solidFill>
            <a:srgbClr val="C8C6BC"/>
          </a:solidFill>
          <a:ln cap="flat" cmpd="sng" w="12700">
            <a:solidFill>
              <a:srgbClr val="C8C6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25"/>
          <p:cNvSpPr/>
          <p:nvPr/>
        </p:nvSpPr>
        <p:spPr>
          <a:xfrm>
            <a:off x="7120128" y="1584960"/>
            <a:ext cx="170688" cy="170688"/>
          </a:xfrm>
          <a:prstGeom prst="ellipse">
            <a:avLst/>
          </a:prstGeom>
          <a:solidFill>
            <a:srgbClr val="C8C6BC"/>
          </a:solidFill>
          <a:ln cap="flat" cmpd="sng" w="12700">
            <a:solidFill>
              <a:srgbClr val="C8C6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25"/>
          <p:cNvSpPr/>
          <p:nvPr/>
        </p:nvSpPr>
        <p:spPr>
          <a:xfrm>
            <a:off x="7461504" y="1584960"/>
            <a:ext cx="170688" cy="170688"/>
          </a:xfrm>
          <a:prstGeom prst="ellipse">
            <a:avLst/>
          </a:prstGeom>
          <a:solidFill>
            <a:srgbClr val="C8C6BC"/>
          </a:solidFill>
          <a:ln cap="flat" cmpd="sng" w="12700">
            <a:solidFill>
              <a:srgbClr val="C8C6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5"/>
          <p:cNvSpPr/>
          <p:nvPr/>
        </p:nvSpPr>
        <p:spPr>
          <a:xfrm>
            <a:off x="454815" y="1728216"/>
            <a:ext cx="2438400" cy="1072896"/>
          </a:xfrm>
          <a:prstGeom prst="roundRect">
            <a:avLst>
              <a:gd fmla="val 11364" name="adj"/>
            </a:avLst>
          </a:prstGeom>
          <a:solidFill>
            <a:srgbClr val="FFFFFF"/>
          </a:solidFill>
          <a:ln cap="flat" cmpd="sng" w="9525">
            <a:solidFill>
              <a:srgbClr val="C8C6BC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25"/>
          <p:cNvSpPr/>
          <p:nvPr/>
        </p:nvSpPr>
        <p:spPr>
          <a:xfrm>
            <a:off x="552351" y="1801368"/>
            <a:ext cx="2243328" cy="2682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6966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6A6966"/>
                </a:solidFill>
                <a:latin typeface="Calibri"/>
                <a:ea typeface="Calibri"/>
                <a:cs typeface="Calibri"/>
                <a:sym typeface="Calibri"/>
              </a:rPr>
              <a:t>Student lookup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25"/>
          <p:cNvSpPr/>
          <p:nvPr/>
        </p:nvSpPr>
        <p:spPr>
          <a:xfrm>
            <a:off x="552351" y="2093976"/>
            <a:ext cx="1560576" cy="341376"/>
          </a:xfrm>
          <a:prstGeom prst="roundRect">
            <a:avLst>
              <a:gd fmla="val 21429" name="adj"/>
            </a:avLst>
          </a:prstGeom>
          <a:solidFill>
            <a:srgbClr val="F0F4F8"/>
          </a:solidFill>
          <a:ln cap="flat" cmpd="sng" w="12700">
            <a:solidFill>
              <a:srgbClr val="185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25"/>
          <p:cNvSpPr/>
          <p:nvPr/>
        </p:nvSpPr>
        <p:spPr>
          <a:xfrm>
            <a:off x="576735" y="2093976"/>
            <a:ext cx="1511808" cy="341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8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A1A18"/>
                </a:solidFill>
                <a:latin typeface="Calibri"/>
                <a:ea typeface="Calibri"/>
                <a:cs typeface="Calibri"/>
                <a:sym typeface="Calibri"/>
              </a:rPr>
              <a:t>2021-CSE-047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25"/>
          <p:cNvSpPr/>
          <p:nvPr/>
        </p:nvSpPr>
        <p:spPr>
          <a:xfrm>
            <a:off x="2186079" y="2093976"/>
            <a:ext cx="609600" cy="341376"/>
          </a:xfrm>
          <a:prstGeom prst="roundRect">
            <a:avLst>
              <a:gd fmla="val 21429" name="adj"/>
            </a:avLst>
          </a:prstGeom>
          <a:solidFill>
            <a:srgbClr val="185FA5"/>
          </a:solidFill>
          <a:ln cap="flat" cmpd="sng" w="12700">
            <a:solidFill>
              <a:srgbClr val="185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25"/>
          <p:cNvSpPr/>
          <p:nvPr/>
        </p:nvSpPr>
        <p:spPr>
          <a:xfrm>
            <a:off x="2186079" y="2093976"/>
            <a:ext cx="609600" cy="341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Send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9" name="Google Shape;149;p25"/>
          <p:cNvCxnSpPr/>
          <p:nvPr/>
        </p:nvCxnSpPr>
        <p:spPr>
          <a:xfrm>
            <a:off x="1552095" y="2804160"/>
            <a:ext cx="12192" cy="243840"/>
          </a:xfrm>
          <a:prstGeom prst="straightConnector1">
            <a:avLst/>
          </a:prstGeom>
          <a:noFill/>
          <a:ln cap="flat" cmpd="sng" w="15225">
            <a:solidFill>
              <a:srgbClr val="0B6047"/>
            </a:solidFill>
            <a:prstDash val="dash"/>
            <a:round/>
            <a:headEnd len="sm" w="sm" type="none"/>
            <a:tailEnd len="med" w="med" type="triangle"/>
          </a:ln>
        </p:spPr>
      </p:cxnSp>
      <p:cxnSp>
        <p:nvCxnSpPr>
          <p:cNvPr id="150" name="Google Shape;150;p25"/>
          <p:cNvCxnSpPr/>
          <p:nvPr/>
        </p:nvCxnSpPr>
        <p:spPr>
          <a:xfrm>
            <a:off x="2649375" y="3779520"/>
            <a:ext cx="2377440" cy="0"/>
          </a:xfrm>
          <a:prstGeom prst="straightConnector1">
            <a:avLst/>
          </a:prstGeom>
          <a:noFill/>
          <a:ln cap="flat" cmpd="sng" w="9525">
            <a:solidFill>
              <a:srgbClr val="C8C6BC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51" name="Google Shape;151;p25"/>
          <p:cNvCxnSpPr/>
          <p:nvPr/>
        </p:nvCxnSpPr>
        <p:spPr>
          <a:xfrm>
            <a:off x="7221375" y="3779520"/>
            <a:ext cx="2377440" cy="0"/>
          </a:xfrm>
          <a:prstGeom prst="straightConnector1">
            <a:avLst/>
          </a:prstGeom>
          <a:noFill/>
          <a:ln cap="flat" cmpd="sng" w="9525">
            <a:solidFill>
              <a:srgbClr val="C8C6BC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52" name="Google Shape;152;p25"/>
          <p:cNvSpPr/>
          <p:nvPr/>
        </p:nvSpPr>
        <p:spPr>
          <a:xfrm>
            <a:off x="454815" y="3048000"/>
            <a:ext cx="2194560" cy="1463040"/>
          </a:xfrm>
          <a:prstGeom prst="roundRect">
            <a:avLst>
              <a:gd fmla="val 11667" name="adj"/>
            </a:avLst>
          </a:prstGeom>
          <a:solidFill>
            <a:srgbClr val="D8F2E8"/>
          </a:solidFill>
          <a:ln cap="flat" cmpd="sng" w="25400">
            <a:solidFill>
              <a:srgbClr val="0B6047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25"/>
          <p:cNvSpPr/>
          <p:nvPr/>
        </p:nvSpPr>
        <p:spPr>
          <a:xfrm>
            <a:off x="454815" y="3267456"/>
            <a:ext cx="2194560" cy="536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3D2C"/>
              </a:buClr>
              <a:buSzPts val="2300"/>
              <a:buFont typeface="Calibri"/>
              <a:buNone/>
            </a:pPr>
            <a:r>
              <a:rPr b="1" lang="en-US" sz="2300">
                <a:solidFill>
                  <a:srgbClr val="063D2C"/>
                </a:solidFill>
                <a:latin typeface="Calibri"/>
                <a:ea typeface="Calibri"/>
                <a:cs typeface="Calibri"/>
                <a:sym typeface="Calibri"/>
              </a:rPr>
              <a:t>Client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25"/>
          <p:cNvSpPr/>
          <p:nvPr/>
        </p:nvSpPr>
        <p:spPr>
          <a:xfrm>
            <a:off x="454815" y="3779520"/>
            <a:ext cx="21945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6047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0B6047"/>
                </a:solidFill>
                <a:latin typeface="Calibri"/>
                <a:ea typeface="Calibri"/>
                <a:cs typeface="Calibri"/>
                <a:sym typeface="Calibri"/>
              </a:rPr>
              <a:t>Student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25"/>
          <p:cNvSpPr/>
          <p:nvPr/>
        </p:nvSpPr>
        <p:spPr>
          <a:xfrm>
            <a:off x="5026815" y="2804160"/>
            <a:ext cx="2194560" cy="1950720"/>
          </a:xfrm>
          <a:prstGeom prst="roundRect">
            <a:avLst>
              <a:gd fmla="val 8750" name="adj"/>
            </a:avLst>
          </a:prstGeom>
          <a:solidFill>
            <a:srgbClr val="F0F4F8"/>
          </a:solidFill>
          <a:ln cap="flat" cmpd="sng" w="9525">
            <a:solidFill>
              <a:srgbClr val="C8C6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25"/>
          <p:cNvSpPr/>
          <p:nvPr/>
        </p:nvSpPr>
        <p:spPr>
          <a:xfrm>
            <a:off x="5026815" y="3023616"/>
            <a:ext cx="2194560" cy="536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A6966"/>
              </a:buClr>
              <a:buSzPts val="2300"/>
              <a:buFont typeface="Calibri"/>
              <a:buNone/>
            </a:pPr>
            <a:r>
              <a:rPr b="1" lang="en-US" sz="2300">
                <a:solidFill>
                  <a:srgbClr val="6A6966"/>
                </a:solidFill>
                <a:latin typeface="Calibri"/>
                <a:ea typeface="Calibri"/>
                <a:cs typeface="Calibri"/>
                <a:sym typeface="Calibri"/>
              </a:rPr>
              <a:t>Server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25"/>
          <p:cNvSpPr/>
          <p:nvPr/>
        </p:nvSpPr>
        <p:spPr>
          <a:xfrm>
            <a:off x="5026815" y="3535680"/>
            <a:ext cx="21945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8C6BC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C8C6BC"/>
                </a:solidFill>
                <a:latin typeface="Calibri"/>
                <a:ea typeface="Calibri"/>
                <a:cs typeface="Calibri"/>
                <a:sym typeface="Calibri"/>
              </a:rPr>
              <a:t>BRACU API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25"/>
          <p:cNvSpPr/>
          <p:nvPr/>
        </p:nvSpPr>
        <p:spPr>
          <a:xfrm>
            <a:off x="9598815" y="3048000"/>
            <a:ext cx="2194560" cy="1463040"/>
          </a:xfrm>
          <a:prstGeom prst="roundRect">
            <a:avLst>
              <a:gd fmla="val 11667" name="adj"/>
            </a:avLst>
          </a:prstGeom>
          <a:solidFill>
            <a:srgbClr val="F0F4F8"/>
          </a:solidFill>
          <a:ln cap="flat" cmpd="sng" w="9525">
            <a:solidFill>
              <a:srgbClr val="C8C6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5"/>
          <p:cNvSpPr/>
          <p:nvPr/>
        </p:nvSpPr>
        <p:spPr>
          <a:xfrm>
            <a:off x="9598815" y="3267456"/>
            <a:ext cx="2194560" cy="536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A6966"/>
              </a:buClr>
              <a:buSzPts val="2300"/>
              <a:buFont typeface="Calibri"/>
              <a:buNone/>
            </a:pPr>
            <a:r>
              <a:rPr b="1" lang="en-US" sz="2300">
                <a:solidFill>
                  <a:srgbClr val="6A6966"/>
                </a:solidFill>
                <a:latin typeface="Calibri"/>
                <a:ea typeface="Calibri"/>
                <a:cs typeface="Calibri"/>
                <a:sym typeface="Calibri"/>
              </a:rPr>
              <a:t>Database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25"/>
          <p:cNvSpPr/>
          <p:nvPr/>
        </p:nvSpPr>
        <p:spPr>
          <a:xfrm>
            <a:off x="9598815" y="3779520"/>
            <a:ext cx="21945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8C6BC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C8C6BC"/>
                </a:solidFill>
                <a:latin typeface="Calibri"/>
                <a:ea typeface="Calibri"/>
                <a:cs typeface="Calibri"/>
                <a:sym typeface="Calibri"/>
              </a:rPr>
              <a:t>Students DB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25"/>
          <p:cNvSpPr/>
          <p:nvPr/>
        </p:nvSpPr>
        <p:spPr>
          <a:xfrm>
            <a:off x="463296" y="5785104"/>
            <a:ext cx="11338560" cy="804672"/>
          </a:xfrm>
          <a:prstGeom prst="roundRect">
            <a:avLst>
              <a:gd fmla="val 18182" name="adj"/>
            </a:avLst>
          </a:prstGeom>
          <a:solidFill>
            <a:srgbClr val="F8F7F4"/>
          </a:solidFill>
          <a:ln cap="flat" cmpd="sng" w="9525">
            <a:solidFill>
              <a:srgbClr val="C8C6BC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25"/>
          <p:cNvSpPr/>
          <p:nvPr/>
        </p:nvSpPr>
        <p:spPr>
          <a:xfrm>
            <a:off x="646176" y="5870448"/>
            <a:ext cx="17068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6966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6A6966"/>
                </a:solidFill>
                <a:latin typeface="Calibri"/>
                <a:ea typeface="Calibri"/>
                <a:cs typeface="Calibri"/>
                <a:sym typeface="Calibri"/>
              </a:rPr>
              <a:t>Network log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25"/>
          <p:cNvSpPr/>
          <p:nvPr/>
        </p:nvSpPr>
        <p:spPr>
          <a:xfrm>
            <a:off x="646176" y="6199632"/>
            <a:ext cx="11094720" cy="3169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60A8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1560A8"/>
                </a:solidFill>
                <a:latin typeface="Calibri"/>
                <a:ea typeface="Calibri"/>
                <a:cs typeface="Calibri"/>
                <a:sym typeface="Calibri"/>
              </a:rPr>
              <a:t>→ REQUEST  </a:t>
            </a:r>
            <a:r>
              <a:rPr lang="en-US" sz="1500">
                <a:solidFill>
                  <a:srgbClr val="3A3A38"/>
                </a:solidFill>
                <a:latin typeface="Calibri"/>
                <a:ea typeface="Calibri"/>
                <a:cs typeface="Calibri"/>
                <a:sym typeface="Calibri"/>
              </a:rPr>
              <a:t>User typed "2021-CSE-047" and clicked Send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3FC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6"/>
          <p:cNvSpPr/>
          <p:nvPr/>
        </p:nvSpPr>
        <p:spPr>
          <a:xfrm>
            <a:off x="0" y="0"/>
            <a:ext cx="12192000" cy="146304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26"/>
          <p:cNvSpPr/>
          <p:nvPr/>
        </p:nvSpPr>
        <p:spPr>
          <a:xfrm>
            <a:off x="426720" y="268224"/>
            <a:ext cx="1341120" cy="585216"/>
          </a:xfrm>
          <a:prstGeom prst="roundRect">
            <a:avLst>
              <a:gd fmla="val 25000" name="adj"/>
            </a:avLst>
          </a:prstGeom>
          <a:solidFill>
            <a:srgbClr val="EFF3FC">
              <a:alpha val="90196"/>
            </a:srgbClr>
          </a:solidFill>
          <a:ln cap="flat" cmpd="sng" w="9525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26"/>
          <p:cNvSpPr/>
          <p:nvPr/>
        </p:nvSpPr>
        <p:spPr>
          <a:xfrm>
            <a:off x="426720" y="268224"/>
            <a:ext cx="1341120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Step 2/6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26"/>
          <p:cNvSpPr/>
          <p:nvPr/>
        </p:nvSpPr>
        <p:spPr>
          <a:xfrm>
            <a:off x="1950720" y="121920"/>
            <a:ext cx="981456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Browser sends HTTP request to server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26"/>
          <p:cNvSpPr/>
          <p:nvPr/>
        </p:nvSpPr>
        <p:spPr>
          <a:xfrm>
            <a:off x="2621280" y="2089072"/>
            <a:ext cx="2377440" cy="341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A6966"/>
              </a:buClr>
              <a:buSzPts val="1500"/>
              <a:buFont typeface="Calibri"/>
              <a:buNone/>
            </a:pPr>
            <a:r>
              <a:rPr i="1" lang="en-US" sz="1500">
                <a:solidFill>
                  <a:srgbClr val="6A6966"/>
                </a:solidFill>
                <a:latin typeface="Calibri"/>
                <a:ea typeface="Calibri"/>
                <a:cs typeface="Calibri"/>
                <a:sym typeface="Calibri"/>
              </a:rPr>
              <a:t>Internet / HTTPS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26"/>
          <p:cNvSpPr/>
          <p:nvPr/>
        </p:nvSpPr>
        <p:spPr>
          <a:xfrm>
            <a:off x="7205472" y="2089072"/>
            <a:ext cx="2377440" cy="341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A6966"/>
              </a:buClr>
              <a:buSzPts val="1500"/>
              <a:buFont typeface="Calibri"/>
              <a:buNone/>
            </a:pPr>
            <a:r>
              <a:rPr i="1" lang="en-US" sz="1500">
                <a:solidFill>
                  <a:srgbClr val="6A6966"/>
                </a:solidFill>
                <a:latin typeface="Calibri"/>
                <a:ea typeface="Calibri"/>
                <a:cs typeface="Calibri"/>
                <a:sym typeface="Calibri"/>
              </a:rPr>
              <a:t>Internal network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26"/>
          <p:cNvSpPr/>
          <p:nvPr/>
        </p:nvSpPr>
        <p:spPr>
          <a:xfrm>
            <a:off x="5754624" y="1584960"/>
            <a:ext cx="170688" cy="170688"/>
          </a:xfrm>
          <a:prstGeom prst="ellipse">
            <a:avLst/>
          </a:prstGeom>
          <a:solidFill>
            <a:srgbClr val="0B6E48"/>
          </a:solidFill>
          <a:ln cap="flat" cmpd="sng" w="12700">
            <a:solidFill>
              <a:srgbClr val="0B6E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26"/>
          <p:cNvSpPr/>
          <p:nvPr/>
        </p:nvSpPr>
        <p:spPr>
          <a:xfrm>
            <a:off x="6096000" y="1584960"/>
            <a:ext cx="170688" cy="170688"/>
          </a:xfrm>
          <a:prstGeom prst="ellipse">
            <a:avLst/>
          </a:prstGeom>
          <a:solidFill>
            <a:srgbClr val="185FA5"/>
          </a:solidFill>
          <a:ln cap="flat" cmpd="sng" w="12700">
            <a:solidFill>
              <a:srgbClr val="185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26"/>
          <p:cNvSpPr/>
          <p:nvPr/>
        </p:nvSpPr>
        <p:spPr>
          <a:xfrm>
            <a:off x="6437376" y="1584960"/>
            <a:ext cx="170688" cy="170688"/>
          </a:xfrm>
          <a:prstGeom prst="ellipse">
            <a:avLst/>
          </a:prstGeom>
          <a:solidFill>
            <a:srgbClr val="C8C6BC"/>
          </a:solidFill>
          <a:ln cap="flat" cmpd="sng" w="12700">
            <a:solidFill>
              <a:srgbClr val="C8C6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26"/>
          <p:cNvSpPr/>
          <p:nvPr/>
        </p:nvSpPr>
        <p:spPr>
          <a:xfrm>
            <a:off x="6778752" y="1584960"/>
            <a:ext cx="170688" cy="170688"/>
          </a:xfrm>
          <a:prstGeom prst="ellipse">
            <a:avLst/>
          </a:prstGeom>
          <a:solidFill>
            <a:srgbClr val="C8C6BC"/>
          </a:solidFill>
          <a:ln cap="flat" cmpd="sng" w="12700">
            <a:solidFill>
              <a:srgbClr val="C8C6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26"/>
          <p:cNvSpPr/>
          <p:nvPr/>
        </p:nvSpPr>
        <p:spPr>
          <a:xfrm>
            <a:off x="7120128" y="1584960"/>
            <a:ext cx="170688" cy="170688"/>
          </a:xfrm>
          <a:prstGeom prst="ellipse">
            <a:avLst/>
          </a:prstGeom>
          <a:solidFill>
            <a:srgbClr val="C8C6BC"/>
          </a:solidFill>
          <a:ln cap="flat" cmpd="sng" w="12700">
            <a:solidFill>
              <a:srgbClr val="C8C6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26"/>
          <p:cNvSpPr/>
          <p:nvPr/>
        </p:nvSpPr>
        <p:spPr>
          <a:xfrm>
            <a:off x="7461504" y="1584960"/>
            <a:ext cx="170688" cy="170688"/>
          </a:xfrm>
          <a:prstGeom prst="ellipse">
            <a:avLst/>
          </a:prstGeom>
          <a:solidFill>
            <a:srgbClr val="C8C6BC"/>
          </a:solidFill>
          <a:ln cap="flat" cmpd="sng" w="12700">
            <a:solidFill>
              <a:srgbClr val="C8C6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81" name="Google Shape;181;p26"/>
          <p:cNvCxnSpPr/>
          <p:nvPr/>
        </p:nvCxnSpPr>
        <p:spPr>
          <a:xfrm>
            <a:off x="7193280" y="3691525"/>
            <a:ext cx="2377440" cy="0"/>
          </a:xfrm>
          <a:prstGeom prst="straightConnector1">
            <a:avLst/>
          </a:prstGeom>
          <a:noFill/>
          <a:ln cap="flat" cmpd="sng" w="9525">
            <a:solidFill>
              <a:srgbClr val="C8C6BC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82" name="Google Shape;182;p26"/>
          <p:cNvCxnSpPr/>
          <p:nvPr/>
        </p:nvCxnSpPr>
        <p:spPr>
          <a:xfrm>
            <a:off x="2621280" y="3691525"/>
            <a:ext cx="2377440" cy="12192"/>
          </a:xfrm>
          <a:prstGeom prst="straightConnector1">
            <a:avLst/>
          </a:prstGeom>
          <a:noFill/>
          <a:ln cap="flat" cmpd="sng" w="27925">
            <a:solidFill>
              <a:srgbClr val="1560A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83" name="Google Shape;183;p26"/>
          <p:cNvSpPr/>
          <p:nvPr/>
        </p:nvSpPr>
        <p:spPr>
          <a:xfrm>
            <a:off x="1767840" y="2450989"/>
            <a:ext cx="3169920" cy="438912"/>
          </a:xfrm>
          <a:prstGeom prst="roundRect">
            <a:avLst>
              <a:gd fmla="val 50000" name="adj"/>
            </a:avLst>
          </a:prstGeom>
          <a:solidFill>
            <a:srgbClr val="1560A8"/>
          </a:solidFill>
          <a:ln cap="flat" cmpd="sng" w="12700">
            <a:solidFill>
              <a:srgbClr val="1560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26"/>
          <p:cNvSpPr/>
          <p:nvPr/>
        </p:nvSpPr>
        <p:spPr>
          <a:xfrm>
            <a:off x="1840992" y="2450989"/>
            <a:ext cx="3023616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GET /student?id=2021-CSE-047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6"/>
          <p:cNvSpPr/>
          <p:nvPr/>
        </p:nvSpPr>
        <p:spPr>
          <a:xfrm>
            <a:off x="3724656" y="3606181"/>
            <a:ext cx="170688" cy="170688"/>
          </a:xfrm>
          <a:prstGeom prst="ellipse">
            <a:avLst/>
          </a:prstGeom>
          <a:solidFill>
            <a:srgbClr val="1560A8"/>
          </a:solidFill>
          <a:ln cap="flat" cmpd="sng" w="12700">
            <a:solidFill>
              <a:srgbClr val="1560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26"/>
          <p:cNvSpPr/>
          <p:nvPr/>
        </p:nvSpPr>
        <p:spPr>
          <a:xfrm>
            <a:off x="426720" y="2960005"/>
            <a:ext cx="2194560" cy="1463040"/>
          </a:xfrm>
          <a:prstGeom prst="roundRect">
            <a:avLst>
              <a:gd fmla="val 11667" name="adj"/>
            </a:avLst>
          </a:prstGeom>
          <a:solidFill>
            <a:srgbClr val="D8F2E8"/>
          </a:solidFill>
          <a:ln cap="flat" cmpd="sng" w="25400">
            <a:solidFill>
              <a:srgbClr val="0B6047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26"/>
          <p:cNvSpPr/>
          <p:nvPr/>
        </p:nvSpPr>
        <p:spPr>
          <a:xfrm>
            <a:off x="426720" y="3179461"/>
            <a:ext cx="2194560" cy="536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3D2C"/>
              </a:buClr>
              <a:buSzPts val="2300"/>
              <a:buFont typeface="Calibri"/>
              <a:buNone/>
            </a:pPr>
            <a:r>
              <a:rPr b="1" lang="en-US" sz="2300">
                <a:solidFill>
                  <a:srgbClr val="063D2C"/>
                </a:solidFill>
                <a:latin typeface="Calibri"/>
                <a:ea typeface="Calibri"/>
                <a:cs typeface="Calibri"/>
                <a:sym typeface="Calibri"/>
              </a:rPr>
              <a:t>Client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6"/>
          <p:cNvSpPr/>
          <p:nvPr/>
        </p:nvSpPr>
        <p:spPr>
          <a:xfrm>
            <a:off x="426720" y="3691525"/>
            <a:ext cx="21945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6047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0B6047"/>
                </a:solidFill>
                <a:latin typeface="Calibri"/>
                <a:ea typeface="Calibri"/>
                <a:cs typeface="Calibri"/>
                <a:sym typeface="Calibri"/>
              </a:rPr>
              <a:t>Student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6"/>
          <p:cNvSpPr/>
          <p:nvPr/>
        </p:nvSpPr>
        <p:spPr>
          <a:xfrm>
            <a:off x="4998720" y="2716165"/>
            <a:ext cx="2194560" cy="1950720"/>
          </a:xfrm>
          <a:prstGeom prst="roundRect">
            <a:avLst>
              <a:gd fmla="val 8750" name="adj"/>
            </a:avLst>
          </a:prstGeom>
          <a:solidFill>
            <a:srgbClr val="F0F4F8"/>
          </a:solidFill>
          <a:ln cap="flat" cmpd="sng" w="9525">
            <a:solidFill>
              <a:srgbClr val="C8C6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26"/>
          <p:cNvSpPr/>
          <p:nvPr/>
        </p:nvSpPr>
        <p:spPr>
          <a:xfrm>
            <a:off x="4998720" y="2935621"/>
            <a:ext cx="2194560" cy="536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A6966"/>
              </a:buClr>
              <a:buSzPts val="2300"/>
              <a:buFont typeface="Calibri"/>
              <a:buNone/>
            </a:pPr>
            <a:r>
              <a:rPr b="1" lang="en-US" sz="2300">
                <a:solidFill>
                  <a:srgbClr val="6A6966"/>
                </a:solidFill>
                <a:latin typeface="Calibri"/>
                <a:ea typeface="Calibri"/>
                <a:cs typeface="Calibri"/>
                <a:sym typeface="Calibri"/>
              </a:rPr>
              <a:t>Server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6"/>
          <p:cNvSpPr/>
          <p:nvPr/>
        </p:nvSpPr>
        <p:spPr>
          <a:xfrm>
            <a:off x="4998720" y="3447685"/>
            <a:ext cx="21945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8C6BC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C8C6BC"/>
                </a:solidFill>
                <a:latin typeface="Calibri"/>
                <a:ea typeface="Calibri"/>
                <a:cs typeface="Calibri"/>
                <a:sym typeface="Calibri"/>
              </a:rPr>
              <a:t>BRACU API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6"/>
          <p:cNvSpPr/>
          <p:nvPr/>
        </p:nvSpPr>
        <p:spPr>
          <a:xfrm>
            <a:off x="9570720" y="2960005"/>
            <a:ext cx="2194560" cy="1463040"/>
          </a:xfrm>
          <a:prstGeom prst="roundRect">
            <a:avLst>
              <a:gd fmla="val 11667" name="adj"/>
            </a:avLst>
          </a:prstGeom>
          <a:solidFill>
            <a:srgbClr val="F0F4F8"/>
          </a:solidFill>
          <a:ln cap="flat" cmpd="sng" w="9525">
            <a:solidFill>
              <a:srgbClr val="C8C6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26"/>
          <p:cNvSpPr/>
          <p:nvPr/>
        </p:nvSpPr>
        <p:spPr>
          <a:xfrm>
            <a:off x="9570720" y="3179461"/>
            <a:ext cx="2194560" cy="536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A6966"/>
              </a:buClr>
              <a:buSzPts val="2300"/>
              <a:buFont typeface="Calibri"/>
              <a:buNone/>
            </a:pPr>
            <a:r>
              <a:rPr b="1" lang="en-US" sz="2300">
                <a:solidFill>
                  <a:srgbClr val="6A6966"/>
                </a:solidFill>
                <a:latin typeface="Calibri"/>
                <a:ea typeface="Calibri"/>
                <a:cs typeface="Calibri"/>
                <a:sym typeface="Calibri"/>
              </a:rPr>
              <a:t>Database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6"/>
          <p:cNvSpPr/>
          <p:nvPr/>
        </p:nvSpPr>
        <p:spPr>
          <a:xfrm>
            <a:off x="9570720" y="3691525"/>
            <a:ext cx="21945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8C6BC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C8C6BC"/>
                </a:solidFill>
                <a:latin typeface="Calibri"/>
                <a:ea typeface="Calibri"/>
                <a:cs typeface="Calibri"/>
                <a:sym typeface="Calibri"/>
              </a:rPr>
              <a:t>Students DB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6"/>
          <p:cNvSpPr/>
          <p:nvPr/>
        </p:nvSpPr>
        <p:spPr>
          <a:xfrm>
            <a:off x="426720" y="5441077"/>
            <a:ext cx="11338560" cy="1170432"/>
          </a:xfrm>
          <a:prstGeom prst="roundRect">
            <a:avLst>
              <a:gd fmla="val 12500" name="adj"/>
            </a:avLst>
          </a:prstGeom>
          <a:solidFill>
            <a:srgbClr val="F8F7F4"/>
          </a:solidFill>
          <a:ln cap="flat" cmpd="sng" w="9525">
            <a:solidFill>
              <a:srgbClr val="C8C6BC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26"/>
          <p:cNvSpPr/>
          <p:nvPr/>
        </p:nvSpPr>
        <p:spPr>
          <a:xfrm>
            <a:off x="609600" y="5526421"/>
            <a:ext cx="17068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6966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6A6966"/>
                </a:solidFill>
                <a:latin typeface="Calibri"/>
                <a:ea typeface="Calibri"/>
                <a:cs typeface="Calibri"/>
                <a:sym typeface="Calibri"/>
              </a:rPr>
              <a:t>Network log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6"/>
          <p:cNvSpPr/>
          <p:nvPr/>
        </p:nvSpPr>
        <p:spPr>
          <a:xfrm>
            <a:off x="609600" y="5855605"/>
            <a:ext cx="11094720" cy="3169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60A8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1560A8"/>
                </a:solidFill>
                <a:latin typeface="Calibri"/>
                <a:ea typeface="Calibri"/>
                <a:cs typeface="Calibri"/>
                <a:sym typeface="Calibri"/>
              </a:rPr>
              <a:t>→ REQUEST  </a:t>
            </a:r>
            <a:r>
              <a:rPr lang="en-US" sz="1500">
                <a:solidFill>
                  <a:srgbClr val="3A3A38"/>
                </a:solidFill>
                <a:latin typeface="Calibri"/>
                <a:ea typeface="Calibri"/>
                <a:cs typeface="Calibri"/>
                <a:sym typeface="Calibri"/>
              </a:rPr>
              <a:t>GET /api/student?id=2021-CSE-047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6"/>
          <p:cNvSpPr/>
          <p:nvPr/>
        </p:nvSpPr>
        <p:spPr>
          <a:xfrm>
            <a:off x="609600" y="6196981"/>
            <a:ext cx="11094720" cy="3169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60A8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1560A8"/>
                </a:solidFill>
                <a:latin typeface="Calibri"/>
                <a:ea typeface="Calibri"/>
                <a:cs typeface="Calibri"/>
                <a:sym typeface="Calibri"/>
              </a:rPr>
              <a:t>→ REQUEST  </a:t>
            </a:r>
            <a:r>
              <a:rPr lang="en-US" sz="1500">
                <a:solidFill>
                  <a:srgbClr val="3A3A38"/>
                </a:solidFill>
                <a:latin typeface="Calibri"/>
                <a:ea typeface="Calibri"/>
                <a:cs typeface="Calibri"/>
                <a:sym typeface="Calibri"/>
              </a:rPr>
              <a:t>Headers: Authorization: Bearer &lt;JWT&gt;, Content-Type: application/json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3FC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7"/>
          <p:cNvSpPr/>
          <p:nvPr/>
        </p:nvSpPr>
        <p:spPr>
          <a:xfrm>
            <a:off x="0" y="0"/>
            <a:ext cx="12192000" cy="146304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27"/>
          <p:cNvSpPr/>
          <p:nvPr/>
        </p:nvSpPr>
        <p:spPr>
          <a:xfrm>
            <a:off x="426720" y="268224"/>
            <a:ext cx="1341120" cy="585216"/>
          </a:xfrm>
          <a:prstGeom prst="roundRect">
            <a:avLst>
              <a:gd fmla="val 25000" name="adj"/>
            </a:avLst>
          </a:prstGeom>
          <a:solidFill>
            <a:srgbClr val="EFF3FC">
              <a:alpha val="90196"/>
            </a:srgbClr>
          </a:solidFill>
          <a:ln cap="flat" cmpd="sng" w="9525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27"/>
          <p:cNvSpPr/>
          <p:nvPr/>
        </p:nvSpPr>
        <p:spPr>
          <a:xfrm>
            <a:off x="426720" y="268224"/>
            <a:ext cx="1341120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Step 3/6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7"/>
          <p:cNvSpPr/>
          <p:nvPr/>
        </p:nvSpPr>
        <p:spPr>
          <a:xfrm>
            <a:off x="1950720" y="121920"/>
            <a:ext cx="981456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Server authenticates token and routes request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7"/>
          <p:cNvSpPr/>
          <p:nvPr/>
        </p:nvSpPr>
        <p:spPr>
          <a:xfrm>
            <a:off x="2621280" y="1889760"/>
            <a:ext cx="2377440" cy="341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A6966"/>
              </a:buClr>
              <a:buSzPts val="1500"/>
              <a:buFont typeface="Calibri"/>
              <a:buNone/>
            </a:pPr>
            <a:r>
              <a:rPr i="1" lang="en-US" sz="1500">
                <a:solidFill>
                  <a:srgbClr val="6A6966"/>
                </a:solidFill>
                <a:latin typeface="Calibri"/>
                <a:ea typeface="Calibri"/>
                <a:cs typeface="Calibri"/>
                <a:sym typeface="Calibri"/>
              </a:rPr>
              <a:t>Internet / HTTPS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7"/>
          <p:cNvSpPr/>
          <p:nvPr/>
        </p:nvSpPr>
        <p:spPr>
          <a:xfrm>
            <a:off x="7193280" y="1889760"/>
            <a:ext cx="2377440" cy="341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A6966"/>
              </a:buClr>
              <a:buSzPts val="1500"/>
              <a:buFont typeface="Calibri"/>
              <a:buNone/>
            </a:pPr>
            <a:r>
              <a:rPr i="1" lang="en-US" sz="1500">
                <a:solidFill>
                  <a:srgbClr val="6A6966"/>
                </a:solidFill>
                <a:latin typeface="Calibri"/>
                <a:ea typeface="Calibri"/>
                <a:cs typeface="Calibri"/>
                <a:sym typeface="Calibri"/>
              </a:rPr>
              <a:t>Internal network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7"/>
          <p:cNvSpPr/>
          <p:nvPr/>
        </p:nvSpPr>
        <p:spPr>
          <a:xfrm>
            <a:off x="5754624" y="1584960"/>
            <a:ext cx="170688" cy="170688"/>
          </a:xfrm>
          <a:prstGeom prst="ellipse">
            <a:avLst/>
          </a:prstGeom>
          <a:solidFill>
            <a:srgbClr val="0B6E48"/>
          </a:solidFill>
          <a:ln cap="flat" cmpd="sng" w="12700">
            <a:solidFill>
              <a:srgbClr val="0B6E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7"/>
          <p:cNvSpPr/>
          <p:nvPr/>
        </p:nvSpPr>
        <p:spPr>
          <a:xfrm>
            <a:off x="6096000" y="1584960"/>
            <a:ext cx="170688" cy="170688"/>
          </a:xfrm>
          <a:prstGeom prst="ellipse">
            <a:avLst/>
          </a:prstGeom>
          <a:solidFill>
            <a:srgbClr val="0B6E48"/>
          </a:solidFill>
          <a:ln cap="flat" cmpd="sng" w="12700">
            <a:solidFill>
              <a:srgbClr val="0B6E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27"/>
          <p:cNvSpPr/>
          <p:nvPr/>
        </p:nvSpPr>
        <p:spPr>
          <a:xfrm>
            <a:off x="6437376" y="1584960"/>
            <a:ext cx="170688" cy="170688"/>
          </a:xfrm>
          <a:prstGeom prst="ellipse">
            <a:avLst/>
          </a:prstGeom>
          <a:solidFill>
            <a:srgbClr val="185FA5"/>
          </a:solidFill>
          <a:ln cap="flat" cmpd="sng" w="12700">
            <a:solidFill>
              <a:srgbClr val="185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27"/>
          <p:cNvSpPr/>
          <p:nvPr/>
        </p:nvSpPr>
        <p:spPr>
          <a:xfrm>
            <a:off x="6778752" y="1584960"/>
            <a:ext cx="170688" cy="170688"/>
          </a:xfrm>
          <a:prstGeom prst="ellipse">
            <a:avLst/>
          </a:prstGeom>
          <a:solidFill>
            <a:srgbClr val="C8C6BC"/>
          </a:solidFill>
          <a:ln cap="flat" cmpd="sng" w="12700">
            <a:solidFill>
              <a:srgbClr val="C8C6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27"/>
          <p:cNvSpPr/>
          <p:nvPr/>
        </p:nvSpPr>
        <p:spPr>
          <a:xfrm>
            <a:off x="7120128" y="1584960"/>
            <a:ext cx="170688" cy="170688"/>
          </a:xfrm>
          <a:prstGeom prst="ellipse">
            <a:avLst/>
          </a:prstGeom>
          <a:solidFill>
            <a:srgbClr val="C8C6BC"/>
          </a:solidFill>
          <a:ln cap="flat" cmpd="sng" w="12700">
            <a:solidFill>
              <a:srgbClr val="C8C6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27"/>
          <p:cNvSpPr/>
          <p:nvPr/>
        </p:nvSpPr>
        <p:spPr>
          <a:xfrm>
            <a:off x="7461504" y="1584960"/>
            <a:ext cx="170688" cy="170688"/>
          </a:xfrm>
          <a:prstGeom prst="ellipse">
            <a:avLst/>
          </a:prstGeom>
          <a:solidFill>
            <a:srgbClr val="C8C6BC"/>
          </a:solidFill>
          <a:ln cap="flat" cmpd="sng" w="12700">
            <a:solidFill>
              <a:srgbClr val="C8C6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16" name="Google Shape;216;p27"/>
          <p:cNvCxnSpPr/>
          <p:nvPr/>
        </p:nvCxnSpPr>
        <p:spPr>
          <a:xfrm>
            <a:off x="7193280" y="3048000"/>
            <a:ext cx="2377440" cy="0"/>
          </a:xfrm>
          <a:prstGeom prst="straightConnector1">
            <a:avLst/>
          </a:prstGeom>
          <a:noFill/>
          <a:ln cap="flat" cmpd="sng" w="9525">
            <a:solidFill>
              <a:srgbClr val="C8C6BC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17" name="Google Shape;217;p27"/>
          <p:cNvSpPr/>
          <p:nvPr/>
        </p:nvSpPr>
        <p:spPr>
          <a:xfrm>
            <a:off x="5754624" y="2706624"/>
            <a:ext cx="682752" cy="682752"/>
          </a:xfrm>
          <a:prstGeom prst="ellipse">
            <a:avLst/>
          </a:prstGeom>
          <a:solidFill>
            <a:srgbClr val="4A42B0">
              <a:alpha val="7843"/>
            </a:srgbClr>
          </a:solidFill>
          <a:ln cap="flat" cmpd="sng" w="9525">
            <a:solidFill>
              <a:srgbClr val="4A42B0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7"/>
          <p:cNvSpPr/>
          <p:nvPr/>
        </p:nvSpPr>
        <p:spPr>
          <a:xfrm>
            <a:off x="5583936" y="2535936"/>
            <a:ext cx="1024128" cy="1024128"/>
          </a:xfrm>
          <a:prstGeom prst="ellipse">
            <a:avLst/>
          </a:prstGeom>
          <a:solidFill>
            <a:srgbClr val="4A42B0">
              <a:alpha val="7843"/>
            </a:srgbClr>
          </a:solidFill>
          <a:ln cap="flat" cmpd="sng" w="9525">
            <a:solidFill>
              <a:srgbClr val="4A42B0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27"/>
          <p:cNvSpPr/>
          <p:nvPr/>
        </p:nvSpPr>
        <p:spPr>
          <a:xfrm>
            <a:off x="426720" y="2316480"/>
            <a:ext cx="2194560" cy="1463040"/>
          </a:xfrm>
          <a:prstGeom prst="roundRect">
            <a:avLst>
              <a:gd fmla="val 11667" name="adj"/>
            </a:avLst>
          </a:prstGeom>
          <a:solidFill>
            <a:srgbClr val="D8F2E8"/>
          </a:solidFill>
          <a:ln cap="flat" cmpd="sng" w="19050">
            <a:solidFill>
              <a:srgbClr val="0B60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27"/>
          <p:cNvSpPr/>
          <p:nvPr/>
        </p:nvSpPr>
        <p:spPr>
          <a:xfrm>
            <a:off x="426720" y="2535936"/>
            <a:ext cx="2194560" cy="536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63D2C"/>
              </a:buClr>
              <a:buSzPts val="2300"/>
              <a:buFont typeface="Calibri"/>
              <a:buNone/>
            </a:pPr>
            <a:r>
              <a:rPr b="1" lang="en-US" sz="2300">
                <a:solidFill>
                  <a:srgbClr val="063D2C"/>
                </a:solidFill>
                <a:latin typeface="Calibri"/>
                <a:ea typeface="Calibri"/>
                <a:cs typeface="Calibri"/>
                <a:sym typeface="Calibri"/>
              </a:rPr>
              <a:t>Client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7"/>
          <p:cNvSpPr/>
          <p:nvPr/>
        </p:nvSpPr>
        <p:spPr>
          <a:xfrm>
            <a:off x="426720" y="3048000"/>
            <a:ext cx="21945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6047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0B6047"/>
                </a:solidFill>
                <a:latin typeface="Calibri"/>
                <a:ea typeface="Calibri"/>
                <a:cs typeface="Calibri"/>
                <a:sym typeface="Calibri"/>
              </a:rPr>
              <a:t>Student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7"/>
          <p:cNvSpPr/>
          <p:nvPr/>
        </p:nvSpPr>
        <p:spPr>
          <a:xfrm>
            <a:off x="2231136" y="2389632"/>
            <a:ext cx="316992" cy="3169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6047"/>
              </a:buClr>
              <a:buSzPts val="1700"/>
              <a:buFont typeface="Calibri"/>
              <a:buNone/>
            </a:pPr>
            <a:r>
              <a:rPr b="1" lang="en-US" sz="1700">
                <a:solidFill>
                  <a:srgbClr val="0B6047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7"/>
          <p:cNvSpPr/>
          <p:nvPr/>
        </p:nvSpPr>
        <p:spPr>
          <a:xfrm>
            <a:off x="4998720" y="2072640"/>
            <a:ext cx="2194560" cy="1950720"/>
          </a:xfrm>
          <a:prstGeom prst="roundRect">
            <a:avLst>
              <a:gd fmla="val 8750" name="adj"/>
            </a:avLst>
          </a:prstGeom>
          <a:solidFill>
            <a:srgbClr val="E8E6FE"/>
          </a:solidFill>
          <a:ln cap="flat" cmpd="sng" w="25400">
            <a:solidFill>
              <a:srgbClr val="4A42B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27"/>
          <p:cNvSpPr/>
          <p:nvPr/>
        </p:nvSpPr>
        <p:spPr>
          <a:xfrm>
            <a:off x="4998720" y="2292096"/>
            <a:ext cx="2194560" cy="536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A2468"/>
              </a:buClr>
              <a:buSzPts val="2300"/>
              <a:buFont typeface="Calibri"/>
              <a:buNone/>
            </a:pPr>
            <a:r>
              <a:rPr b="1" lang="en-US" sz="2300">
                <a:solidFill>
                  <a:srgbClr val="2A2468"/>
                </a:solidFill>
                <a:latin typeface="Calibri"/>
                <a:ea typeface="Calibri"/>
                <a:cs typeface="Calibri"/>
                <a:sym typeface="Calibri"/>
              </a:rPr>
              <a:t>Server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7"/>
          <p:cNvSpPr/>
          <p:nvPr/>
        </p:nvSpPr>
        <p:spPr>
          <a:xfrm>
            <a:off x="4998720" y="2804160"/>
            <a:ext cx="21945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42B0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4A42B0"/>
                </a:solidFill>
                <a:latin typeface="Calibri"/>
                <a:ea typeface="Calibri"/>
                <a:cs typeface="Calibri"/>
                <a:sym typeface="Calibri"/>
              </a:rPr>
              <a:t>BRACU API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7"/>
          <p:cNvSpPr/>
          <p:nvPr/>
        </p:nvSpPr>
        <p:spPr>
          <a:xfrm>
            <a:off x="9570720" y="2316480"/>
            <a:ext cx="2194560" cy="1463040"/>
          </a:xfrm>
          <a:prstGeom prst="roundRect">
            <a:avLst>
              <a:gd fmla="val 11667" name="adj"/>
            </a:avLst>
          </a:prstGeom>
          <a:solidFill>
            <a:srgbClr val="F0F4F8"/>
          </a:solidFill>
          <a:ln cap="flat" cmpd="sng" w="9525">
            <a:solidFill>
              <a:srgbClr val="C8C6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27"/>
          <p:cNvSpPr/>
          <p:nvPr/>
        </p:nvSpPr>
        <p:spPr>
          <a:xfrm>
            <a:off x="9570720" y="2535936"/>
            <a:ext cx="2194560" cy="536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A6966"/>
              </a:buClr>
              <a:buSzPts val="2300"/>
              <a:buFont typeface="Calibri"/>
              <a:buNone/>
            </a:pPr>
            <a:r>
              <a:rPr b="1" lang="en-US" sz="2300">
                <a:solidFill>
                  <a:srgbClr val="6A6966"/>
                </a:solidFill>
                <a:latin typeface="Calibri"/>
                <a:ea typeface="Calibri"/>
                <a:cs typeface="Calibri"/>
                <a:sym typeface="Calibri"/>
              </a:rPr>
              <a:t>Database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7"/>
          <p:cNvSpPr/>
          <p:nvPr/>
        </p:nvSpPr>
        <p:spPr>
          <a:xfrm>
            <a:off x="9570720" y="3048000"/>
            <a:ext cx="21945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8C6BC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C8C6BC"/>
                </a:solidFill>
                <a:latin typeface="Calibri"/>
                <a:ea typeface="Calibri"/>
                <a:cs typeface="Calibri"/>
                <a:sym typeface="Calibri"/>
              </a:rPr>
              <a:t>Students DB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7"/>
          <p:cNvSpPr/>
          <p:nvPr/>
        </p:nvSpPr>
        <p:spPr>
          <a:xfrm>
            <a:off x="5096256" y="4120896"/>
            <a:ext cx="1999488" cy="292608"/>
          </a:xfrm>
          <a:prstGeom prst="roundRect">
            <a:avLst>
              <a:gd fmla="val 25000" name="adj"/>
            </a:avLst>
          </a:prstGeom>
          <a:solidFill>
            <a:srgbClr val="E8E6FE"/>
          </a:solidFill>
          <a:ln cap="flat" cmpd="sng" w="9525">
            <a:solidFill>
              <a:srgbClr val="4A42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27"/>
          <p:cNvSpPr/>
          <p:nvPr/>
        </p:nvSpPr>
        <p:spPr>
          <a:xfrm>
            <a:off x="5120640" y="4120896"/>
            <a:ext cx="1950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468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2A2468"/>
                </a:solidFill>
                <a:latin typeface="Calibri"/>
                <a:ea typeface="Calibri"/>
                <a:cs typeface="Calibri"/>
                <a:sym typeface="Calibri"/>
              </a:rPr>
              <a:t>1. Verify JWT token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7"/>
          <p:cNvSpPr/>
          <p:nvPr/>
        </p:nvSpPr>
        <p:spPr>
          <a:xfrm>
            <a:off x="5096256" y="5212345"/>
            <a:ext cx="1999488" cy="292608"/>
          </a:xfrm>
          <a:prstGeom prst="roundRect">
            <a:avLst>
              <a:gd fmla="val 25000" name="adj"/>
            </a:avLst>
          </a:prstGeom>
          <a:solidFill>
            <a:srgbClr val="E8E6FE"/>
          </a:solidFill>
          <a:ln cap="flat" cmpd="sng" w="9525">
            <a:solidFill>
              <a:srgbClr val="4A42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7"/>
          <p:cNvSpPr/>
          <p:nvPr/>
        </p:nvSpPr>
        <p:spPr>
          <a:xfrm>
            <a:off x="5120640" y="5212345"/>
            <a:ext cx="1950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468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2A2468"/>
                </a:solidFill>
                <a:latin typeface="Calibri"/>
                <a:ea typeface="Calibri"/>
                <a:cs typeface="Calibri"/>
                <a:sym typeface="Calibri"/>
              </a:rPr>
              <a:t>2. Check permissions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7"/>
          <p:cNvSpPr/>
          <p:nvPr/>
        </p:nvSpPr>
        <p:spPr>
          <a:xfrm>
            <a:off x="5096256" y="5578105"/>
            <a:ext cx="1999488" cy="292608"/>
          </a:xfrm>
          <a:prstGeom prst="roundRect">
            <a:avLst>
              <a:gd fmla="val 25000" name="adj"/>
            </a:avLst>
          </a:prstGeom>
          <a:solidFill>
            <a:srgbClr val="E8E6FE"/>
          </a:solidFill>
          <a:ln cap="flat" cmpd="sng" w="9525">
            <a:solidFill>
              <a:srgbClr val="4A42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27"/>
          <p:cNvSpPr/>
          <p:nvPr/>
        </p:nvSpPr>
        <p:spPr>
          <a:xfrm>
            <a:off x="5120640" y="5578105"/>
            <a:ext cx="1950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468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2A2468"/>
                </a:solidFill>
                <a:latin typeface="Calibri"/>
                <a:ea typeface="Calibri"/>
                <a:cs typeface="Calibri"/>
                <a:sym typeface="Calibri"/>
              </a:rPr>
              <a:t>3. Route → StudentController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7"/>
          <p:cNvSpPr/>
          <p:nvPr/>
        </p:nvSpPr>
        <p:spPr>
          <a:xfrm>
            <a:off x="426720" y="5114809"/>
            <a:ext cx="11338560" cy="1536192"/>
          </a:xfrm>
          <a:prstGeom prst="roundRect">
            <a:avLst>
              <a:gd fmla="val 9524" name="adj"/>
            </a:avLst>
          </a:prstGeom>
          <a:solidFill>
            <a:srgbClr val="F8F7F4"/>
          </a:solidFill>
          <a:ln cap="flat" cmpd="sng" w="9525">
            <a:solidFill>
              <a:srgbClr val="C8C6BC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27"/>
          <p:cNvSpPr/>
          <p:nvPr/>
        </p:nvSpPr>
        <p:spPr>
          <a:xfrm>
            <a:off x="609600" y="5200153"/>
            <a:ext cx="17068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6966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6A6966"/>
                </a:solidFill>
                <a:latin typeface="Calibri"/>
                <a:ea typeface="Calibri"/>
                <a:cs typeface="Calibri"/>
                <a:sym typeface="Calibri"/>
              </a:rPr>
              <a:t>Network log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7"/>
          <p:cNvSpPr/>
          <p:nvPr/>
        </p:nvSpPr>
        <p:spPr>
          <a:xfrm>
            <a:off x="609600" y="5529337"/>
            <a:ext cx="11094720" cy="3169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60A8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1560A8"/>
                </a:solidFill>
                <a:latin typeface="Calibri"/>
                <a:ea typeface="Calibri"/>
                <a:cs typeface="Calibri"/>
                <a:sym typeface="Calibri"/>
              </a:rPr>
              <a:t>→ REQUEST  </a:t>
            </a:r>
            <a:r>
              <a:rPr lang="en-US" sz="1500">
                <a:solidFill>
                  <a:srgbClr val="3A3A38"/>
                </a:solidFill>
                <a:latin typeface="Calibri"/>
                <a:ea typeface="Calibri"/>
                <a:cs typeface="Calibri"/>
                <a:sym typeface="Calibri"/>
              </a:rPr>
              <a:t>GET /api/student?id=2021-CSE-047  received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7"/>
          <p:cNvSpPr/>
          <p:nvPr/>
        </p:nvSpPr>
        <p:spPr>
          <a:xfrm>
            <a:off x="609600" y="5870713"/>
            <a:ext cx="11094720" cy="3169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2B0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4A42B0"/>
                </a:solidFill>
                <a:latin typeface="Calibri"/>
                <a:ea typeface="Calibri"/>
                <a:cs typeface="Calibri"/>
                <a:sym typeface="Calibri"/>
              </a:rPr>
              <a:t>⚙ SERVER  </a:t>
            </a:r>
            <a:r>
              <a:rPr lang="en-US" sz="1500">
                <a:solidFill>
                  <a:srgbClr val="3A3A38"/>
                </a:solidFill>
                <a:latin typeface="Calibri"/>
                <a:ea typeface="Calibri"/>
                <a:cs typeface="Calibri"/>
                <a:sym typeface="Calibri"/>
              </a:rPr>
              <a:t>JWT verified — user: admin@bracu.ac.bd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7"/>
          <p:cNvSpPr/>
          <p:nvPr/>
        </p:nvSpPr>
        <p:spPr>
          <a:xfrm>
            <a:off x="609600" y="6212089"/>
            <a:ext cx="11094720" cy="3169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2B0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4A42B0"/>
                </a:solidFill>
                <a:latin typeface="Calibri"/>
                <a:ea typeface="Calibri"/>
                <a:cs typeface="Calibri"/>
                <a:sym typeface="Calibri"/>
              </a:rPr>
              <a:t>⚙ SERVER  </a:t>
            </a:r>
            <a:r>
              <a:rPr lang="en-US" sz="1500">
                <a:solidFill>
                  <a:srgbClr val="3A3A38"/>
                </a:solidFill>
                <a:latin typeface="Calibri"/>
                <a:ea typeface="Calibri"/>
                <a:cs typeface="Calibri"/>
                <a:sym typeface="Calibri"/>
              </a:rPr>
              <a:t>Routing to StudentController.getRecord()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3FC"/>
        </a:solid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8"/>
          <p:cNvSpPr/>
          <p:nvPr/>
        </p:nvSpPr>
        <p:spPr>
          <a:xfrm>
            <a:off x="0" y="0"/>
            <a:ext cx="12192000" cy="146304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28"/>
          <p:cNvSpPr/>
          <p:nvPr/>
        </p:nvSpPr>
        <p:spPr>
          <a:xfrm>
            <a:off x="426720" y="268224"/>
            <a:ext cx="1341120" cy="585216"/>
          </a:xfrm>
          <a:prstGeom prst="roundRect">
            <a:avLst>
              <a:gd fmla="val 25000" name="adj"/>
            </a:avLst>
          </a:prstGeom>
          <a:solidFill>
            <a:srgbClr val="EFF3FC">
              <a:alpha val="90196"/>
            </a:srgbClr>
          </a:solidFill>
          <a:ln cap="flat" cmpd="sng" w="9525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28"/>
          <p:cNvSpPr/>
          <p:nvPr/>
        </p:nvSpPr>
        <p:spPr>
          <a:xfrm>
            <a:off x="426720" y="268224"/>
            <a:ext cx="1341120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Step 4/6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8"/>
          <p:cNvSpPr/>
          <p:nvPr/>
        </p:nvSpPr>
        <p:spPr>
          <a:xfrm>
            <a:off x="1950720" y="121920"/>
            <a:ext cx="981456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Server queries the database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8"/>
          <p:cNvSpPr/>
          <p:nvPr/>
        </p:nvSpPr>
        <p:spPr>
          <a:xfrm>
            <a:off x="2621280" y="1889760"/>
            <a:ext cx="2377440" cy="341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A6966"/>
              </a:buClr>
              <a:buSzPts val="1500"/>
              <a:buFont typeface="Calibri"/>
              <a:buNone/>
            </a:pPr>
            <a:r>
              <a:rPr i="1" lang="en-US" sz="1500">
                <a:solidFill>
                  <a:srgbClr val="6A6966"/>
                </a:solidFill>
                <a:latin typeface="Calibri"/>
                <a:ea typeface="Calibri"/>
                <a:cs typeface="Calibri"/>
                <a:sym typeface="Calibri"/>
              </a:rPr>
              <a:t>Internet / HTTPS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8"/>
          <p:cNvSpPr/>
          <p:nvPr/>
        </p:nvSpPr>
        <p:spPr>
          <a:xfrm>
            <a:off x="7193280" y="1889760"/>
            <a:ext cx="2377440" cy="341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A6966"/>
              </a:buClr>
              <a:buSzPts val="1500"/>
              <a:buFont typeface="Calibri"/>
              <a:buNone/>
            </a:pPr>
            <a:r>
              <a:rPr i="1" lang="en-US" sz="1500">
                <a:solidFill>
                  <a:srgbClr val="6A6966"/>
                </a:solidFill>
                <a:latin typeface="Calibri"/>
                <a:ea typeface="Calibri"/>
                <a:cs typeface="Calibri"/>
                <a:sym typeface="Calibri"/>
              </a:rPr>
              <a:t>Internal network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8"/>
          <p:cNvSpPr/>
          <p:nvPr/>
        </p:nvSpPr>
        <p:spPr>
          <a:xfrm>
            <a:off x="5754624" y="1584960"/>
            <a:ext cx="170688" cy="170688"/>
          </a:xfrm>
          <a:prstGeom prst="ellipse">
            <a:avLst/>
          </a:prstGeom>
          <a:solidFill>
            <a:srgbClr val="0B6E48"/>
          </a:solidFill>
          <a:ln cap="flat" cmpd="sng" w="12700">
            <a:solidFill>
              <a:srgbClr val="0B6E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28"/>
          <p:cNvSpPr/>
          <p:nvPr/>
        </p:nvSpPr>
        <p:spPr>
          <a:xfrm>
            <a:off x="6096000" y="1584960"/>
            <a:ext cx="170688" cy="170688"/>
          </a:xfrm>
          <a:prstGeom prst="ellipse">
            <a:avLst/>
          </a:prstGeom>
          <a:solidFill>
            <a:srgbClr val="0B6E48"/>
          </a:solidFill>
          <a:ln cap="flat" cmpd="sng" w="12700">
            <a:solidFill>
              <a:srgbClr val="0B6E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8"/>
          <p:cNvSpPr/>
          <p:nvPr/>
        </p:nvSpPr>
        <p:spPr>
          <a:xfrm>
            <a:off x="6437376" y="1584960"/>
            <a:ext cx="170688" cy="170688"/>
          </a:xfrm>
          <a:prstGeom prst="ellipse">
            <a:avLst/>
          </a:prstGeom>
          <a:solidFill>
            <a:srgbClr val="0B6E48"/>
          </a:solidFill>
          <a:ln cap="flat" cmpd="sng" w="12700">
            <a:solidFill>
              <a:srgbClr val="0B6E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28"/>
          <p:cNvSpPr/>
          <p:nvPr/>
        </p:nvSpPr>
        <p:spPr>
          <a:xfrm>
            <a:off x="6778752" y="1584960"/>
            <a:ext cx="170688" cy="170688"/>
          </a:xfrm>
          <a:prstGeom prst="ellipse">
            <a:avLst/>
          </a:prstGeom>
          <a:solidFill>
            <a:srgbClr val="185FA5"/>
          </a:solidFill>
          <a:ln cap="flat" cmpd="sng" w="12700">
            <a:solidFill>
              <a:srgbClr val="185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28"/>
          <p:cNvSpPr/>
          <p:nvPr/>
        </p:nvSpPr>
        <p:spPr>
          <a:xfrm>
            <a:off x="7120128" y="1584960"/>
            <a:ext cx="170688" cy="170688"/>
          </a:xfrm>
          <a:prstGeom prst="ellipse">
            <a:avLst/>
          </a:prstGeom>
          <a:solidFill>
            <a:srgbClr val="C8C6BC"/>
          </a:solidFill>
          <a:ln cap="flat" cmpd="sng" w="12700">
            <a:solidFill>
              <a:srgbClr val="C8C6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28"/>
          <p:cNvSpPr/>
          <p:nvPr/>
        </p:nvSpPr>
        <p:spPr>
          <a:xfrm>
            <a:off x="7461504" y="1584960"/>
            <a:ext cx="170688" cy="170688"/>
          </a:xfrm>
          <a:prstGeom prst="ellipse">
            <a:avLst/>
          </a:prstGeom>
          <a:solidFill>
            <a:srgbClr val="C8C6BC"/>
          </a:solidFill>
          <a:ln cap="flat" cmpd="sng" w="12700">
            <a:solidFill>
              <a:srgbClr val="C8C6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57" name="Google Shape;257;p28"/>
          <p:cNvCxnSpPr/>
          <p:nvPr/>
        </p:nvCxnSpPr>
        <p:spPr>
          <a:xfrm>
            <a:off x="2621280" y="3730752"/>
            <a:ext cx="2377440" cy="0"/>
          </a:xfrm>
          <a:prstGeom prst="straightConnector1">
            <a:avLst/>
          </a:prstGeom>
          <a:noFill/>
          <a:ln cap="flat" cmpd="sng" w="9525">
            <a:solidFill>
              <a:srgbClr val="C8C6BC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58" name="Google Shape;258;p28"/>
          <p:cNvCxnSpPr/>
          <p:nvPr/>
        </p:nvCxnSpPr>
        <p:spPr>
          <a:xfrm>
            <a:off x="7193280" y="3730752"/>
            <a:ext cx="2377440" cy="12192"/>
          </a:xfrm>
          <a:prstGeom prst="straightConnector1">
            <a:avLst/>
          </a:prstGeom>
          <a:noFill/>
          <a:ln cap="flat" cmpd="sng" w="27925">
            <a:solidFill>
              <a:srgbClr val="8A52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59" name="Google Shape;259;p28"/>
          <p:cNvSpPr/>
          <p:nvPr/>
        </p:nvSpPr>
        <p:spPr>
          <a:xfrm>
            <a:off x="7120128" y="2303493"/>
            <a:ext cx="3169920" cy="438912"/>
          </a:xfrm>
          <a:prstGeom prst="roundRect">
            <a:avLst>
              <a:gd fmla="val 50000" name="adj"/>
            </a:avLst>
          </a:prstGeom>
          <a:solidFill>
            <a:srgbClr val="8A5200"/>
          </a:solidFill>
          <a:ln cap="flat" cmpd="sng" w="12700">
            <a:solidFill>
              <a:srgbClr val="8A52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28"/>
          <p:cNvSpPr/>
          <p:nvPr/>
        </p:nvSpPr>
        <p:spPr>
          <a:xfrm>
            <a:off x="7193280" y="2316480"/>
            <a:ext cx="3023616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SELECT * WHERE id='2021-CSE-047'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8"/>
          <p:cNvSpPr/>
          <p:nvPr/>
        </p:nvSpPr>
        <p:spPr>
          <a:xfrm>
            <a:off x="8296656" y="3645408"/>
            <a:ext cx="170688" cy="170688"/>
          </a:xfrm>
          <a:prstGeom prst="ellipse">
            <a:avLst/>
          </a:prstGeom>
          <a:solidFill>
            <a:srgbClr val="8A5200"/>
          </a:solidFill>
          <a:ln cap="flat" cmpd="sng" w="12700">
            <a:solidFill>
              <a:srgbClr val="8A52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28"/>
          <p:cNvSpPr/>
          <p:nvPr/>
        </p:nvSpPr>
        <p:spPr>
          <a:xfrm>
            <a:off x="426720" y="2999232"/>
            <a:ext cx="2194560" cy="1463040"/>
          </a:xfrm>
          <a:prstGeom prst="roundRect">
            <a:avLst>
              <a:gd fmla="val 11667" name="adj"/>
            </a:avLst>
          </a:prstGeom>
          <a:solidFill>
            <a:srgbClr val="D8F2E8"/>
          </a:solidFill>
          <a:ln cap="flat" cmpd="sng" w="19050">
            <a:solidFill>
              <a:srgbClr val="0B60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28"/>
          <p:cNvSpPr/>
          <p:nvPr/>
        </p:nvSpPr>
        <p:spPr>
          <a:xfrm>
            <a:off x="426720" y="3218688"/>
            <a:ext cx="2194560" cy="536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63D2C"/>
              </a:buClr>
              <a:buSzPts val="2300"/>
              <a:buFont typeface="Calibri"/>
              <a:buNone/>
            </a:pPr>
            <a:r>
              <a:rPr b="1" lang="en-US" sz="2300">
                <a:solidFill>
                  <a:srgbClr val="063D2C"/>
                </a:solidFill>
                <a:latin typeface="Calibri"/>
                <a:ea typeface="Calibri"/>
                <a:cs typeface="Calibri"/>
                <a:sym typeface="Calibri"/>
              </a:rPr>
              <a:t>Client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8"/>
          <p:cNvSpPr/>
          <p:nvPr/>
        </p:nvSpPr>
        <p:spPr>
          <a:xfrm>
            <a:off x="426720" y="3730752"/>
            <a:ext cx="21945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6047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0B6047"/>
                </a:solidFill>
                <a:latin typeface="Calibri"/>
                <a:ea typeface="Calibri"/>
                <a:cs typeface="Calibri"/>
                <a:sym typeface="Calibri"/>
              </a:rPr>
              <a:t>Student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8"/>
          <p:cNvSpPr/>
          <p:nvPr/>
        </p:nvSpPr>
        <p:spPr>
          <a:xfrm>
            <a:off x="2231136" y="3072384"/>
            <a:ext cx="316992" cy="3169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6047"/>
              </a:buClr>
              <a:buSzPts val="1700"/>
              <a:buFont typeface="Calibri"/>
              <a:buNone/>
            </a:pPr>
            <a:r>
              <a:rPr b="1" lang="en-US" sz="1700">
                <a:solidFill>
                  <a:srgbClr val="0B6047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8"/>
          <p:cNvSpPr/>
          <p:nvPr/>
        </p:nvSpPr>
        <p:spPr>
          <a:xfrm>
            <a:off x="4998720" y="2755392"/>
            <a:ext cx="2194560" cy="1950720"/>
          </a:xfrm>
          <a:prstGeom prst="roundRect">
            <a:avLst>
              <a:gd fmla="val 8750" name="adj"/>
            </a:avLst>
          </a:prstGeom>
          <a:solidFill>
            <a:srgbClr val="E8E6FE"/>
          </a:solidFill>
          <a:ln cap="flat" cmpd="sng" w="25400">
            <a:solidFill>
              <a:srgbClr val="4A42B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28"/>
          <p:cNvSpPr/>
          <p:nvPr/>
        </p:nvSpPr>
        <p:spPr>
          <a:xfrm>
            <a:off x="4998720" y="2974848"/>
            <a:ext cx="2194560" cy="536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A2468"/>
              </a:buClr>
              <a:buSzPts val="2300"/>
              <a:buFont typeface="Calibri"/>
              <a:buNone/>
            </a:pPr>
            <a:r>
              <a:rPr b="1" lang="en-US" sz="2300">
                <a:solidFill>
                  <a:srgbClr val="2A2468"/>
                </a:solidFill>
                <a:latin typeface="Calibri"/>
                <a:ea typeface="Calibri"/>
                <a:cs typeface="Calibri"/>
                <a:sym typeface="Calibri"/>
              </a:rPr>
              <a:t>Server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8"/>
          <p:cNvSpPr/>
          <p:nvPr/>
        </p:nvSpPr>
        <p:spPr>
          <a:xfrm>
            <a:off x="4998720" y="3486912"/>
            <a:ext cx="21945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42B0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4A42B0"/>
                </a:solidFill>
                <a:latin typeface="Calibri"/>
                <a:ea typeface="Calibri"/>
                <a:cs typeface="Calibri"/>
                <a:sym typeface="Calibri"/>
              </a:rPr>
              <a:t>BRACU API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8"/>
          <p:cNvSpPr/>
          <p:nvPr/>
        </p:nvSpPr>
        <p:spPr>
          <a:xfrm>
            <a:off x="9570720" y="2999232"/>
            <a:ext cx="2194560" cy="1463040"/>
          </a:xfrm>
          <a:prstGeom prst="roundRect">
            <a:avLst>
              <a:gd fmla="val 11667" name="adj"/>
            </a:avLst>
          </a:prstGeom>
          <a:solidFill>
            <a:srgbClr val="F0F4F8"/>
          </a:solidFill>
          <a:ln cap="flat" cmpd="sng" w="9525">
            <a:solidFill>
              <a:srgbClr val="C8C6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28"/>
          <p:cNvSpPr/>
          <p:nvPr/>
        </p:nvSpPr>
        <p:spPr>
          <a:xfrm>
            <a:off x="9570720" y="3218688"/>
            <a:ext cx="2194560" cy="536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A6966"/>
              </a:buClr>
              <a:buSzPts val="2300"/>
              <a:buFont typeface="Calibri"/>
              <a:buNone/>
            </a:pPr>
            <a:r>
              <a:rPr b="1" lang="en-US" sz="2300">
                <a:solidFill>
                  <a:srgbClr val="6A6966"/>
                </a:solidFill>
                <a:latin typeface="Calibri"/>
                <a:ea typeface="Calibri"/>
                <a:cs typeface="Calibri"/>
                <a:sym typeface="Calibri"/>
              </a:rPr>
              <a:t>Database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8"/>
          <p:cNvSpPr/>
          <p:nvPr/>
        </p:nvSpPr>
        <p:spPr>
          <a:xfrm>
            <a:off x="9570720" y="3730752"/>
            <a:ext cx="21945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8C6BC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C8C6BC"/>
                </a:solidFill>
                <a:latin typeface="Calibri"/>
                <a:ea typeface="Calibri"/>
                <a:cs typeface="Calibri"/>
                <a:sym typeface="Calibri"/>
              </a:rPr>
              <a:t>Students DB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8"/>
          <p:cNvSpPr/>
          <p:nvPr/>
        </p:nvSpPr>
        <p:spPr>
          <a:xfrm>
            <a:off x="426720" y="5035296"/>
            <a:ext cx="11338560" cy="1536192"/>
          </a:xfrm>
          <a:prstGeom prst="roundRect">
            <a:avLst>
              <a:gd fmla="val 9524" name="adj"/>
            </a:avLst>
          </a:prstGeom>
          <a:solidFill>
            <a:srgbClr val="F8F7F4"/>
          </a:solidFill>
          <a:ln cap="flat" cmpd="sng" w="9525">
            <a:solidFill>
              <a:srgbClr val="C8C6BC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28"/>
          <p:cNvSpPr/>
          <p:nvPr/>
        </p:nvSpPr>
        <p:spPr>
          <a:xfrm>
            <a:off x="609600" y="5120640"/>
            <a:ext cx="17068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6966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6A6966"/>
                </a:solidFill>
                <a:latin typeface="Calibri"/>
                <a:ea typeface="Calibri"/>
                <a:cs typeface="Calibri"/>
                <a:sym typeface="Calibri"/>
              </a:rPr>
              <a:t>Network log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8"/>
          <p:cNvSpPr/>
          <p:nvPr/>
        </p:nvSpPr>
        <p:spPr>
          <a:xfrm>
            <a:off x="609600" y="5449824"/>
            <a:ext cx="11094720" cy="3169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2B0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4A42B0"/>
                </a:solidFill>
                <a:latin typeface="Calibri"/>
                <a:ea typeface="Calibri"/>
                <a:cs typeface="Calibri"/>
                <a:sym typeface="Calibri"/>
              </a:rPr>
              <a:t>⚙ SERVER  </a:t>
            </a:r>
            <a:r>
              <a:rPr lang="en-US" sz="1500">
                <a:solidFill>
                  <a:srgbClr val="3A3A38"/>
                </a:solidFill>
                <a:latin typeface="Calibri"/>
                <a:ea typeface="Calibri"/>
                <a:cs typeface="Calibri"/>
                <a:sym typeface="Calibri"/>
              </a:rPr>
              <a:t>Building SQL query…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8"/>
          <p:cNvSpPr/>
          <p:nvPr/>
        </p:nvSpPr>
        <p:spPr>
          <a:xfrm>
            <a:off x="609600" y="5791200"/>
            <a:ext cx="11094720" cy="3169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5200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8A5200"/>
                </a:solidFill>
                <a:latin typeface="Calibri"/>
                <a:ea typeface="Calibri"/>
                <a:cs typeface="Calibri"/>
                <a:sym typeface="Calibri"/>
              </a:rPr>
              <a:t>⬡ DB  </a:t>
            </a:r>
            <a:r>
              <a:rPr lang="en-US" sz="1500">
                <a:solidFill>
                  <a:srgbClr val="3A3A38"/>
                </a:solidFill>
                <a:latin typeface="Calibri"/>
                <a:ea typeface="Calibri"/>
                <a:cs typeface="Calibri"/>
                <a:sym typeface="Calibri"/>
              </a:rPr>
              <a:t>SELECT * FROM students WHERE student_id = '2021-CSE-047'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8"/>
          <p:cNvSpPr/>
          <p:nvPr/>
        </p:nvSpPr>
        <p:spPr>
          <a:xfrm>
            <a:off x="609600" y="6132576"/>
            <a:ext cx="11094720" cy="3169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5200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8A5200"/>
                </a:solidFill>
                <a:latin typeface="Calibri"/>
                <a:ea typeface="Calibri"/>
                <a:cs typeface="Calibri"/>
                <a:sym typeface="Calibri"/>
              </a:rPr>
              <a:t>⬡ DB  </a:t>
            </a:r>
            <a:r>
              <a:rPr lang="en-US" sz="1500">
                <a:solidFill>
                  <a:srgbClr val="3A3A38"/>
                </a:solidFill>
                <a:latin typeface="Calibri"/>
                <a:ea typeface="Calibri"/>
                <a:cs typeface="Calibri"/>
                <a:sym typeface="Calibri"/>
              </a:rPr>
              <a:t>Query dispatched over internal network (not exposed to internet)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3FC"/>
        </a:solid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9"/>
          <p:cNvSpPr/>
          <p:nvPr/>
        </p:nvSpPr>
        <p:spPr>
          <a:xfrm>
            <a:off x="0" y="0"/>
            <a:ext cx="12192000" cy="146304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29"/>
          <p:cNvSpPr/>
          <p:nvPr/>
        </p:nvSpPr>
        <p:spPr>
          <a:xfrm>
            <a:off x="426720" y="268224"/>
            <a:ext cx="1341120" cy="585216"/>
          </a:xfrm>
          <a:prstGeom prst="roundRect">
            <a:avLst>
              <a:gd fmla="val 25000" name="adj"/>
            </a:avLst>
          </a:prstGeom>
          <a:solidFill>
            <a:srgbClr val="EFF3FC">
              <a:alpha val="90196"/>
            </a:srgbClr>
          </a:solidFill>
          <a:ln cap="flat" cmpd="sng" w="9525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29"/>
          <p:cNvSpPr/>
          <p:nvPr/>
        </p:nvSpPr>
        <p:spPr>
          <a:xfrm>
            <a:off x="426720" y="268224"/>
            <a:ext cx="1341120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Step 5/6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9"/>
          <p:cNvSpPr/>
          <p:nvPr/>
        </p:nvSpPr>
        <p:spPr>
          <a:xfrm>
            <a:off x="1950720" y="121920"/>
            <a:ext cx="981456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Database returns the student record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9"/>
          <p:cNvSpPr/>
          <p:nvPr/>
        </p:nvSpPr>
        <p:spPr>
          <a:xfrm>
            <a:off x="2621280" y="1889760"/>
            <a:ext cx="2377440" cy="341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A6966"/>
              </a:buClr>
              <a:buSzPts val="1500"/>
              <a:buFont typeface="Calibri"/>
              <a:buNone/>
            </a:pPr>
            <a:r>
              <a:rPr i="1" lang="en-US" sz="1500">
                <a:solidFill>
                  <a:srgbClr val="6A6966"/>
                </a:solidFill>
                <a:latin typeface="Calibri"/>
                <a:ea typeface="Calibri"/>
                <a:cs typeface="Calibri"/>
                <a:sym typeface="Calibri"/>
              </a:rPr>
              <a:t>Internet / HTTPS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9"/>
          <p:cNvSpPr/>
          <p:nvPr/>
        </p:nvSpPr>
        <p:spPr>
          <a:xfrm>
            <a:off x="7217664" y="1901952"/>
            <a:ext cx="2377440" cy="341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A6966"/>
              </a:buClr>
              <a:buSzPts val="1500"/>
              <a:buFont typeface="Calibri"/>
              <a:buNone/>
            </a:pPr>
            <a:r>
              <a:rPr i="1" lang="en-US" sz="1500">
                <a:solidFill>
                  <a:srgbClr val="6A6966"/>
                </a:solidFill>
                <a:latin typeface="Calibri"/>
                <a:ea typeface="Calibri"/>
                <a:cs typeface="Calibri"/>
                <a:sym typeface="Calibri"/>
              </a:rPr>
              <a:t>Internal network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9"/>
          <p:cNvSpPr/>
          <p:nvPr/>
        </p:nvSpPr>
        <p:spPr>
          <a:xfrm>
            <a:off x="5754624" y="1584960"/>
            <a:ext cx="170688" cy="170688"/>
          </a:xfrm>
          <a:prstGeom prst="ellipse">
            <a:avLst/>
          </a:prstGeom>
          <a:solidFill>
            <a:srgbClr val="0B6E48"/>
          </a:solidFill>
          <a:ln cap="flat" cmpd="sng" w="12700">
            <a:solidFill>
              <a:srgbClr val="0B6E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29"/>
          <p:cNvSpPr/>
          <p:nvPr/>
        </p:nvSpPr>
        <p:spPr>
          <a:xfrm>
            <a:off x="6096000" y="1584960"/>
            <a:ext cx="170688" cy="170688"/>
          </a:xfrm>
          <a:prstGeom prst="ellipse">
            <a:avLst/>
          </a:prstGeom>
          <a:solidFill>
            <a:srgbClr val="0B6E48"/>
          </a:solidFill>
          <a:ln cap="flat" cmpd="sng" w="12700">
            <a:solidFill>
              <a:srgbClr val="0B6E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29"/>
          <p:cNvSpPr/>
          <p:nvPr/>
        </p:nvSpPr>
        <p:spPr>
          <a:xfrm>
            <a:off x="6437376" y="1584960"/>
            <a:ext cx="170688" cy="170688"/>
          </a:xfrm>
          <a:prstGeom prst="ellipse">
            <a:avLst/>
          </a:prstGeom>
          <a:solidFill>
            <a:srgbClr val="0B6E48"/>
          </a:solidFill>
          <a:ln cap="flat" cmpd="sng" w="12700">
            <a:solidFill>
              <a:srgbClr val="0B6E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29"/>
          <p:cNvSpPr/>
          <p:nvPr/>
        </p:nvSpPr>
        <p:spPr>
          <a:xfrm>
            <a:off x="6778752" y="1584960"/>
            <a:ext cx="170688" cy="170688"/>
          </a:xfrm>
          <a:prstGeom prst="ellipse">
            <a:avLst/>
          </a:prstGeom>
          <a:solidFill>
            <a:srgbClr val="0B6E48"/>
          </a:solidFill>
          <a:ln cap="flat" cmpd="sng" w="12700">
            <a:solidFill>
              <a:srgbClr val="0B6E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29"/>
          <p:cNvSpPr/>
          <p:nvPr/>
        </p:nvSpPr>
        <p:spPr>
          <a:xfrm>
            <a:off x="7120128" y="1584960"/>
            <a:ext cx="170688" cy="170688"/>
          </a:xfrm>
          <a:prstGeom prst="ellipse">
            <a:avLst/>
          </a:prstGeom>
          <a:solidFill>
            <a:srgbClr val="185FA5"/>
          </a:solidFill>
          <a:ln cap="flat" cmpd="sng" w="12700">
            <a:solidFill>
              <a:srgbClr val="185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29"/>
          <p:cNvSpPr/>
          <p:nvPr/>
        </p:nvSpPr>
        <p:spPr>
          <a:xfrm>
            <a:off x="7461504" y="1584960"/>
            <a:ext cx="170688" cy="170688"/>
          </a:xfrm>
          <a:prstGeom prst="ellipse">
            <a:avLst/>
          </a:prstGeom>
          <a:solidFill>
            <a:srgbClr val="C8C6BC"/>
          </a:solidFill>
          <a:ln cap="flat" cmpd="sng" w="12700">
            <a:solidFill>
              <a:srgbClr val="C8C6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94" name="Google Shape;294;p29"/>
          <p:cNvCxnSpPr/>
          <p:nvPr/>
        </p:nvCxnSpPr>
        <p:spPr>
          <a:xfrm>
            <a:off x="2633472" y="3621553"/>
            <a:ext cx="2377440" cy="0"/>
          </a:xfrm>
          <a:prstGeom prst="straightConnector1">
            <a:avLst/>
          </a:prstGeom>
          <a:noFill/>
          <a:ln cap="flat" cmpd="sng" w="9525">
            <a:solidFill>
              <a:srgbClr val="C8C6BC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95" name="Google Shape;295;p29"/>
          <p:cNvSpPr/>
          <p:nvPr/>
        </p:nvSpPr>
        <p:spPr>
          <a:xfrm>
            <a:off x="10411968" y="3353329"/>
            <a:ext cx="536448" cy="536448"/>
          </a:xfrm>
          <a:prstGeom prst="ellipse">
            <a:avLst/>
          </a:prstGeom>
          <a:solidFill>
            <a:srgbClr val="7A4800">
              <a:alpha val="10196"/>
            </a:srgbClr>
          </a:solidFill>
          <a:ln cap="flat" cmpd="sng" w="9525">
            <a:solidFill>
              <a:srgbClr val="7A4800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29"/>
          <p:cNvSpPr/>
          <p:nvPr/>
        </p:nvSpPr>
        <p:spPr>
          <a:xfrm>
            <a:off x="10277856" y="3219217"/>
            <a:ext cx="804672" cy="804672"/>
          </a:xfrm>
          <a:prstGeom prst="ellipse">
            <a:avLst/>
          </a:prstGeom>
          <a:solidFill>
            <a:srgbClr val="7A4800">
              <a:alpha val="10196"/>
            </a:srgbClr>
          </a:solidFill>
          <a:ln cap="flat" cmpd="sng" w="9525">
            <a:solidFill>
              <a:srgbClr val="7A4800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29"/>
          <p:cNvSpPr/>
          <p:nvPr/>
        </p:nvSpPr>
        <p:spPr>
          <a:xfrm>
            <a:off x="10143744" y="3085105"/>
            <a:ext cx="1072896" cy="1072896"/>
          </a:xfrm>
          <a:prstGeom prst="ellipse">
            <a:avLst/>
          </a:prstGeom>
          <a:solidFill>
            <a:srgbClr val="7A4800">
              <a:alpha val="10196"/>
            </a:srgbClr>
          </a:solidFill>
          <a:ln cap="flat" cmpd="sng" w="9525">
            <a:solidFill>
              <a:srgbClr val="7A4800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98" name="Google Shape;298;p29"/>
          <p:cNvCxnSpPr/>
          <p:nvPr/>
        </p:nvCxnSpPr>
        <p:spPr>
          <a:xfrm>
            <a:off x="7205472" y="3621553"/>
            <a:ext cx="2377440" cy="12192"/>
          </a:xfrm>
          <a:prstGeom prst="straightConnector1">
            <a:avLst/>
          </a:prstGeom>
          <a:noFill/>
          <a:ln cap="flat" cmpd="sng" w="27925">
            <a:solidFill>
              <a:srgbClr val="8A52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99" name="Google Shape;299;p29"/>
          <p:cNvSpPr/>
          <p:nvPr/>
        </p:nvSpPr>
        <p:spPr>
          <a:xfrm>
            <a:off x="7193811" y="2313299"/>
            <a:ext cx="3169920" cy="438912"/>
          </a:xfrm>
          <a:prstGeom prst="roundRect">
            <a:avLst>
              <a:gd fmla="val 50000" name="adj"/>
            </a:avLst>
          </a:prstGeom>
          <a:solidFill>
            <a:srgbClr val="8A5200"/>
          </a:solidFill>
          <a:ln cap="flat" cmpd="sng" w="12700">
            <a:solidFill>
              <a:srgbClr val="8A52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29"/>
          <p:cNvSpPr/>
          <p:nvPr/>
        </p:nvSpPr>
        <p:spPr>
          <a:xfrm>
            <a:off x="7322092" y="2299517"/>
            <a:ext cx="3023616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{ name, cgpa, credits, semester… }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29"/>
          <p:cNvSpPr/>
          <p:nvPr/>
        </p:nvSpPr>
        <p:spPr>
          <a:xfrm>
            <a:off x="8308848" y="3536209"/>
            <a:ext cx="170688" cy="170688"/>
          </a:xfrm>
          <a:prstGeom prst="ellipse">
            <a:avLst/>
          </a:prstGeom>
          <a:solidFill>
            <a:srgbClr val="8A5200"/>
          </a:solidFill>
          <a:ln cap="flat" cmpd="sng" w="12700">
            <a:solidFill>
              <a:srgbClr val="8A52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29"/>
          <p:cNvSpPr/>
          <p:nvPr/>
        </p:nvSpPr>
        <p:spPr>
          <a:xfrm>
            <a:off x="438912" y="2890033"/>
            <a:ext cx="2194560" cy="1463040"/>
          </a:xfrm>
          <a:prstGeom prst="roundRect">
            <a:avLst>
              <a:gd fmla="val 11667" name="adj"/>
            </a:avLst>
          </a:prstGeom>
          <a:solidFill>
            <a:srgbClr val="D8F2E8"/>
          </a:solidFill>
          <a:ln cap="flat" cmpd="sng" w="19050">
            <a:solidFill>
              <a:srgbClr val="0B60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29"/>
          <p:cNvSpPr/>
          <p:nvPr/>
        </p:nvSpPr>
        <p:spPr>
          <a:xfrm>
            <a:off x="438912" y="3109489"/>
            <a:ext cx="2194560" cy="536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63D2C"/>
              </a:buClr>
              <a:buSzPts val="2300"/>
              <a:buFont typeface="Calibri"/>
              <a:buNone/>
            </a:pPr>
            <a:r>
              <a:rPr b="1" lang="en-US" sz="2300">
                <a:solidFill>
                  <a:srgbClr val="063D2C"/>
                </a:solidFill>
                <a:latin typeface="Calibri"/>
                <a:ea typeface="Calibri"/>
                <a:cs typeface="Calibri"/>
                <a:sym typeface="Calibri"/>
              </a:rPr>
              <a:t>Client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29"/>
          <p:cNvSpPr/>
          <p:nvPr/>
        </p:nvSpPr>
        <p:spPr>
          <a:xfrm>
            <a:off x="438912" y="3621553"/>
            <a:ext cx="21945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6047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0B6047"/>
                </a:solidFill>
                <a:latin typeface="Calibri"/>
                <a:ea typeface="Calibri"/>
                <a:cs typeface="Calibri"/>
                <a:sym typeface="Calibri"/>
              </a:rPr>
              <a:t>Student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29"/>
          <p:cNvSpPr/>
          <p:nvPr/>
        </p:nvSpPr>
        <p:spPr>
          <a:xfrm>
            <a:off x="2243328" y="2963185"/>
            <a:ext cx="316992" cy="3169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6047"/>
              </a:buClr>
              <a:buSzPts val="1700"/>
              <a:buFont typeface="Calibri"/>
              <a:buNone/>
            </a:pPr>
            <a:r>
              <a:rPr b="1" lang="en-US" sz="1700">
                <a:solidFill>
                  <a:srgbClr val="0B6047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29"/>
          <p:cNvSpPr/>
          <p:nvPr/>
        </p:nvSpPr>
        <p:spPr>
          <a:xfrm>
            <a:off x="5010912" y="2646193"/>
            <a:ext cx="2194560" cy="1950720"/>
          </a:xfrm>
          <a:prstGeom prst="roundRect">
            <a:avLst>
              <a:gd fmla="val 8750" name="adj"/>
            </a:avLst>
          </a:prstGeom>
          <a:solidFill>
            <a:srgbClr val="E8E6FE"/>
          </a:solidFill>
          <a:ln cap="flat" cmpd="sng" w="19050">
            <a:solidFill>
              <a:srgbClr val="4A42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29"/>
          <p:cNvSpPr/>
          <p:nvPr/>
        </p:nvSpPr>
        <p:spPr>
          <a:xfrm>
            <a:off x="5010912" y="2865649"/>
            <a:ext cx="2194560" cy="536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A2468"/>
              </a:buClr>
              <a:buSzPts val="2300"/>
              <a:buFont typeface="Calibri"/>
              <a:buNone/>
            </a:pPr>
            <a:r>
              <a:rPr b="1" lang="en-US" sz="2300">
                <a:solidFill>
                  <a:srgbClr val="2A2468"/>
                </a:solidFill>
                <a:latin typeface="Calibri"/>
                <a:ea typeface="Calibri"/>
                <a:cs typeface="Calibri"/>
                <a:sym typeface="Calibri"/>
              </a:rPr>
              <a:t>Server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29"/>
          <p:cNvSpPr/>
          <p:nvPr/>
        </p:nvSpPr>
        <p:spPr>
          <a:xfrm>
            <a:off x="5010912" y="3377713"/>
            <a:ext cx="21945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42B0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4A42B0"/>
                </a:solidFill>
                <a:latin typeface="Calibri"/>
                <a:ea typeface="Calibri"/>
                <a:cs typeface="Calibri"/>
                <a:sym typeface="Calibri"/>
              </a:rPr>
              <a:t>BRACU API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9"/>
          <p:cNvSpPr/>
          <p:nvPr/>
        </p:nvSpPr>
        <p:spPr>
          <a:xfrm>
            <a:off x="6815328" y="2719345"/>
            <a:ext cx="316992" cy="3169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42B0"/>
              </a:buClr>
              <a:buSzPts val="1700"/>
              <a:buFont typeface="Calibri"/>
              <a:buNone/>
            </a:pPr>
            <a:r>
              <a:rPr b="1" lang="en-US" sz="1700">
                <a:solidFill>
                  <a:srgbClr val="4A42B0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29"/>
          <p:cNvSpPr/>
          <p:nvPr/>
        </p:nvSpPr>
        <p:spPr>
          <a:xfrm>
            <a:off x="9582912" y="2890033"/>
            <a:ext cx="2194560" cy="1463040"/>
          </a:xfrm>
          <a:prstGeom prst="roundRect">
            <a:avLst>
              <a:gd fmla="val 11667" name="adj"/>
            </a:avLst>
          </a:prstGeom>
          <a:solidFill>
            <a:srgbClr val="FDE8C0"/>
          </a:solidFill>
          <a:ln cap="flat" cmpd="sng" w="25400">
            <a:solidFill>
              <a:srgbClr val="7A480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29"/>
          <p:cNvSpPr/>
          <p:nvPr/>
        </p:nvSpPr>
        <p:spPr>
          <a:xfrm>
            <a:off x="9582912" y="3109489"/>
            <a:ext cx="2194560" cy="536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E2E00"/>
              </a:buClr>
              <a:buSzPts val="2300"/>
              <a:buFont typeface="Calibri"/>
              <a:buNone/>
            </a:pPr>
            <a:r>
              <a:rPr b="1" lang="en-US" sz="2300">
                <a:solidFill>
                  <a:srgbClr val="4E2E00"/>
                </a:solidFill>
                <a:latin typeface="Calibri"/>
                <a:ea typeface="Calibri"/>
                <a:cs typeface="Calibri"/>
                <a:sym typeface="Calibri"/>
              </a:rPr>
              <a:t>Database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9"/>
          <p:cNvSpPr/>
          <p:nvPr/>
        </p:nvSpPr>
        <p:spPr>
          <a:xfrm>
            <a:off x="9582912" y="3621553"/>
            <a:ext cx="21945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4800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7A4800"/>
                </a:solidFill>
                <a:latin typeface="Calibri"/>
                <a:ea typeface="Calibri"/>
                <a:cs typeface="Calibri"/>
                <a:sym typeface="Calibri"/>
              </a:rPr>
              <a:t>Students DB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29"/>
          <p:cNvSpPr/>
          <p:nvPr/>
        </p:nvSpPr>
        <p:spPr>
          <a:xfrm>
            <a:off x="9351264" y="4564579"/>
            <a:ext cx="2414016" cy="652272"/>
          </a:xfrm>
          <a:prstGeom prst="roundRect">
            <a:avLst>
              <a:gd fmla="val 7273" name="adj"/>
            </a:avLst>
          </a:prstGeom>
          <a:solidFill>
            <a:srgbClr val="FFFFFF"/>
          </a:solidFill>
          <a:ln cap="flat" cmpd="sng" w="9525">
            <a:solidFill>
              <a:srgbClr val="7A480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29"/>
          <p:cNvSpPr/>
          <p:nvPr/>
        </p:nvSpPr>
        <p:spPr>
          <a:xfrm>
            <a:off x="9448800" y="4613347"/>
            <a:ext cx="2316480" cy="2682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800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7A4800"/>
                </a:solidFill>
                <a:latin typeface="Calibri"/>
                <a:ea typeface="Calibri"/>
                <a:cs typeface="Calibri"/>
                <a:sym typeface="Calibri"/>
              </a:rPr>
              <a:t>Result set  (1 row)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29"/>
          <p:cNvSpPr/>
          <p:nvPr/>
        </p:nvSpPr>
        <p:spPr>
          <a:xfrm>
            <a:off x="9473184" y="4905955"/>
            <a:ext cx="6705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6966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6A6966"/>
                </a:solidFill>
                <a:latin typeface="Calibri"/>
                <a:ea typeface="Calibri"/>
                <a:cs typeface="Calibri"/>
                <a:sym typeface="Calibri"/>
              </a:rPr>
              <a:t>name: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29"/>
          <p:cNvSpPr/>
          <p:nvPr/>
        </p:nvSpPr>
        <p:spPr>
          <a:xfrm>
            <a:off x="10143744" y="4905955"/>
            <a:ext cx="15849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8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A1A18"/>
                </a:solidFill>
                <a:latin typeface="Calibri"/>
                <a:ea typeface="Calibri"/>
                <a:cs typeface="Calibri"/>
                <a:sym typeface="Calibri"/>
              </a:rPr>
              <a:t>Rafiul Hasan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29"/>
          <p:cNvSpPr/>
          <p:nvPr/>
        </p:nvSpPr>
        <p:spPr>
          <a:xfrm>
            <a:off x="9595104" y="5492496"/>
            <a:ext cx="6705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6966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6A6966"/>
                </a:solidFill>
                <a:latin typeface="Calibri"/>
                <a:ea typeface="Calibri"/>
                <a:cs typeface="Calibri"/>
                <a:sym typeface="Calibri"/>
              </a:rPr>
              <a:t>dept: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29"/>
          <p:cNvSpPr/>
          <p:nvPr/>
        </p:nvSpPr>
        <p:spPr>
          <a:xfrm>
            <a:off x="10265664" y="5492496"/>
            <a:ext cx="15849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8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A1A18"/>
                </a:solidFill>
                <a:latin typeface="Calibri"/>
                <a:ea typeface="Calibri"/>
                <a:cs typeface="Calibri"/>
                <a:sym typeface="Calibri"/>
              </a:rPr>
              <a:t>CSE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29"/>
          <p:cNvSpPr/>
          <p:nvPr/>
        </p:nvSpPr>
        <p:spPr>
          <a:xfrm>
            <a:off x="9595104" y="5736336"/>
            <a:ext cx="6705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6966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6A6966"/>
                </a:solidFill>
                <a:latin typeface="Calibri"/>
                <a:ea typeface="Calibri"/>
                <a:cs typeface="Calibri"/>
                <a:sym typeface="Calibri"/>
              </a:rPr>
              <a:t>cgpa: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29"/>
          <p:cNvSpPr/>
          <p:nvPr/>
        </p:nvSpPr>
        <p:spPr>
          <a:xfrm>
            <a:off x="10265664" y="5736336"/>
            <a:ext cx="15849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8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A1A18"/>
                </a:solidFill>
                <a:latin typeface="Calibri"/>
                <a:ea typeface="Calibri"/>
                <a:cs typeface="Calibri"/>
                <a:sym typeface="Calibri"/>
              </a:rPr>
              <a:t>3.72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29"/>
          <p:cNvSpPr/>
          <p:nvPr/>
        </p:nvSpPr>
        <p:spPr>
          <a:xfrm>
            <a:off x="9595104" y="5980176"/>
            <a:ext cx="6705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6966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6A6966"/>
                </a:solidFill>
                <a:latin typeface="Calibri"/>
                <a:ea typeface="Calibri"/>
                <a:cs typeface="Calibri"/>
                <a:sym typeface="Calibri"/>
              </a:rPr>
              <a:t>credits: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29"/>
          <p:cNvSpPr/>
          <p:nvPr/>
        </p:nvSpPr>
        <p:spPr>
          <a:xfrm>
            <a:off x="10265664" y="5980176"/>
            <a:ext cx="15849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8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A1A18"/>
                </a:solidFill>
                <a:latin typeface="Calibri"/>
                <a:ea typeface="Calibri"/>
                <a:cs typeface="Calibri"/>
                <a:sym typeface="Calibri"/>
              </a:rPr>
              <a:t>120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29"/>
          <p:cNvSpPr/>
          <p:nvPr/>
        </p:nvSpPr>
        <p:spPr>
          <a:xfrm>
            <a:off x="426720" y="5419344"/>
            <a:ext cx="11338560" cy="1170432"/>
          </a:xfrm>
          <a:prstGeom prst="roundRect">
            <a:avLst>
              <a:gd fmla="val 12500" name="adj"/>
            </a:avLst>
          </a:prstGeom>
          <a:solidFill>
            <a:srgbClr val="F8F7F4"/>
          </a:solidFill>
          <a:ln cap="flat" cmpd="sng" w="9525">
            <a:solidFill>
              <a:srgbClr val="C8C6BC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29"/>
          <p:cNvSpPr/>
          <p:nvPr/>
        </p:nvSpPr>
        <p:spPr>
          <a:xfrm>
            <a:off x="609600" y="5504688"/>
            <a:ext cx="17068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6966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6A6966"/>
                </a:solidFill>
                <a:latin typeface="Calibri"/>
                <a:ea typeface="Calibri"/>
                <a:cs typeface="Calibri"/>
                <a:sym typeface="Calibri"/>
              </a:rPr>
              <a:t>Network log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29"/>
          <p:cNvSpPr/>
          <p:nvPr/>
        </p:nvSpPr>
        <p:spPr>
          <a:xfrm>
            <a:off x="609600" y="5833872"/>
            <a:ext cx="11094720" cy="3169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5200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8A5200"/>
                </a:solidFill>
                <a:latin typeface="Calibri"/>
                <a:ea typeface="Calibri"/>
                <a:cs typeface="Calibri"/>
                <a:sym typeface="Calibri"/>
              </a:rPr>
              <a:t>⬡ DB  </a:t>
            </a:r>
            <a:r>
              <a:rPr lang="en-US" sz="1500">
                <a:solidFill>
                  <a:srgbClr val="3A3A38"/>
                </a:solidFill>
                <a:latin typeface="Calibri"/>
                <a:ea typeface="Calibri"/>
                <a:cs typeface="Calibri"/>
                <a:sym typeface="Calibri"/>
              </a:rPr>
              <a:t>Query executed in 4ms — 1 row returned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29"/>
          <p:cNvSpPr/>
          <p:nvPr/>
        </p:nvSpPr>
        <p:spPr>
          <a:xfrm>
            <a:off x="609600" y="6175248"/>
            <a:ext cx="11094720" cy="3169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5200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8A5200"/>
                </a:solidFill>
                <a:latin typeface="Calibri"/>
                <a:ea typeface="Calibri"/>
                <a:cs typeface="Calibri"/>
                <a:sym typeface="Calibri"/>
              </a:rPr>
              <a:t>⬡ DB  </a:t>
            </a:r>
            <a:r>
              <a:rPr lang="en-US" sz="1500">
                <a:solidFill>
                  <a:srgbClr val="3A3A38"/>
                </a:solidFill>
                <a:latin typeface="Calibri"/>
                <a:ea typeface="Calibri"/>
                <a:cs typeface="Calibri"/>
                <a:sym typeface="Calibri"/>
              </a:rPr>
              <a:t>{ name: "Rafiul Hasan", cgpa: 3.72, credits: 120, semester: "8th" }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3FC"/>
        </a:solidFill>
      </p:bgPr>
    </p:bg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30"/>
          <p:cNvSpPr/>
          <p:nvPr/>
        </p:nvSpPr>
        <p:spPr>
          <a:xfrm>
            <a:off x="0" y="0"/>
            <a:ext cx="12192000" cy="146304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30"/>
          <p:cNvSpPr/>
          <p:nvPr/>
        </p:nvSpPr>
        <p:spPr>
          <a:xfrm>
            <a:off x="426720" y="268224"/>
            <a:ext cx="1341120" cy="585216"/>
          </a:xfrm>
          <a:prstGeom prst="roundRect">
            <a:avLst>
              <a:gd fmla="val 25000" name="adj"/>
            </a:avLst>
          </a:prstGeom>
          <a:solidFill>
            <a:srgbClr val="EFF3FC">
              <a:alpha val="90196"/>
            </a:srgbClr>
          </a:solidFill>
          <a:ln cap="flat" cmpd="sng" w="9525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30"/>
          <p:cNvSpPr/>
          <p:nvPr/>
        </p:nvSpPr>
        <p:spPr>
          <a:xfrm>
            <a:off x="426720" y="268224"/>
            <a:ext cx="1341120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Step 6/6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30"/>
          <p:cNvSpPr/>
          <p:nvPr/>
        </p:nvSpPr>
        <p:spPr>
          <a:xfrm>
            <a:off x="1950720" y="121920"/>
            <a:ext cx="981456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Server delivers HTTP 200 response to browser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30"/>
          <p:cNvSpPr/>
          <p:nvPr/>
        </p:nvSpPr>
        <p:spPr>
          <a:xfrm>
            <a:off x="2621280" y="1889760"/>
            <a:ext cx="2377440" cy="341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A6966"/>
              </a:buClr>
              <a:buSzPts val="1500"/>
              <a:buFont typeface="Calibri"/>
              <a:buNone/>
            </a:pPr>
            <a:r>
              <a:rPr i="1" lang="en-US" sz="1500">
                <a:solidFill>
                  <a:srgbClr val="6A6966"/>
                </a:solidFill>
                <a:latin typeface="Calibri"/>
                <a:ea typeface="Calibri"/>
                <a:cs typeface="Calibri"/>
                <a:sym typeface="Calibri"/>
              </a:rPr>
              <a:t>Internet / HTTPS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30"/>
          <p:cNvSpPr/>
          <p:nvPr/>
        </p:nvSpPr>
        <p:spPr>
          <a:xfrm>
            <a:off x="7193280" y="1889760"/>
            <a:ext cx="2377440" cy="341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A6966"/>
              </a:buClr>
              <a:buSzPts val="1500"/>
              <a:buFont typeface="Calibri"/>
              <a:buNone/>
            </a:pPr>
            <a:r>
              <a:rPr i="1" lang="en-US" sz="1500">
                <a:solidFill>
                  <a:srgbClr val="6A6966"/>
                </a:solidFill>
                <a:latin typeface="Calibri"/>
                <a:ea typeface="Calibri"/>
                <a:cs typeface="Calibri"/>
                <a:sym typeface="Calibri"/>
              </a:rPr>
              <a:t>Internal network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30"/>
          <p:cNvSpPr/>
          <p:nvPr/>
        </p:nvSpPr>
        <p:spPr>
          <a:xfrm>
            <a:off x="5754624" y="1584960"/>
            <a:ext cx="170688" cy="170688"/>
          </a:xfrm>
          <a:prstGeom prst="ellipse">
            <a:avLst/>
          </a:prstGeom>
          <a:solidFill>
            <a:srgbClr val="0B6E48"/>
          </a:solidFill>
          <a:ln cap="flat" cmpd="sng" w="12700">
            <a:solidFill>
              <a:srgbClr val="0B6E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30"/>
          <p:cNvSpPr/>
          <p:nvPr/>
        </p:nvSpPr>
        <p:spPr>
          <a:xfrm>
            <a:off x="6096000" y="1584960"/>
            <a:ext cx="170688" cy="170688"/>
          </a:xfrm>
          <a:prstGeom prst="ellipse">
            <a:avLst/>
          </a:prstGeom>
          <a:solidFill>
            <a:srgbClr val="0B6E48"/>
          </a:solidFill>
          <a:ln cap="flat" cmpd="sng" w="12700">
            <a:solidFill>
              <a:srgbClr val="0B6E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30"/>
          <p:cNvSpPr/>
          <p:nvPr/>
        </p:nvSpPr>
        <p:spPr>
          <a:xfrm>
            <a:off x="6437376" y="1584960"/>
            <a:ext cx="170688" cy="170688"/>
          </a:xfrm>
          <a:prstGeom prst="ellipse">
            <a:avLst/>
          </a:prstGeom>
          <a:solidFill>
            <a:srgbClr val="0B6E48"/>
          </a:solidFill>
          <a:ln cap="flat" cmpd="sng" w="12700">
            <a:solidFill>
              <a:srgbClr val="0B6E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30"/>
          <p:cNvSpPr/>
          <p:nvPr/>
        </p:nvSpPr>
        <p:spPr>
          <a:xfrm>
            <a:off x="6778752" y="1584960"/>
            <a:ext cx="170688" cy="170688"/>
          </a:xfrm>
          <a:prstGeom prst="ellipse">
            <a:avLst/>
          </a:prstGeom>
          <a:solidFill>
            <a:srgbClr val="0B6E48"/>
          </a:solidFill>
          <a:ln cap="flat" cmpd="sng" w="12700">
            <a:solidFill>
              <a:srgbClr val="0B6E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30"/>
          <p:cNvSpPr/>
          <p:nvPr/>
        </p:nvSpPr>
        <p:spPr>
          <a:xfrm>
            <a:off x="7120128" y="1584960"/>
            <a:ext cx="170688" cy="170688"/>
          </a:xfrm>
          <a:prstGeom prst="ellipse">
            <a:avLst/>
          </a:prstGeom>
          <a:solidFill>
            <a:srgbClr val="0B6E48"/>
          </a:solidFill>
          <a:ln cap="flat" cmpd="sng" w="12700">
            <a:solidFill>
              <a:srgbClr val="0B6E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30"/>
          <p:cNvSpPr/>
          <p:nvPr/>
        </p:nvSpPr>
        <p:spPr>
          <a:xfrm>
            <a:off x="7461504" y="1584960"/>
            <a:ext cx="170688" cy="170688"/>
          </a:xfrm>
          <a:prstGeom prst="ellipse">
            <a:avLst/>
          </a:prstGeom>
          <a:solidFill>
            <a:srgbClr val="185FA5"/>
          </a:solidFill>
          <a:ln cap="flat" cmpd="sng" w="12700">
            <a:solidFill>
              <a:srgbClr val="185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44" name="Google Shape;344;p30"/>
          <p:cNvCxnSpPr/>
          <p:nvPr/>
        </p:nvCxnSpPr>
        <p:spPr>
          <a:xfrm>
            <a:off x="7193280" y="3048000"/>
            <a:ext cx="2377440" cy="0"/>
          </a:xfrm>
          <a:prstGeom prst="straightConnector1">
            <a:avLst/>
          </a:prstGeom>
          <a:noFill/>
          <a:ln cap="flat" cmpd="sng" w="9525">
            <a:solidFill>
              <a:srgbClr val="C8C6BC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45" name="Google Shape;345;p30"/>
          <p:cNvCxnSpPr/>
          <p:nvPr/>
        </p:nvCxnSpPr>
        <p:spPr>
          <a:xfrm>
            <a:off x="2621280" y="3048000"/>
            <a:ext cx="2377440" cy="12192"/>
          </a:xfrm>
          <a:prstGeom prst="straightConnector1">
            <a:avLst/>
          </a:prstGeom>
          <a:noFill/>
          <a:ln cap="flat" cmpd="sng" w="27925">
            <a:solidFill>
              <a:srgbClr val="0B6E4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46" name="Google Shape;346;p30"/>
          <p:cNvSpPr/>
          <p:nvPr/>
        </p:nvSpPr>
        <p:spPr>
          <a:xfrm>
            <a:off x="2225040" y="2243328"/>
            <a:ext cx="3169920" cy="438912"/>
          </a:xfrm>
          <a:prstGeom prst="roundRect">
            <a:avLst>
              <a:gd fmla="val 50000" name="adj"/>
            </a:avLst>
          </a:prstGeom>
          <a:solidFill>
            <a:srgbClr val="0B6E48"/>
          </a:solidFill>
          <a:ln cap="flat" cmpd="sng" w="12700">
            <a:solidFill>
              <a:srgbClr val="0B6E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30"/>
          <p:cNvSpPr/>
          <p:nvPr/>
        </p:nvSpPr>
        <p:spPr>
          <a:xfrm>
            <a:off x="2298192" y="2243328"/>
            <a:ext cx="3023616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200 OK  { student record }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30"/>
          <p:cNvSpPr/>
          <p:nvPr/>
        </p:nvSpPr>
        <p:spPr>
          <a:xfrm>
            <a:off x="3724656" y="2962656"/>
            <a:ext cx="170688" cy="170688"/>
          </a:xfrm>
          <a:prstGeom prst="ellipse">
            <a:avLst/>
          </a:prstGeom>
          <a:solidFill>
            <a:srgbClr val="0B6E48"/>
          </a:solidFill>
          <a:ln cap="flat" cmpd="sng" w="12700">
            <a:solidFill>
              <a:srgbClr val="0B6E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30"/>
          <p:cNvSpPr/>
          <p:nvPr/>
        </p:nvSpPr>
        <p:spPr>
          <a:xfrm>
            <a:off x="426720" y="2316480"/>
            <a:ext cx="2194560" cy="1463040"/>
          </a:xfrm>
          <a:prstGeom prst="roundRect">
            <a:avLst>
              <a:gd fmla="val 11667" name="adj"/>
            </a:avLst>
          </a:prstGeom>
          <a:solidFill>
            <a:srgbClr val="D8F2E8"/>
          </a:solidFill>
          <a:ln cap="flat" cmpd="sng" w="25400">
            <a:solidFill>
              <a:srgbClr val="0B6047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30"/>
          <p:cNvSpPr/>
          <p:nvPr/>
        </p:nvSpPr>
        <p:spPr>
          <a:xfrm>
            <a:off x="426720" y="2535936"/>
            <a:ext cx="2194560" cy="536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63D2C"/>
              </a:buClr>
              <a:buSzPts val="2300"/>
              <a:buFont typeface="Calibri"/>
              <a:buNone/>
            </a:pPr>
            <a:r>
              <a:rPr b="1" lang="en-US" sz="2300">
                <a:solidFill>
                  <a:srgbClr val="063D2C"/>
                </a:solidFill>
                <a:latin typeface="Calibri"/>
                <a:ea typeface="Calibri"/>
                <a:cs typeface="Calibri"/>
                <a:sym typeface="Calibri"/>
              </a:rPr>
              <a:t>Client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30"/>
          <p:cNvSpPr/>
          <p:nvPr/>
        </p:nvSpPr>
        <p:spPr>
          <a:xfrm>
            <a:off x="426720" y="3048000"/>
            <a:ext cx="21945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6047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0B6047"/>
                </a:solidFill>
                <a:latin typeface="Calibri"/>
                <a:ea typeface="Calibri"/>
                <a:cs typeface="Calibri"/>
                <a:sym typeface="Calibri"/>
              </a:rPr>
              <a:t>Student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30"/>
          <p:cNvSpPr/>
          <p:nvPr/>
        </p:nvSpPr>
        <p:spPr>
          <a:xfrm>
            <a:off x="4998720" y="2072640"/>
            <a:ext cx="2194560" cy="1950720"/>
          </a:xfrm>
          <a:prstGeom prst="roundRect">
            <a:avLst>
              <a:gd fmla="val 8750" name="adj"/>
            </a:avLst>
          </a:prstGeom>
          <a:solidFill>
            <a:srgbClr val="E8E6FE"/>
          </a:solidFill>
          <a:ln cap="flat" cmpd="sng" w="19050">
            <a:solidFill>
              <a:srgbClr val="4A42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30"/>
          <p:cNvSpPr/>
          <p:nvPr/>
        </p:nvSpPr>
        <p:spPr>
          <a:xfrm>
            <a:off x="4998720" y="2292096"/>
            <a:ext cx="2194560" cy="536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A2468"/>
              </a:buClr>
              <a:buSzPts val="2300"/>
              <a:buFont typeface="Calibri"/>
              <a:buNone/>
            </a:pPr>
            <a:r>
              <a:rPr b="1" lang="en-US" sz="2300">
                <a:solidFill>
                  <a:srgbClr val="2A2468"/>
                </a:solidFill>
                <a:latin typeface="Calibri"/>
                <a:ea typeface="Calibri"/>
                <a:cs typeface="Calibri"/>
                <a:sym typeface="Calibri"/>
              </a:rPr>
              <a:t>Server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30"/>
          <p:cNvSpPr/>
          <p:nvPr/>
        </p:nvSpPr>
        <p:spPr>
          <a:xfrm>
            <a:off x="4998720" y="2804160"/>
            <a:ext cx="21945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42B0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4A42B0"/>
                </a:solidFill>
                <a:latin typeface="Calibri"/>
                <a:ea typeface="Calibri"/>
                <a:cs typeface="Calibri"/>
                <a:sym typeface="Calibri"/>
              </a:rPr>
              <a:t>BRACU API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30"/>
          <p:cNvSpPr/>
          <p:nvPr/>
        </p:nvSpPr>
        <p:spPr>
          <a:xfrm>
            <a:off x="6803136" y="2145792"/>
            <a:ext cx="316992" cy="3169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42B0"/>
              </a:buClr>
              <a:buSzPts val="1700"/>
              <a:buFont typeface="Calibri"/>
              <a:buNone/>
            </a:pPr>
            <a:r>
              <a:rPr b="1" lang="en-US" sz="1700">
                <a:solidFill>
                  <a:srgbClr val="4A42B0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30"/>
          <p:cNvSpPr/>
          <p:nvPr/>
        </p:nvSpPr>
        <p:spPr>
          <a:xfrm>
            <a:off x="9570720" y="2316480"/>
            <a:ext cx="2194560" cy="1463040"/>
          </a:xfrm>
          <a:prstGeom prst="roundRect">
            <a:avLst>
              <a:gd fmla="val 11667" name="adj"/>
            </a:avLst>
          </a:prstGeom>
          <a:solidFill>
            <a:srgbClr val="FDE8C0"/>
          </a:solidFill>
          <a:ln cap="flat" cmpd="sng" w="19050">
            <a:solidFill>
              <a:srgbClr val="7A48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30"/>
          <p:cNvSpPr/>
          <p:nvPr/>
        </p:nvSpPr>
        <p:spPr>
          <a:xfrm>
            <a:off x="9570720" y="2535936"/>
            <a:ext cx="2194560" cy="536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E2E00"/>
              </a:buClr>
              <a:buSzPts val="2300"/>
              <a:buFont typeface="Calibri"/>
              <a:buNone/>
            </a:pPr>
            <a:r>
              <a:rPr b="1" lang="en-US" sz="2300">
                <a:solidFill>
                  <a:srgbClr val="4E2E00"/>
                </a:solidFill>
                <a:latin typeface="Calibri"/>
                <a:ea typeface="Calibri"/>
                <a:cs typeface="Calibri"/>
                <a:sym typeface="Calibri"/>
              </a:rPr>
              <a:t>Database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30"/>
          <p:cNvSpPr/>
          <p:nvPr/>
        </p:nvSpPr>
        <p:spPr>
          <a:xfrm>
            <a:off x="9570720" y="3048000"/>
            <a:ext cx="21945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4800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7A4800"/>
                </a:solidFill>
                <a:latin typeface="Calibri"/>
                <a:ea typeface="Calibri"/>
                <a:cs typeface="Calibri"/>
                <a:sym typeface="Calibri"/>
              </a:rPr>
              <a:t>Students DB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30"/>
          <p:cNvSpPr/>
          <p:nvPr/>
        </p:nvSpPr>
        <p:spPr>
          <a:xfrm>
            <a:off x="11375136" y="2389632"/>
            <a:ext cx="316992" cy="3169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4800"/>
              </a:buClr>
              <a:buSzPts val="1700"/>
              <a:buFont typeface="Calibri"/>
              <a:buNone/>
            </a:pPr>
            <a:r>
              <a:rPr b="1" lang="en-US" sz="1700">
                <a:solidFill>
                  <a:srgbClr val="7A4800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30"/>
          <p:cNvSpPr/>
          <p:nvPr/>
        </p:nvSpPr>
        <p:spPr>
          <a:xfrm>
            <a:off x="426720" y="4389120"/>
            <a:ext cx="11338560" cy="1170432"/>
          </a:xfrm>
          <a:prstGeom prst="roundRect">
            <a:avLst>
              <a:gd fmla="val 12500" name="adj"/>
            </a:avLst>
          </a:prstGeom>
          <a:solidFill>
            <a:srgbClr val="F8F7F4"/>
          </a:solidFill>
          <a:ln cap="flat" cmpd="sng" w="9525">
            <a:solidFill>
              <a:srgbClr val="C8C6BC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30"/>
          <p:cNvSpPr/>
          <p:nvPr/>
        </p:nvSpPr>
        <p:spPr>
          <a:xfrm>
            <a:off x="609600" y="4474464"/>
            <a:ext cx="17068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6966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6A6966"/>
                </a:solidFill>
                <a:latin typeface="Calibri"/>
                <a:ea typeface="Calibri"/>
                <a:cs typeface="Calibri"/>
                <a:sym typeface="Calibri"/>
              </a:rPr>
              <a:t>Network log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30"/>
          <p:cNvSpPr/>
          <p:nvPr/>
        </p:nvSpPr>
        <p:spPr>
          <a:xfrm>
            <a:off x="609600" y="4803648"/>
            <a:ext cx="11094720" cy="3169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2B0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4A42B0"/>
                </a:solidFill>
                <a:latin typeface="Calibri"/>
                <a:ea typeface="Calibri"/>
                <a:cs typeface="Calibri"/>
                <a:sym typeface="Calibri"/>
              </a:rPr>
              <a:t>⚙ SERVER  </a:t>
            </a:r>
            <a:r>
              <a:rPr lang="en-US" sz="1500">
                <a:solidFill>
                  <a:srgbClr val="3A3A38"/>
                </a:solidFill>
                <a:latin typeface="Calibri"/>
                <a:ea typeface="Calibri"/>
                <a:cs typeface="Calibri"/>
                <a:sym typeface="Calibri"/>
              </a:rPr>
              <a:t>Serialising JSON — filtering sensitive fields, setting cache headers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30"/>
          <p:cNvSpPr/>
          <p:nvPr/>
        </p:nvSpPr>
        <p:spPr>
          <a:xfrm>
            <a:off x="609600" y="5145024"/>
            <a:ext cx="11094720" cy="3169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6E48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0B6E48"/>
                </a:solidFill>
                <a:latin typeface="Calibri"/>
                <a:ea typeface="Calibri"/>
                <a:cs typeface="Calibri"/>
                <a:sym typeface="Calibri"/>
              </a:rPr>
              <a:t>✓ RESPONSE  </a:t>
            </a:r>
            <a:r>
              <a:rPr lang="en-US" sz="1500">
                <a:solidFill>
                  <a:srgbClr val="3A3A38"/>
                </a:solidFill>
                <a:latin typeface="Calibri"/>
                <a:ea typeface="Calibri"/>
                <a:cs typeface="Calibri"/>
                <a:sym typeface="Calibri"/>
              </a:rPr>
              <a:t>200 OK — Content-Type: application/json — payload: 842 bytes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3FC"/>
        </a:solidFill>
      </p:bgPr>
    </p:bg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31"/>
          <p:cNvSpPr/>
          <p:nvPr/>
        </p:nvSpPr>
        <p:spPr>
          <a:xfrm>
            <a:off x="0" y="0"/>
            <a:ext cx="12192000" cy="146304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31"/>
          <p:cNvSpPr/>
          <p:nvPr/>
        </p:nvSpPr>
        <p:spPr>
          <a:xfrm>
            <a:off x="426720" y="121920"/>
            <a:ext cx="1133856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Response rendered — student record displayed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31"/>
          <p:cNvSpPr/>
          <p:nvPr/>
        </p:nvSpPr>
        <p:spPr>
          <a:xfrm>
            <a:off x="2621280" y="1889760"/>
            <a:ext cx="2377440" cy="341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A6966"/>
              </a:buClr>
              <a:buSzPts val="1500"/>
              <a:buFont typeface="Calibri"/>
              <a:buNone/>
            </a:pPr>
            <a:r>
              <a:rPr i="1" lang="en-US" sz="1500">
                <a:solidFill>
                  <a:srgbClr val="6A6966"/>
                </a:solidFill>
                <a:latin typeface="Calibri"/>
                <a:ea typeface="Calibri"/>
                <a:cs typeface="Calibri"/>
                <a:sym typeface="Calibri"/>
              </a:rPr>
              <a:t>Internet / HTTPS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31"/>
          <p:cNvSpPr/>
          <p:nvPr/>
        </p:nvSpPr>
        <p:spPr>
          <a:xfrm>
            <a:off x="7193280" y="1889760"/>
            <a:ext cx="2377440" cy="341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A6966"/>
              </a:buClr>
              <a:buSzPts val="1500"/>
              <a:buFont typeface="Calibri"/>
              <a:buNone/>
            </a:pPr>
            <a:r>
              <a:rPr i="1" lang="en-US" sz="1500">
                <a:solidFill>
                  <a:srgbClr val="6A6966"/>
                </a:solidFill>
                <a:latin typeface="Calibri"/>
                <a:ea typeface="Calibri"/>
                <a:cs typeface="Calibri"/>
                <a:sym typeface="Calibri"/>
              </a:rPr>
              <a:t>Internal network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73" name="Google Shape;373;p31"/>
          <p:cNvCxnSpPr/>
          <p:nvPr/>
        </p:nvCxnSpPr>
        <p:spPr>
          <a:xfrm>
            <a:off x="2621280" y="3048000"/>
            <a:ext cx="2377440" cy="0"/>
          </a:xfrm>
          <a:prstGeom prst="straightConnector1">
            <a:avLst/>
          </a:prstGeom>
          <a:noFill/>
          <a:ln cap="flat" cmpd="sng" w="9525">
            <a:solidFill>
              <a:srgbClr val="C8C6BC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74" name="Google Shape;374;p31"/>
          <p:cNvCxnSpPr/>
          <p:nvPr/>
        </p:nvCxnSpPr>
        <p:spPr>
          <a:xfrm>
            <a:off x="7193280" y="3048000"/>
            <a:ext cx="2377440" cy="0"/>
          </a:xfrm>
          <a:prstGeom prst="straightConnector1">
            <a:avLst/>
          </a:prstGeom>
          <a:noFill/>
          <a:ln cap="flat" cmpd="sng" w="9525">
            <a:solidFill>
              <a:srgbClr val="C8C6BC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375" name="Google Shape;375;p31"/>
          <p:cNvSpPr/>
          <p:nvPr/>
        </p:nvSpPr>
        <p:spPr>
          <a:xfrm>
            <a:off x="426720" y="2316480"/>
            <a:ext cx="2194560" cy="1463040"/>
          </a:xfrm>
          <a:prstGeom prst="roundRect">
            <a:avLst>
              <a:gd fmla="val 11667" name="adj"/>
            </a:avLst>
          </a:prstGeom>
          <a:solidFill>
            <a:srgbClr val="D8F2E8"/>
          </a:solidFill>
          <a:ln cap="flat" cmpd="sng" w="19050">
            <a:solidFill>
              <a:srgbClr val="0B60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31"/>
          <p:cNvSpPr/>
          <p:nvPr/>
        </p:nvSpPr>
        <p:spPr>
          <a:xfrm>
            <a:off x="426720" y="2535936"/>
            <a:ext cx="2194560" cy="536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63D2C"/>
              </a:buClr>
              <a:buSzPts val="2300"/>
              <a:buFont typeface="Calibri"/>
              <a:buNone/>
            </a:pPr>
            <a:r>
              <a:rPr b="1" lang="en-US" sz="2300">
                <a:solidFill>
                  <a:srgbClr val="063D2C"/>
                </a:solidFill>
                <a:latin typeface="Calibri"/>
                <a:ea typeface="Calibri"/>
                <a:cs typeface="Calibri"/>
                <a:sym typeface="Calibri"/>
              </a:rPr>
              <a:t>Client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31"/>
          <p:cNvSpPr/>
          <p:nvPr/>
        </p:nvSpPr>
        <p:spPr>
          <a:xfrm>
            <a:off x="426720" y="3048000"/>
            <a:ext cx="21945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6047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0B6047"/>
                </a:solidFill>
                <a:latin typeface="Calibri"/>
                <a:ea typeface="Calibri"/>
                <a:cs typeface="Calibri"/>
                <a:sym typeface="Calibri"/>
              </a:rPr>
              <a:t>Student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31"/>
          <p:cNvSpPr/>
          <p:nvPr/>
        </p:nvSpPr>
        <p:spPr>
          <a:xfrm>
            <a:off x="2231136" y="2389632"/>
            <a:ext cx="316992" cy="3169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6047"/>
              </a:buClr>
              <a:buSzPts val="1700"/>
              <a:buFont typeface="Calibri"/>
              <a:buNone/>
            </a:pPr>
            <a:r>
              <a:rPr b="1" lang="en-US" sz="1700">
                <a:solidFill>
                  <a:srgbClr val="0B6047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31"/>
          <p:cNvSpPr/>
          <p:nvPr/>
        </p:nvSpPr>
        <p:spPr>
          <a:xfrm>
            <a:off x="4998720" y="2072640"/>
            <a:ext cx="2194560" cy="1950720"/>
          </a:xfrm>
          <a:prstGeom prst="roundRect">
            <a:avLst>
              <a:gd fmla="val 8750" name="adj"/>
            </a:avLst>
          </a:prstGeom>
          <a:solidFill>
            <a:srgbClr val="E8E6FE"/>
          </a:solidFill>
          <a:ln cap="flat" cmpd="sng" w="19050">
            <a:solidFill>
              <a:srgbClr val="4A42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31"/>
          <p:cNvSpPr/>
          <p:nvPr/>
        </p:nvSpPr>
        <p:spPr>
          <a:xfrm>
            <a:off x="4998720" y="2292096"/>
            <a:ext cx="2194560" cy="536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A2468"/>
              </a:buClr>
              <a:buSzPts val="2300"/>
              <a:buFont typeface="Calibri"/>
              <a:buNone/>
            </a:pPr>
            <a:r>
              <a:rPr b="1" lang="en-US" sz="2300">
                <a:solidFill>
                  <a:srgbClr val="2A2468"/>
                </a:solidFill>
                <a:latin typeface="Calibri"/>
                <a:ea typeface="Calibri"/>
                <a:cs typeface="Calibri"/>
                <a:sym typeface="Calibri"/>
              </a:rPr>
              <a:t>Server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31"/>
          <p:cNvSpPr/>
          <p:nvPr/>
        </p:nvSpPr>
        <p:spPr>
          <a:xfrm>
            <a:off x="4998720" y="2804160"/>
            <a:ext cx="21945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42B0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4A42B0"/>
                </a:solidFill>
                <a:latin typeface="Calibri"/>
                <a:ea typeface="Calibri"/>
                <a:cs typeface="Calibri"/>
                <a:sym typeface="Calibri"/>
              </a:rPr>
              <a:t>BRACU API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31"/>
          <p:cNvSpPr/>
          <p:nvPr/>
        </p:nvSpPr>
        <p:spPr>
          <a:xfrm>
            <a:off x="6803136" y="2145792"/>
            <a:ext cx="316992" cy="3169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42B0"/>
              </a:buClr>
              <a:buSzPts val="1700"/>
              <a:buFont typeface="Calibri"/>
              <a:buNone/>
            </a:pPr>
            <a:r>
              <a:rPr b="1" lang="en-US" sz="1700">
                <a:solidFill>
                  <a:srgbClr val="4A42B0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31"/>
          <p:cNvSpPr/>
          <p:nvPr/>
        </p:nvSpPr>
        <p:spPr>
          <a:xfrm>
            <a:off x="9570720" y="2316480"/>
            <a:ext cx="2194560" cy="1463040"/>
          </a:xfrm>
          <a:prstGeom prst="roundRect">
            <a:avLst>
              <a:gd fmla="val 11667" name="adj"/>
            </a:avLst>
          </a:prstGeom>
          <a:solidFill>
            <a:srgbClr val="FDE8C0"/>
          </a:solidFill>
          <a:ln cap="flat" cmpd="sng" w="19050">
            <a:solidFill>
              <a:srgbClr val="7A48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31"/>
          <p:cNvSpPr/>
          <p:nvPr/>
        </p:nvSpPr>
        <p:spPr>
          <a:xfrm>
            <a:off x="9570720" y="2535936"/>
            <a:ext cx="2194560" cy="536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E2E00"/>
              </a:buClr>
              <a:buSzPts val="2300"/>
              <a:buFont typeface="Calibri"/>
              <a:buNone/>
            </a:pPr>
            <a:r>
              <a:rPr b="1" lang="en-US" sz="2300">
                <a:solidFill>
                  <a:srgbClr val="4E2E00"/>
                </a:solidFill>
                <a:latin typeface="Calibri"/>
                <a:ea typeface="Calibri"/>
                <a:cs typeface="Calibri"/>
                <a:sym typeface="Calibri"/>
              </a:rPr>
              <a:t>Database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31"/>
          <p:cNvSpPr/>
          <p:nvPr/>
        </p:nvSpPr>
        <p:spPr>
          <a:xfrm>
            <a:off x="9570720" y="3048000"/>
            <a:ext cx="21945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4800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7A4800"/>
                </a:solidFill>
                <a:latin typeface="Calibri"/>
                <a:ea typeface="Calibri"/>
                <a:cs typeface="Calibri"/>
                <a:sym typeface="Calibri"/>
              </a:rPr>
              <a:t>Students DB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31"/>
          <p:cNvSpPr/>
          <p:nvPr/>
        </p:nvSpPr>
        <p:spPr>
          <a:xfrm>
            <a:off x="11375136" y="2389632"/>
            <a:ext cx="316992" cy="3169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4800"/>
              </a:buClr>
              <a:buSzPts val="1700"/>
              <a:buFont typeface="Calibri"/>
              <a:buNone/>
            </a:pPr>
            <a:r>
              <a:rPr b="1" lang="en-US" sz="1700">
                <a:solidFill>
                  <a:srgbClr val="7A4800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31"/>
          <p:cNvSpPr/>
          <p:nvPr/>
        </p:nvSpPr>
        <p:spPr>
          <a:xfrm>
            <a:off x="4693920" y="1560576"/>
            <a:ext cx="7071360" cy="3535680"/>
          </a:xfrm>
          <a:prstGeom prst="roundRect">
            <a:avLst>
              <a:gd fmla="val 5172" name="adj"/>
            </a:avLst>
          </a:prstGeom>
          <a:solidFill>
            <a:srgbClr val="FFFFFF"/>
          </a:solidFill>
          <a:ln cap="flat" cmpd="sng" w="19050">
            <a:solidFill>
              <a:srgbClr val="1D9E75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31"/>
          <p:cNvSpPr/>
          <p:nvPr/>
        </p:nvSpPr>
        <p:spPr>
          <a:xfrm>
            <a:off x="4693920" y="1560576"/>
            <a:ext cx="7071360" cy="1097280"/>
          </a:xfrm>
          <a:prstGeom prst="roundRect">
            <a:avLst>
              <a:gd fmla="val 16667" name="adj"/>
            </a:avLst>
          </a:prstGeom>
          <a:solidFill>
            <a:srgbClr val="1D9E75"/>
          </a:solidFill>
          <a:ln cap="flat" cmpd="sng" w="12700">
            <a:solidFill>
              <a:srgbClr val="1D9E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31"/>
          <p:cNvSpPr/>
          <p:nvPr/>
        </p:nvSpPr>
        <p:spPr>
          <a:xfrm>
            <a:off x="4693920" y="2292096"/>
            <a:ext cx="7071360" cy="365760"/>
          </a:xfrm>
          <a:prstGeom prst="rect">
            <a:avLst/>
          </a:prstGeom>
          <a:solidFill>
            <a:srgbClr val="1D9E75"/>
          </a:solidFill>
          <a:ln cap="flat" cmpd="sng" w="12700">
            <a:solidFill>
              <a:srgbClr val="1D9E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31"/>
          <p:cNvSpPr/>
          <p:nvPr/>
        </p:nvSpPr>
        <p:spPr>
          <a:xfrm>
            <a:off x="4913376" y="1755648"/>
            <a:ext cx="731520" cy="731520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31"/>
          <p:cNvSpPr/>
          <p:nvPr/>
        </p:nvSpPr>
        <p:spPr>
          <a:xfrm>
            <a:off x="4913376" y="1755648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6E48"/>
              </a:buClr>
              <a:buSzPts val="2100"/>
              <a:buFont typeface="Calibri"/>
              <a:buNone/>
            </a:pPr>
            <a:r>
              <a:rPr b="1" lang="en-US" sz="2100">
                <a:solidFill>
                  <a:srgbClr val="0B6E48"/>
                </a:solidFill>
                <a:latin typeface="Calibri"/>
                <a:ea typeface="Calibri"/>
                <a:cs typeface="Calibri"/>
                <a:sym typeface="Calibri"/>
              </a:rPr>
              <a:t>RH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31"/>
          <p:cNvSpPr/>
          <p:nvPr/>
        </p:nvSpPr>
        <p:spPr>
          <a:xfrm>
            <a:off x="5791200" y="1755648"/>
            <a:ext cx="5486400" cy="4632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lang="en-US"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Rafiul Hasan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31"/>
          <p:cNvSpPr/>
          <p:nvPr/>
        </p:nvSpPr>
        <p:spPr>
          <a:xfrm>
            <a:off x="5791200" y="2218944"/>
            <a:ext cx="5486400" cy="341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F0E0"/>
              </a:buClr>
              <a:buSzPts val="1500"/>
              <a:buFont typeface="Calibri"/>
              <a:buNone/>
            </a:pPr>
            <a:r>
              <a:rPr lang="en-US" sz="1500">
                <a:solidFill>
                  <a:srgbClr val="C8F0E0"/>
                </a:solidFill>
                <a:latin typeface="Calibri"/>
                <a:ea typeface="Calibri"/>
                <a:cs typeface="Calibri"/>
                <a:sym typeface="Calibri"/>
              </a:rPr>
              <a:t>2021-CSE-047  ·  Computer Science &amp; Engineering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31"/>
          <p:cNvSpPr/>
          <p:nvPr/>
        </p:nvSpPr>
        <p:spPr>
          <a:xfrm>
            <a:off x="4913376" y="2755392"/>
            <a:ext cx="3023616" cy="829056"/>
          </a:xfrm>
          <a:prstGeom prst="roundRect">
            <a:avLst>
              <a:gd fmla="val 13235" name="adj"/>
            </a:avLst>
          </a:prstGeom>
          <a:solidFill>
            <a:srgbClr val="F5F7FA"/>
          </a:solidFill>
          <a:ln cap="flat" cmpd="sng" w="9525">
            <a:solidFill>
              <a:srgbClr val="C8C6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31"/>
          <p:cNvSpPr/>
          <p:nvPr/>
        </p:nvSpPr>
        <p:spPr>
          <a:xfrm>
            <a:off x="5035296" y="2828544"/>
            <a:ext cx="2779776" cy="243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6966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6A6966"/>
                </a:solidFill>
                <a:latin typeface="Calibri"/>
                <a:ea typeface="Calibri"/>
                <a:cs typeface="Calibri"/>
                <a:sym typeface="Calibri"/>
              </a:rPr>
              <a:t>CGPA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31"/>
          <p:cNvSpPr/>
          <p:nvPr/>
        </p:nvSpPr>
        <p:spPr>
          <a:xfrm>
            <a:off x="5035296" y="3121152"/>
            <a:ext cx="2779776" cy="341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6E48"/>
              </a:buClr>
              <a:buSzPts val="1900"/>
              <a:buFont typeface="Calibri"/>
              <a:buNone/>
            </a:pPr>
            <a:r>
              <a:rPr b="1" lang="en-US" sz="1900">
                <a:solidFill>
                  <a:srgbClr val="0B6E48"/>
                </a:solidFill>
                <a:latin typeface="Calibri"/>
                <a:ea typeface="Calibri"/>
                <a:cs typeface="Calibri"/>
                <a:sym typeface="Calibri"/>
              </a:rPr>
              <a:t>3.72 / 4.00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31"/>
          <p:cNvSpPr/>
          <p:nvPr/>
        </p:nvSpPr>
        <p:spPr>
          <a:xfrm>
            <a:off x="8229600" y="2755392"/>
            <a:ext cx="3023616" cy="829056"/>
          </a:xfrm>
          <a:prstGeom prst="roundRect">
            <a:avLst>
              <a:gd fmla="val 13235" name="adj"/>
            </a:avLst>
          </a:prstGeom>
          <a:solidFill>
            <a:srgbClr val="F5F7FA"/>
          </a:solidFill>
          <a:ln cap="flat" cmpd="sng" w="9525">
            <a:solidFill>
              <a:srgbClr val="C8C6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31"/>
          <p:cNvSpPr/>
          <p:nvPr/>
        </p:nvSpPr>
        <p:spPr>
          <a:xfrm>
            <a:off x="8351520" y="2828544"/>
            <a:ext cx="2779776" cy="243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6966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6A6966"/>
                </a:solidFill>
                <a:latin typeface="Calibri"/>
                <a:ea typeface="Calibri"/>
                <a:cs typeface="Calibri"/>
                <a:sym typeface="Calibri"/>
              </a:rPr>
              <a:t>CREDITS EARNED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31"/>
          <p:cNvSpPr/>
          <p:nvPr/>
        </p:nvSpPr>
        <p:spPr>
          <a:xfrm>
            <a:off x="8351520" y="3121152"/>
            <a:ext cx="2779776" cy="341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8"/>
              </a:buClr>
              <a:buSzPts val="1900"/>
              <a:buFont typeface="Calibri"/>
              <a:buNone/>
            </a:pPr>
            <a:r>
              <a:rPr b="1" lang="en-US" sz="1900">
                <a:solidFill>
                  <a:srgbClr val="1A1A18"/>
                </a:solidFill>
                <a:latin typeface="Calibri"/>
                <a:ea typeface="Calibri"/>
                <a:cs typeface="Calibri"/>
                <a:sym typeface="Calibri"/>
              </a:rPr>
              <a:t>120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31"/>
          <p:cNvSpPr/>
          <p:nvPr/>
        </p:nvSpPr>
        <p:spPr>
          <a:xfrm>
            <a:off x="4913376" y="3755136"/>
            <a:ext cx="3023616" cy="829056"/>
          </a:xfrm>
          <a:prstGeom prst="roundRect">
            <a:avLst>
              <a:gd fmla="val 13235" name="adj"/>
            </a:avLst>
          </a:prstGeom>
          <a:solidFill>
            <a:srgbClr val="F5F7FA"/>
          </a:solidFill>
          <a:ln cap="flat" cmpd="sng" w="9525">
            <a:solidFill>
              <a:srgbClr val="C8C6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31"/>
          <p:cNvSpPr/>
          <p:nvPr/>
        </p:nvSpPr>
        <p:spPr>
          <a:xfrm>
            <a:off x="5035296" y="3828288"/>
            <a:ext cx="2779776" cy="243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6966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6A6966"/>
                </a:solidFill>
                <a:latin typeface="Calibri"/>
                <a:ea typeface="Calibri"/>
                <a:cs typeface="Calibri"/>
                <a:sym typeface="Calibri"/>
              </a:rPr>
              <a:t>CURRENT SEMESTER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31"/>
          <p:cNvSpPr/>
          <p:nvPr/>
        </p:nvSpPr>
        <p:spPr>
          <a:xfrm>
            <a:off x="5035296" y="4120896"/>
            <a:ext cx="2779776" cy="341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8"/>
              </a:buClr>
              <a:buSzPts val="1900"/>
              <a:buFont typeface="Calibri"/>
              <a:buNone/>
            </a:pPr>
            <a:r>
              <a:rPr b="1" lang="en-US" sz="1900">
                <a:solidFill>
                  <a:srgbClr val="1A1A18"/>
                </a:solidFill>
                <a:latin typeface="Calibri"/>
                <a:ea typeface="Calibri"/>
                <a:cs typeface="Calibri"/>
                <a:sym typeface="Calibri"/>
              </a:rPr>
              <a:t>8th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31"/>
          <p:cNvSpPr/>
          <p:nvPr/>
        </p:nvSpPr>
        <p:spPr>
          <a:xfrm>
            <a:off x="8229600" y="3755136"/>
            <a:ext cx="3023616" cy="829056"/>
          </a:xfrm>
          <a:prstGeom prst="roundRect">
            <a:avLst>
              <a:gd fmla="val 13235" name="adj"/>
            </a:avLst>
          </a:prstGeom>
          <a:solidFill>
            <a:srgbClr val="F5F7FA"/>
          </a:solidFill>
          <a:ln cap="flat" cmpd="sng" w="9525">
            <a:solidFill>
              <a:srgbClr val="C8C6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31"/>
          <p:cNvSpPr/>
          <p:nvPr/>
        </p:nvSpPr>
        <p:spPr>
          <a:xfrm>
            <a:off x="8351520" y="3828288"/>
            <a:ext cx="2779776" cy="243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6966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6A6966"/>
                </a:solidFill>
                <a:latin typeface="Calibri"/>
                <a:ea typeface="Calibri"/>
                <a:cs typeface="Calibri"/>
                <a:sym typeface="Calibri"/>
              </a:rPr>
              <a:t>STATUS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31"/>
          <p:cNvSpPr/>
          <p:nvPr/>
        </p:nvSpPr>
        <p:spPr>
          <a:xfrm>
            <a:off x="8351520" y="4120896"/>
            <a:ext cx="2779776" cy="341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6E48"/>
              </a:buClr>
              <a:buSzPts val="1900"/>
              <a:buFont typeface="Calibri"/>
              <a:buNone/>
            </a:pPr>
            <a:r>
              <a:rPr b="1" lang="en-US" sz="1900">
                <a:solidFill>
                  <a:srgbClr val="0B6E48"/>
                </a:solidFill>
                <a:latin typeface="Calibri"/>
                <a:ea typeface="Calibri"/>
                <a:cs typeface="Calibri"/>
                <a:sym typeface="Calibri"/>
              </a:rPr>
              <a:t>Active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31"/>
          <p:cNvSpPr/>
          <p:nvPr/>
        </p:nvSpPr>
        <p:spPr>
          <a:xfrm>
            <a:off x="426720" y="5315712"/>
            <a:ext cx="11338560" cy="1170432"/>
          </a:xfrm>
          <a:prstGeom prst="roundRect">
            <a:avLst>
              <a:gd fmla="val 12500" name="adj"/>
            </a:avLst>
          </a:prstGeom>
          <a:solidFill>
            <a:srgbClr val="F8F7F4"/>
          </a:solidFill>
          <a:ln cap="flat" cmpd="sng" w="9525">
            <a:solidFill>
              <a:srgbClr val="C8C6BC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31"/>
          <p:cNvSpPr/>
          <p:nvPr/>
        </p:nvSpPr>
        <p:spPr>
          <a:xfrm>
            <a:off x="609600" y="5401056"/>
            <a:ext cx="17068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6966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6A6966"/>
                </a:solidFill>
                <a:latin typeface="Calibri"/>
                <a:ea typeface="Calibri"/>
                <a:cs typeface="Calibri"/>
                <a:sym typeface="Calibri"/>
              </a:rPr>
              <a:t>Network log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31"/>
          <p:cNvSpPr/>
          <p:nvPr/>
        </p:nvSpPr>
        <p:spPr>
          <a:xfrm>
            <a:off x="609600" y="5730240"/>
            <a:ext cx="11094720" cy="3169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6E48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0B6E48"/>
                </a:solidFill>
                <a:latin typeface="Calibri"/>
                <a:ea typeface="Calibri"/>
                <a:cs typeface="Calibri"/>
                <a:sym typeface="Calibri"/>
              </a:rPr>
              <a:t>✓ RESPONSE  </a:t>
            </a:r>
            <a:r>
              <a:rPr lang="en-US" sz="1500">
                <a:solidFill>
                  <a:srgbClr val="3A3A38"/>
                </a:solidFill>
                <a:latin typeface="Calibri"/>
                <a:ea typeface="Calibri"/>
                <a:cs typeface="Calibri"/>
                <a:sym typeface="Calibri"/>
              </a:rPr>
              <a:t>200 OK  —  Student record received and rendered in 187ms total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31"/>
          <p:cNvSpPr/>
          <p:nvPr/>
        </p:nvSpPr>
        <p:spPr>
          <a:xfrm>
            <a:off x="609600" y="6071616"/>
            <a:ext cx="11094720" cy="3169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6E48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0B6E48"/>
                </a:solidFill>
                <a:latin typeface="Calibri"/>
                <a:ea typeface="Calibri"/>
                <a:cs typeface="Calibri"/>
                <a:sym typeface="Calibri"/>
              </a:rPr>
              <a:t>✓ RESPONSE  </a:t>
            </a:r>
            <a:r>
              <a:rPr lang="en-US" sz="1500">
                <a:solidFill>
                  <a:srgbClr val="3A3A38"/>
                </a:solidFill>
                <a:latin typeface="Calibri"/>
                <a:ea typeface="Calibri"/>
                <a:cs typeface="Calibri"/>
                <a:sym typeface="Calibri"/>
              </a:rPr>
              <a:t>Browser updated — student dashboard now showing Rafiul Hasan's record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3FC"/>
        </a:solidFill>
      </p:bgPr>
    </p:bg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32"/>
          <p:cNvSpPr/>
          <p:nvPr/>
        </p:nvSpPr>
        <p:spPr>
          <a:xfrm>
            <a:off x="0" y="0"/>
            <a:ext cx="12192000" cy="146310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32"/>
          <p:cNvSpPr/>
          <p:nvPr/>
        </p:nvSpPr>
        <p:spPr>
          <a:xfrm>
            <a:off x="426720" y="121920"/>
            <a:ext cx="113385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Full request lifecycle</a:t>
            </a:r>
            <a:endParaRPr b="1" sz="3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32"/>
          <p:cNvSpPr/>
          <p:nvPr/>
        </p:nvSpPr>
        <p:spPr>
          <a:xfrm>
            <a:off x="335285" y="1856326"/>
            <a:ext cx="5547300" cy="1194900"/>
          </a:xfrm>
          <a:prstGeom prst="roundRect">
            <a:avLst>
              <a:gd fmla="val 12245" name="adj"/>
            </a:avLst>
          </a:prstGeom>
          <a:solidFill>
            <a:srgbClr val="FFFFFF">
              <a:alpha val="12160"/>
            </a:srgbClr>
          </a:solidFill>
          <a:ln cap="flat" cmpd="sng" w="19050">
            <a:solidFill>
              <a:srgbClr val="185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18" name="Google Shape;418;p32"/>
          <p:cNvSpPr/>
          <p:nvPr/>
        </p:nvSpPr>
        <p:spPr>
          <a:xfrm>
            <a:off x="505973" y="2087974"/>
            <a:ext cx="707100" cy="707100"/>
          </a:xfrm>
          <a:prstGeom prst="ellipse">
            <a:avLst/>
          </a:prstGeom>
          <a:solidFill>
            <a:srgbClr val="185FA5"/>
          </a:solidFill>
          <a:ln cap="flat" cmpd="sng" w="12700">
            <a:solidFill>
              <a:srgbClr val="185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19" name="Google Shape;419;p32"/>
          <p:cNvSpPr/>
          <p:nvPr/>
        </p:nvSpPr>
        <p:spPr>
          <a:xfrm>
            <a:off x="505973" y="2087974"/>
            <a:ext cx="707100" cy="70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Calibri"/>
              <a:buNone/>
            </a:pPr>
            <a:r>
              <a:rPr b="1" lang="en-US" sz="2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2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32"/>
          <p:cNvSpPr/>
          <p:nvPr/>
        </p:nvSpPr>
        <p:spPr>
          <a:xfrm>
            <a:off x="1383797" y="1856326"/>
            <a:ext cx="4316100" cy="119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User enters student ID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32"/>
          <p:cNvSpPr/>
          <p:nvPr/>
        </p:nvSpPr>
        <p:spPr>
          <a:xfrm>
            <a:off x="335285" y="3343750"/>
            <a:ext cx="5547300" cy="1194900"/>
          </a:xfrm>
          <a:prstGeom prst="roundRect">
            <a:avLst>
              <a:gd fmla="val 12245" name="adj"/>
            </a:avLst>
          </a:prstGeom>
          <a:solidFill>
            <a:srgbClr val="FFFFFF">
              <a:alpha val="12160"/>
            </a:srgbClr>
          </a:solidFill>
          <a:ln cap="flat" cmpd="sng" w="19050">
            <a:solidFill>
              <a:srgbClr val="1560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22" name="Google Shape;422;p32"/>
          <p:cNvSpPr/>
          <p:nvPr/>
        </p:nvSpPr>
        <p:spPr>
          <a:xfrm>
            <a:off x="505973" y="3575398"/>
            <a:ext cx="707100" cy="707100"/>
          </a:xfrm>
          <a:prstGeom prst="ellipse">
            <a:avLst/>
          </a:prstGeom>
          <a:solidFill>
            <a:srgbClr val="1560A8"/>
          </a:solidFill>
          <a:ln cap="flat" cmpd="sng" w="12700">
            <a:solidFill>
              <a:srgbClr val="1560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23" name="Google Shape;423;p32"/>
          <p:cNvSpPr/>
          <p:nvPr/>
        </p:nvSpPr>
        <p:spPr>
          <a:xfrm>
            <a:off x="505973" y="3575398"/>
            <a:ext cx="707100" cy="70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Calibri"/>
              <a:buNone/>
            </a:pPr>
            <a:r>
              <a:rPr b="1" lang="en-US" sz="2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32"/>
          <p:cNvSpPr/>
          <p:nvPr/>
        </p:nvSpPr>
        <p:spPr>
          <a:xfrm>
            <a:off x="1383797" y="3343750"/>
            <a:ext cx="4316100" cy="119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Browser sends HTTP request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32"/>
          <p:cNvSpPr/>
          <p:nvPr/>
        </p:nvSpPr>
        <p:spPr>
          <a:xfrm>
            <a:off x="335285" y="4831174"/>
            <a:ext cx="5547300" cy="1194900"/>
          </a:xfrm>
          <a:prstGeom prst="roundRect">
            <a:avLst>
              <a:gd fmla="val 12245" name="adj"/>
            </a:avLst>
          </a:prstGeom>
          <a:solidFill>
            <a:srgbClr val="FFFFFF">
              <a:alpha val="12160"/>
            </a:srgbClr>
          </a:solidFill>
          <a:ln cap="flat" cmpd="sng" w="19050">
            <a:solidFill>
              <a:srgbClr val="4A42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26" name="Google Shape;426;p32"/>
          <p:cNvSpPr/>
          <p:nvPr/>
        </p:nvSpPr>
        <p:spPr>
          <a:xfrm>
            <a:off x="505973" y="5062822"/>
            <a:ext cx="707100" cy="707100"/>
          </a:xfrm>
          <a:prstGeom prst="ellipse">
            <a:avLst/>
          </a:prstGeom>
          <a:solidFill>
            <a:srgbClr val="4A42B0"/>
          </a:solidFill>
          <a:ln cap="flat" cmpd="sng" w="12700">
            <a:solidFill>
              <a:srgbClr val="4A42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27" name="Google Shape;427;p32"/>
          <p:cNvSpPr/>
          <p:nvPr/>
        </p:nvSpPr>
        <p:spPr>
          <a:xfrm>
            <a:off x="505973" y="5062822"/>
            <a:ext cx="707100" cy="70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Calibri"/>
              <a:buNone/>
            </a:pPr>
            <a:r>
              <a:rPr b="1" lang="en-US" sz="2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2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32"/>
          <p:cNvSpPr/>
          <p:nvPr/>
        </p:nvSpPr>
        <p:spPr>
          <a:xfrm>
            <a:off x="1383797" y="4831174"/>
            <a:ext cx="4316100" cy="119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Server authenticates &amp; routes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32"/>
          <p:cNvSpPr/>
          <p:nvPr/>
        </p:nvSpPr>
        <p:spPr>
          <a:xfrm>
            <a:off x="6309365" y="1856326"/>
            <a:ext cx="5547300" cy="1194900"/>
          </a:xfrm>
          <a:prstGeom prst="roundRect">
            <a:avLst>
              <a:gd fmla="val 12245" name="adj"/>
            </a:avLst>
          </a:prstGeom>
          <a:solidFill>
            <a:srgbClr val="FFFFFF">
              <a:alpha val="12160"/>
            </a:srgbClr>
          </a:solidFill>
          <a:ln cap="flat" cmpd="sng" w="19050">
            <a:solidFill>
              <a:srgbClr val="7A48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30" name="Google Shape;430;p32"/>
          <p:cNvSpPr/>
          <p:nvPr/>
        </p:nvSpPr>
        <p:spPr>
          <a:xfrm>
            <a:off x="6480053" y="2087974"/>
            <a:ext cx="707100" cy="707100"/>
          </a:xfrm>
          <a:prstGeom prst="ellipse">
            <a:avLst/>
          </a:prstGeom>
          <a:solidFill>
            <a:srgbClr val="7A4800"/>
          </a:solidFill>
          <a:ln cap="flat" cmpd="sng" w="12700">
            <a:solidFill>
              <a:srgbClr val="7A48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31" name="Google Shape;431;p32"/>
          <p:cNvSpPr/>
          <p:nvPr/>
        </p:nvSpPr>
        <p:spPr>
          <a:xfrm>
            <a:off x="6480053" y="2087974"/>
            <a:ext cx="707100" cy="70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Calibri"/>
              <a:buNone/>
            </a:pPr>
            <a:r>
              <a:rPr b="1" lang="en-US" sz="2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2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32"/>
          <p:cNvSpPr/>
          <p:nvPr/>
        </p:nvSpPr>
        <p:spPr>
          <a:xfrm>
            <a:off x="7357877" y="1856326"/>
            <a:ext cx="4316100" cy="119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Server queries the database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32"/>
          <p:cNvSpPr/>
          <p:nvPr/>
        </p:nvSpPr>
        <p:spPr>
          <a:xfrm>
            <a:off x="6309365" y="3343750"/>
            <a:ext cx="5547300" cy="1194900"/>
          </a:xfrm>
          <a:prstGeom prst="roundRect">
            <a:avLst>
              <a:gd fmla="val 12245" name="adj"/>
            </a:avLst>
          </a:prstGeom>
          <a:solidFill>
            <a:srgbClr val="FFFFFF">
              <a:alpha val="12160"/>
            </a:srgbClr>
          </a:solidFill>
          <a:ln cap="flat" cmpd="sng" w="19050">
            <a:solidFill>
              <a:srgbClr val="7A48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34" name="Google Shape;434;p32"/>
          <p:cNvSpPr/>
          <p:nvPr/>
        </p:nvSpPr>
        <p:spPr>
          <a:xfrm>
            <a:off x="6480053" y="3575398"/>
            <a:ext cx="707100" cy="707100"/>
          </a:xfrm>
          <a:prstGeom prst="ellipse">
            <a:avLst/>
          </a:prstGeom>
          <a:solidFill>
            <a:srgbClr val="7A4800"/>
          </a:solidFill>
          <a:ln cap="flat" cmpd="sng" w="12700">
            <a:solidFill>
              <a:srgbClr val="7A48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35" name="Google Shape;435;p32"/>
          <p:cNvSpPr/>
          <p:nvPr/>
        </p:nvSpPr>
        <p:spPr>
          <a:xfrm>
            <a:off x="6480053" y="3575398"/>
            <a:ext cx="707100" cy="70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Calibri"/>
              <a:buNone/>
            </a:pPr>
            <a:r>
              <a:rPr b="1" lang="en-US" sz="2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2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32"/>
          <p:cNvSpPr/>
          <p:nvPr/>
        </p:nvSpPr>
        <p:spPr>
          <a:xfrm>
            <a:off x="7357877" y="3343750"/>
            <a:ext cx="4316100" cy="119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Database returns student record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32"/>
          <p:cNvSpPr/>
          <p:nvPr/>
        </p:nvSpPr>
        <p:spPr>
          <a:xfrm>
            <a:off x="6309365" y="4831174"/>
            <a:ext cx="5547300" cy="1194900"/>
          </a:xfrm>
          <a:prstGeom prst="roundRect">
            <a:avLst>
              <a:gd fmla="val 12245" name="adj"/>
            </a:avLst>
          </a:prstGeom>
          <a:solidFill>
            <a:srgbClr val="FFFFFF">
              <a:alpha val="12160"/>
            </a:srgbClr>
          </a:solidFill>
          <a:ln cap="flat" cmpd="sng" w="19050">
            <a:solidFill>
              <a:srgbClr val="0B6E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38" name="Google Shape;438;p32"/>
          <p:cNvSpPr/>
          <p:nvPr/>
        </p:nvSpPr>
        <p:spPr>
          <a:xfrm>
            <a:off x="6480053" y="5062822"/>
            <a:ext cx="707100" cy="707100"/>
          </a:xfrm>
          <a:prstGeom prst="ellipse">
            <a:avLst/>
          </a:prstGeom>
          <a:solidFill>
            <a:srgbClr val="0B6E48"/>
          </a:solidFill>
          <a:ln cap="flat" cmpd="sng" w="12700">
            <a:solidFill>
              <a:srgbClr val="0B6E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39" name="Google Shape;439;p32"/>
          <p:cNvSpPr/>
          <p:nvPr/>
        </p:nvSpPr>
        <p:spPr>
          <a:xfrm>
            <a:off x="6480053" y="5062822"/>
            <a:ext cx="707100" cy="70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Calibri"/>
              <a:buNone/>
            </a:pPr>
            <a:r>
              <a:rPr b="1" lang="en-US" sz="2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2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32"/>
          <p:cNvSpPr/>
          <p:nvPr/>
        </p:nvSpPr>
        <p:spPr>
          <a:xfrm>
            <a:off x="7357877" y="4831174"/>
            <a:ext cx="4316100" cy="119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200 OK response to browser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33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latin typeface="Lexend"/>
                <a:ea typeface="Lexend"/>
                <a:cs typeface="Lexend"/>
                <a:sym typeface="Lexend"/>
              </a:rPr>
              <a:t>When Used</a:t>
            </a:r>
            <a:endParaRPr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6" name="Google Shape;446;p33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It is used when data in a shared database has to be accessed from a range of locations. Because servers can be replicated, may also be used when the load on a system is variable and can be resolved by a load balancer.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5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3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latin typeface="Lexend"/>
                <a:ea typeface="Lexend"/>
                <a:cs typeface="Lexend"/>
                <a:sym typeface="Lexend"/>
              </a:rPr>
              <a:t>Advantages</a:t>
            </a:r>
            <a:endParaRPr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2" name="Google Shape;452;p34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rtl="0" algn="l">
              <a:spcBef>
                <a:spcPts val="1000"/>
              </a:spcBef>
              <a:spcAft>
                <a:spcPts val="0"/>
              </a:spcAft>
              <a:buSzPts val="2800"/>
              <a:buFont typeface="Calibri"/>
              <a:buChar char="●"/>
            </a:pPr>
            <a:r>
              <a:rPr lang="en-US"/>
              <a:t>The principal advantage of this model is that servers can be distributed across a network. 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406400" lvl="0" marL="457200" rtl="0" algn="l">
              <a:spcBef>
                <a:spcPts val="1600"/>
              </a:spcBef>
              <a:spcAft>
                <a:spcPts val="0"/>
              </a:spcAft>
              <a:buSzPts val="2800"/>
              <a:buFont typeface="Calibri"/>
              <a:buChar char="●"/>
            </a:pPr>
            <a:r>
              <a:rPr lang="en-US"/>
              <a:t>Data recovery is possible.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406400" lvl="0" marL="457200" rtl="0" algn="l">
              <a:spcBef>
                <a:spcPts val="1600"/>
              </a:spcBef>
              <a:spcAft>
                <a:spcPts val="0"/>
              </a:spcAft>
              <a:buSzPts val="2800"/>
              <a:buFont typeface="Calibri"/>
              <a:buChar char="●"/>
            </a:pPr>
            <a:r>
              <a:rPr lang="en-US"/>
              <a:t>Can be deployed to the cloud, hosted and managed by third-parties (AWS, Azure) which offloads physical infrastructure burden and easy to manage.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3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300">
                <a:latin typeface="Lexend"/>
                <a:ea typeface="Lexend"/>
                <a:cs typeface="Lexend"/>
                <a:sym typeface="Lexend"/>
              </a:rPr>
              <a:t>Disadvantages</a:t>
            </a:r>
            <a:endParaRPr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8" name="Google Shape;458;p35"/>
          <p:cNvSpPr txBox="1"/>
          <p:nvPr>
            <p:ph idx="1" type="body"/>
          </p:nvPr>
        </p:nvSpPr>
        <p:spPr>
          <a:xfrm>
            <a:off x="838200" y="1825625"/>
            <a:ext cx="10968000" cy="4819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rtl="0" algn="l">
              <a:spcBef>
                <a:spcPts val="1000"/>
              </a:spcBef>
              <a:spcAft>
                <a:spcPts val="0"/>
              </a:spcAft>
              <a:buSzPts val="2800"/>
              <a:buFont typeface="Calibri"/>
              <a:buChar char="●"/>
            </a:pPr>
            <a:r>
              <a:rPr lang="en-US"/>
              <a:t>Each service is a single point of failure so susceptible to denial of service (DoS) attacks or server failure. 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406400" lvl="0" marL="457200" rtl="0" algn="l">
              <a:spcBef>
                <a:spcPts val="1600"/>
              </a:spcBef>
              <a:spcAft>
                <a:spcPts val="0"/>
              </a:spcAft>
              <a:buSzPts val="2800"/>
              <a:buFont typeface="Calibri"/>
              <a:buChar char="●"/>
            </a:pPr>
            <a:r>
              <a:rPr lang="en-US"/>
              <a:t>Performance may be unpredictable because it depends on the network as well as the system.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406400" lvl="0" marL="457200" rtl="0" algn="l">
              <a:spcBef>
                <a:spcPts val="1600"/>
              </a:spcBef>
              <a:spcAft>
                <a:spcPts val="0"/>
              </a:spcAft>
              <a:buSzPts val="2800"/>
              <a:buFont typeface="Calibri"/>
              <a:buChar char="●"/>
            </a:pPr>
            <a:r>
              <a:rPr lang="en-US"/>
              <a:t>Cost inefficient as requires maintenance cost.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406400" lvl="0" marL="457200" rtl="0" algn="l">
              <a:spcBef>
                <a:spcPts val="1600"/>
              </a:spcBef>
              <a:spcAft>
                <a:spcPts val="0"/>
              </a:spcAft>
              <a:buSzPts val="2800"/>
              <a:buFont typeface="Calibri"/>
              <a:buChar char="●"/>
            </a:pPr>
            <a:r>
              <a:rPr lang="en-US"/>
              <a:t>May be management problems if servers are owned by different organizations.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