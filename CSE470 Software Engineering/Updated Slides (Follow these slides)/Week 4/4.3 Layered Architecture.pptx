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9144000"/>
  <p:embeddedFontLst>
    <p:embeddedFont>
      <p:font typeface="Lexend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Lexend-regular.fntdata"/><Relationship Id="rId14" Type="http://schemas.openxmlformats.org/officeDocument/2006/relationships/slide" Target="slides/slide10.xml"/><Relationship Id="rId16" Type="http://schemas.openxmlformats.org/officeDocument/2006/relationships/font" Target="fonts/Lexend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4a4e36de6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94a4e36de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4a4e36de6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94a4e36de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4a4e36de6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94a4e36de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94a4e36de6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94a4e36de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94a4e36de6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94a4e36de6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94a4e36de6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94a4e36de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94a4e36de6_0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94a4e36de6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4a4e36de6_0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94a4e36de6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94a4e36de6_0_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94a4e36de6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" name="Google Shape;17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5" name="Google Shape;35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5" name="Google Shape;45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7" name="Google Shape;5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5" name="Google Shape;65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2" name="Google Shape;72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8" name="Google Shape;78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9" name="Google Shape;79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2" name="Google Shape;82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9" name="Google Shape;8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2" name="Google Shape;92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1" name="Google Shape;10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0" name="Google Shape;110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700">
                <a:latin typeface="Arial"/>
                <a:ea typeface="Arial"/>
                <a:cs typeface="Arial"/>
                <a:sym typeface="Arial"/>
              </a:rPr>
              <a:t>CSE470: Software Engineering</a:t>
            </a:r>
            <a:endParaRPr/>
          </a:p>
        </p:txBody>
      </p:sp>
      <p:sp>
        <p:nvSpPr>
          <p:cNvPr id="118" name="Google Shape;118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3300"/>
              <a:t>Layered Architecture</a:t>
            </a:r>
            <a:endParaRPr sz="3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Monolithic Software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" name="Google Shape;124;p1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The end product come at end of the process model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There is no separation of concern (code) of different software components.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All code may be written in a single file with html, sql queries, logic checking etc.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Problems of </a:t>
            </a: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Monolithic Software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" name="Google Shape;130;p1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No separation between components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Changing a component affects other components. 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For example – What if I want to change the UI from JavaScript to Angular 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What is Layered Architecture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" name="Google Shape;136;p1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Organises the system into a set of layers (or abstract machines) each of which provide a set of services.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Supports the incremental development of sub-systems in different layers. When a layer interface changes, only the adjacent layer is affected.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Layered Architecture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body"/>
          </p:nvPr>
        </p:nvSpPr>
        <p:spPr>
          <a:xfrm>
            <a:off x="838200" y="1825625"/>
            <a:ext cx="48177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93065" lvl="0" marL="457200" rtl="0" algn="l">
              <a:spcBef>
                <a:spcPts val="1000"/>
              </a:spcBef>
              <a:spcAft>
                <a:spcPts val="0"/>
              </a:spcAft>
              <a:buSzPct val="100000"/>
              <a:buFont typeface="Calibri"/>
              <a:buChar char="•"/>
            </a:pPr>
            <a:r>
              <a:rPr lang="en-US"/>
              <a:t>Organises the system into a set of layers (or abstract machines) each of which provide a set of services.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93065" lvl="0" marL="457200" rtl="0" algn="l">
              <a:spcBef>
                <a:spcPts val="1000"/>
              </a:spcBef>
              <a:spcAft>
                <a:spcPts val="0"/>
              </a:spcAft>
              <a:buSzPct val="100000"/>
              <a:buFont typeface="Calibri"/>
              <a:buChar char="•"/>
            </a:pPr>
            <a:r>
              <a:rPr lang="en-US"/>
              <a:t>Supports the incremental development of sub-systems in different layers. When a layer interface changes, only the adjacent layer is affected.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3" name="Google Shape;14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71175" y="1385400"/>
            <a:ext cx="5506421" cy="5030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Layered Architecture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>
            <p:ph idx="1" type="body"/>
          </p:nvPr>
        </p:nvSpPr>
        <p:spPr>
          <a:xfrm>
            <a:off x="838200" y="1825625"/>
            <a:ext cx="48177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7350" lvl="0" marL="457200" rtl="0" algn="l">
              <a:spcBef>
                <a:spcPts val="1000"/>
              </a:spcBef>
              <a:spcAft>
                <a:spcPts val="0"/>
              </a:spcAft>
              <a:buSzPts val="2500"/>
              <a:buFont typeface="Calibri"/>
              <a:buChar char="•"/>
            </a:pPr>
            <a:r>
              <a:rPr lang="en-US" sz="2500"/>
              <a:t>Layers can be open or closed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•"/>
            </a:pPr>
            <a:r>
              <a:rPr lang="en-US" sz="2500"/>
              <a:t>A closed layer can only be accessed by the layer above.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•"/>
            </a:pPr>
            <a:r>
              <a:rPr lang="en-US" sz="2500"/>
              <a:t>A change in one layer does not affect others. It provides isolation.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•"/>
            </a:pPr>
            <a:r>
              <a:rPr lang="en-US" sz="2500"/>
              <a:t>However,  what if we want to add a new layer where shared utilities will be provided to be used by the Business Layer.  But, we need to use it sometimes.</a:t>
            </a:r>
            <a:endParaRPr sz="2500"/>
          </a:p>
        </p:txBody>
      </p:sp>
      <p:pic>
        <p:nvPicPr>
          <p:cNvPr descr="lay1.PNG" id="150" name="Google Shape;150;p1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85575" y="1454350"/>
            <a:ext cx="6172200" cy="4572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Layered Architecture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" name="Google Shape;156;p19"/>
          <p:cNvSpPr txBox="1"/>
          <p:nvPr>
            <p:ph idx="1" type="body"/>
          </p:nvPr>
        </p:nvSpPr>
        <p:spPr>
          <a:xfrm>
            <a:off x="838200" y="1825625"/>
            <a:ext cx="48177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7350" lvl="0" marL="457200" rtl="0" algn="l">
              <a:spcBef>
                <a:spcPts val="1000"/>
              </a:spcBef>
              <a:spcAft>
                <a:spcPts val="0"/>
              </a:spcAft>
              <a:buSzPts val="2500"/>
              <a:buFont typeface="Calibri"/>
              <a:buChar char="•"/>
            </a:pPr>
            <a:r>
              <a:rPr lang="en-US" sz="2500"/>
              <a:t>Here comes the concept of open layers.</a:t>
            </a:r>
            <a:endParaRPr sz="25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-387350" lvl="0" marL="457200" rtl="0" algn="l">
              <a:spcBef>
                <a:spcPts val="1000"/>
              </a:spcBef>
              <a:spcAft>
                <a:spcPts val="0"/>
              </a:spcAft>
              <a:buSzPts val="2500"/>
              <a:buFont typeface="Calibri"/>
              <a:buChar char="•"/>
            </a:pPr>
            <a:r>
              <a:rPr lang="en-US" sz="2500"/>
              <a:t>An open can be bypassed by upper layers.</a:t>
            </a:r>
            <a:endParaRPr sz="25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-387350" lvl="0" marL="457200" rtl="0" algn="l">
              <a:spcBef>
                <a:spcPts val="1000"/>
              </a:spcBef>
              <a:spcAft>
                <a:spcPts val="0"/>
              </a:spcAft>
              <a:buSzPts val="2500"/>
              <a:buFont typeface="Calibri"/>
              <a:buChar char="•"/>
            </a:pPr>
            <a:r>
              <a:rPr lang="en-US" sz="2500"/>
              <a:t>Too many open layers may affect the actual essence of layered architecture.</a:t>
            </a:r>
            <a:endParaRPr sz="25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pic>
        <p:nvPicPr>
          <p:cNvPr descr="lay2.PNG" id="157" name="Google Shape;157;p1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08100" y="1299425"/>
            <a:ext cx="5954100" cy="4877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lay3.PNG" id="163" name="Google Shape;163;p2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66900" y="1229050"/>
            <a:ext cx="5458200" cy="5131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When Used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7350" lvl="0" marL="457200" rtl="0" algn="l">
              <a:spcBef>
                <a:spcPts val="1000"/>
              </a:spcBef>
              <a:spcAft>
                <a:spcPts val="0"/>
              </a:spcAft>
              <a:buSzPts val="2500"/>
              <a:buFont typeface="Calibri"/>
              <a:buChar char="•"/>
            </a:pPr>
            <a:r>
              <a:rPr lang="en-US" sz="2500"/>
              <a:t>Used when building new facilities on top of existing systems</a:t>
            </a:r>
            <a:endParaRPr sz="25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-387350" lvl="0" marL="457200" rtl="0" algn="l">
              <a:spcBef>
                <a:spcPts val="1000"/>
              </a:spcBef>
              <a:spcAft>
                <a:spcPts val="0"/>
              </a:spcAft>
              <a:buSzPts val="2500"/>
              <a:buFont typeface="Calibri"/>
              <a:buChar char="•"/>
            </a:pPr>
            <a:r>
              <a:rPr lang="en-US" sz="2500"/>
              <a:t>When the development is spread across several teams with each team responsible for a layer of functionality</a:t>
            </a:r>
            <a:endParaRPr sz="25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-387350" lvl="0" marL="457200" rtl="0" algn="l">
              <a:spcBef>
                <a:spcPts val="1000"/>
              </a:spcBef>
              <a:spcAft>
                <a:spcPts val="0"/>
              </a:spcAft>
              <a:buSzPts val="2500"/>
              <a:buFont typeface="Calibri"/>
              <a:buChar char="•"/>
            </a:pPr>
            <a:r>
              <a:rPr lang="en-US" sz="2500"/>
              <a:t>When there is a requirement for multi-level security (for instance, any secured transaction based system)</a:t>
            </a:r>
            <a:endParaRPr sz="2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Advantages-Disadvantages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500"/>
              <a:t>Advantages</a:t>
            </a:r>
            <a:endParaRPr b="1" sz="25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/>
              <a:t>Allows  easy replacement or addition of entire layers so long as the interface is maintained.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/>
              <a:t>Testing is easy as components are isolated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/>
              <a:t>Parallel team work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500"/>
              <a:t>Disadvantages</a:t>
            </a:r>
            <a:endParaRPr b="1" sz="25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In practice, providing a clean separation between layers is often difficult and a high-level layer may have to interact directly with lower-level layers rather than through the layer immediately below it. 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Performance can be a problem because of multiple levels of interpretation of a service request as it is processed at each layer.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Parallel processing is not possible (Sequential structure)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Example: OSI model (7 layers)</a:t>
            </a:r>
            <a:endParaRPr sz="2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