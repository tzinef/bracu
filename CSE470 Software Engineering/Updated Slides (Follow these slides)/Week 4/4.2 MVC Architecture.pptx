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Lexend"/>
      <p:regular r:id="rId30"/>
      <p:bold r:id="rId31"/>
    </p:embeddedFont>
    <p:embeddedFont>
      <p:font typeface="Gill Sans"/>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xend-bold.fntdata"/><Relationship Id="rId30" Type="http://schemas.openxmlformats.org/officeDocument/2006/relationships/font" Target="fonts/Lexend-regular.fntdata"/><Relationship Id="rId11" Type="http://schemas.openxmlformats.org/officeDocument/2006/relationships/slide" Target="slides/slide6.xml"/><Relationship Id="rId33" Type="http://schemas.openxmlformats.org/officeDocument/2006/relationships/font" Target="fonts/GillSans-bold.fntdata"/><Relationship Id="rId10" Type="http://schemas.openxmlformats.org/officeDocument/2006/relationships/slide" Target="slides/slide5.xml"/><Relationship Id="rId32" Type="http://schemas.openxmlformats.org/officeDocument/2006/relationships/font" Target="fonts/GillSans-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4a495b59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4a495b5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4a495b59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4a495b5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4a495b59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4a495b59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4a495b598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4a495b59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4a495b598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4a495b59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4a495b598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4a495b59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4a495b598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4a495b59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4a495b598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4a495b59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2a9121f31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g3f2a9121f31_2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0" name="Google Shape;190;g3f2a9121f31_2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2a9121f31_2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f2a9121f31_2_1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9" name="Google Shape;199;g3f2a9121f31_2_1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2a9121f31_2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g3f2a9121f31_2_6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5" name="Google Shape;255;g3f2a9121f31_2_6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2a9121f31_2_1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g3f2a9121f31_2_12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4" name="Google Shape;314;g3f2a9121f31_2_12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2a9121f31_2_1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g3f2a9121f31_2_18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72" name="Google Shape;372;g3f2a9121f31_2_18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f2a9121f31_2_2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g3f2a9121f31_2_23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6" name="Google Shape;426;g3f2a9121f31_2_23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2a9121f31_2_29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g3f2a9121f31_2_29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5" name="Google Shape;485;g3f2a9121f31_2_29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2a9121f31_2_3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g3f2a9121f31_2_35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2" name="Google Shape;552;g3f2a9121f31_2_35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f2a9121f31_2_4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g3f2a9121f31_2_41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12" name="Google Shape;612;g3f2a9121f31_2_41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f2a9121f31_2_4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3" name="Google Shape;673;g3f2a9121f31_2_47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74" name="Google Shape;674;g3f2a9121f31_2_47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f2a9121f31_2_5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g3f2a9121f31_2_53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33" name="Google Shape;733;g3f2a9121f31_2_53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f2a9121f31_2_5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3" name="Google Shape;793;g3f2a9121f31_2_59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94" name="Google Shape;794;g3f2a9121f31_2_59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f2a9121f31_2_6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g3f2a9121f31_2_63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30" name="Google Shape;830;g3f2a9121f31_2_63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94a495b598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94a495b59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94a495b598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94a495b59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4" name="Shape 1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github.com/valerievozza/mvc-architecture?tab=readme-ov-fil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20" name="Google Shape;120;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MVC Architecture</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What is MVC Architecture</a:t>
            </a:r>
            <a:endParaRPr sz="3300">
              <a:latin typeface="Lexend"/>
              <a:ea typeface="Lexend"/>
              <a:cs typeface="Lexend"/>
              <a:sym typeface="Lexend"/>
            </a:endParaRPr>
          </a:p>
        </p:txBody>
      </p:sp>
      <p:sp>
        <p:nvSpPr>
          <p:cNvPr id="126" name="Google Shape;126;p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MVC goes for Model-View-Controller Pattern</a:t>
            </a:r>
            <a:endParaRPr/>
          </a:p>
          <a:p>
            <a:pPr indent="-406400" lvl="0" marL="457200" rtl="0" algn="l">
              <a:spcBef>
                <a:spcPts val="0"/>
              </a:spcBef>
              <a:spcAft>
                <a:spcPts val="0"/>
              </a:spcAft>
              <a:buSzPts val="2800"/>
              <a:buFont typeface="Calibri"/>
              <a:buChar char="•"/>
            </a:pPr>
            <a:r>
              <a:rPr lang="en-US"/>
              <a:t>Separates presentation and interaction from the data handling logic.</a:t>
            </a:r>
            <a:endParaRPr/>
          </a:p>
          <a:p>
            <a:pPr indent="-406400" lvl="0" marL="457200" rtl="0" algn="l">
              <a:spcBef>
                <a:spcPts val="0"/>
              </a:spcBef>
              <a:spcAft>
                <a:spcPts val="0"/>
              </a:spcAft>
              <a:buSzPts val="2800"/>
              <a:buFont typeface="Calibri"/>
              <a:buChar char="•"/>
            </a:pPr>
            <a:r>
              <a:rPr lang="en-US"/>
              <a:t>It provides an extensible separation of concern (SOC) from presentation view to data processing logic.</a:t>
            </a:r>
            <a:endParaRPr/>
          </a:p>
          <a:p>
            <a:pPr indent="0" lvl="0" marL="45720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descr="File:ModeleMVC.png - Wikimedia Commons" id="127" name="Google Shape;127;p16"/>
          <p:cNvPicPr preferRelativeResize="0"/>
          <p:nvPr/>
        </p:nvPicPr>
        <p:blipFill>
          <a:blip r:embed="rId3">
            <a:alphaModFix/>
          </a:blip>
          <a:stretch>
            <a:fillRect/>
          </a:stretch>
        </p:blipFill>
        <p:spPr>
          <a:xfrm>
            <a:off x="4270026" y="3604924"/>
            <a:ext cx="3651951" cy="3035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Controller</a:t>
            </a:r>
            <a:endParaRPr sz="3300">
              <a:latin typeface="Lexend"/>
              <a:ea typeface="Lexend"/>
              <a:cs typeface="Lexend"/>
              <a:sym typeface="Lexend"/>
            </a:endParaRPr>
          </a:p>
        </p:txBody>
      </p:sp>
      <p:sp>
        <p:nvSpPr>
          <p:cNvPr id="133" name="Google Shape;133;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Handles all the user inputs through url</a:t>
            </a:r>
            <a:endParaRPr sz="2600"/>
          </a:p>
          <a:p>
            <a:pPr indent="-393700" lvl="0" marL="457200" rtl="0" algn="l">
              <a:spcBef>
                <a:spcPts val="0"/>
              </a:spcBef>
              <a:spcAft>
                <a:spcPts val="0"/>
              </a:spcAft>
              <a:buSzPts val="2600"/>
              <a:buFont typeface="Calibri"/>
              <a:buChar char="●"/>
            </a:pPr>
            <a:r>
              <a:rPr lang="en-US" sz="2600"/>
              <a:t>The interaction to an application starts here by the user interactions – mouse click, key press etc</a:t>
            </a:r>
            <a:endParaRPr sz="2600"/>
          </a:p>
          <a:p>
            <a:pPr indent="-393700" lvl="0" marL="457200" rtl="0" algn="l">
              <a:spcBef>
                <a:spcPts val="0"/>
              </a:spcBef>
              <a:spcAft>
                <a:spcPts val="0"/>
              </a:spcAft>
              <a:buSzPts val="2600"/>
              <a:buFont typeface="Calibri"/>
              <a:buChar char="●"/>
            </a:pPr>
            <a:r>
              <a:rPr lang="en-US" sz="2600"/>
              <a:t>Process http url requests (GET, POST, PUT, DELETE)</a:t>
            </a:r>
            <a:endParaRPr sz="2600"/>
          </a:p>
          <a:p>
            <a:pPr indent="-381000" lvl="1" marL="914400" rtl="0" algn="l">
              <a:spcBef>
                <a:spcPts val="0"/>
              </a:spcBef>
              <a:spcAft>
                <a:spcPts val="0"/>
              </a:spcAft>
              <a:buSzPts val="2400"/>
              <a:buChar char="○"/>
            </a:pPr>
            <a:r>
              <a:rPr lang="en-US"/>
              <a:t>GET: for getting a data</a:t>
            </a:r>
            <a:endParaRPr/>
          </a:p>
          <a:p>
            <a:pPr indent="-381000" lvl="1" marL="914400" rtl="0" algn="l">
              <a:spcBef>
                <a:spcPts val="0"/>
              </a:spcBef>
              <a:spcAft>
                <a:spcPts val="0"/>
              </a:spcAft>
              <a:buSzPts val="2400"/>
              <a:buChar char="○"/>
            </a:pPr>
            <a:r>
              <a:rPr lang="en-US"/>
              <a:t>POST: for posting / inserting a data</a:t>
            </a:r>
            <a:endParaRPr/>
          </a:p>
          <a:p>
            <a:pPr indent="-381000" lvl="1" marL="914400" rtl="0" algn="l">
              <a:spcBef>
                <a:spcPts val="0"/>
              </a:spcBef>
              <a:spcAft>
                <a:spcPts val="0"/>
              </a:spcAft>
              <a:buSzPts val="2400"/>
              <a:buChar char="○"/>
            </a:pPr>
            <a:r>
              <a:rPr lang="en-US"/>
              <a:t>PUT: for updating a data</a:t>
            </a:r>
            <a:endParaRPr/>
          </a:p>
          <a:p>
            <a:pPr indent="-381000" lvl="1" marL="914400" rtl="0" algn="l">
              <a:spcBef>
                <a:spcPts val="0"/>
              </a:spcBef>
              <a:spcAft>
                <a:spcPts val="0"/>
              </a:spcAft>
              <a:buSzPts val="2400"/>
              <a:buChar char="○"/>
            </a:pPr>
            <a:r>
              <a:rPr lang="en-US"/>
              <a:t>DELETE: for removing a data</a:t>
            </a:r>
            <a:endParaRPr/>
          </a:p>
          <a:p>
            <a:pPr indent="-393700" lvl="0" marL="457200" rtl="0" algn="l">
              <a:spcBef>
                <a:spcPts val="0"/>
              </a:spcBef>
              <a:spcAft>
                <a:spcPts val="0"/>
              </a:spcAft>
              <a:buSzPts val="2600"/>
              <a:buFont typeface="Calibri"/>
              <a:buChar char="●"/>
            </a:pPr>
            <a:r>
              <a:rPr lang="en-US" sz="2600"/>
              <a:t>Communicates with both Model and View</a:t>
            </a:r>
            <a:endParaRPr sz="2600"/>
          </a:p>
          <a:p>
            <a:pPr indent="-393700" lvl="0" marL="457200" rtl="0" algn="l">
              <a:spcBef>
                <a:spcPts val="0"/>
              </a:spcBef>
              <a:spcAft>
                <a:spcPts val="0"/>
              </a:spcAft>
              <a:buSzPts val="2600"/>
              <a:buFont typeface="Calibri"/>
              <a:buChar char="●"/>
            </a:pPr>
            <a:r>
              <a:rPr lang="en-US" sz="2600"/>
              <a:t>Contains all server side logic</a:t>
            </a:r>
            <a:endParaRPr sz="2600"/>
          </a:p>
          <a:p>
            <a:pPr indent="-393700" lvl="0" marL="457200" rtl="0" algn="l">
              <a:spcBef>
                <a:spcPts val="0"/>
              </a:spcBef>
              <a:spcAft>
                <a:spcPts val="0"/>
              </a:spcAft>
              <a:buSzPts val="2600"/>
              <a:buFont typeface="Calibri"/>
              <a:buChar char="●"/>
            </a:pPr>
            <a:r>
              <a:rPr lang="en-US" sz="2600"/>
              <a:t>In the example – ProductController, UserController, AccountController etc.</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Model</a:t>
            </a:r>
            <a:endParaRPr sz="3300">
              <a:latin typeface="Lexend"/>
              <a:ea typeface="Lexend"/>
              <a:cs typeface="Lexend"/>
              <a:sym typeface="Lexend"/>
            </a:endParaRPr>
          </a:p>
        </p:txBody>
      </p:sp>
      <p:sp>
        <p:nvSpPr>
          <p:cNvPr id="139" name="Google Shape;139;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It refers to the Data Related Logic</a:t>
            </a:r>
            <a:endParaRPr sz="2600"/>
          </a:p>
          <a:p>
            <a:pPr indent="-393700" lvl="0" marL="457200" rtl="0" algn="l">
              <a:spcBef>
                <a:spcPts val="0"/>
              </a:spcBef>
              <a:spcAft>
                <a:spcPts val="0"/>
              </a:spcAft>
              <a:buSzPts val="2600"/>
              <a:buFont typeface="Calibri"/>
              <a:buChar char="•"/>
            </a:pPr>
            <a:r>
              <a:rPr lang="en-US" sz="2600"/>
              <a:t>Interaction with database (such as SELECT, INSERT, UPDATE, DELETE)</a:t>
            </a:r>
            <a:endParaRPr sz="2600"/>
          </a:p>
          <a:p>
            <a:pPr indent="-393700" lvl="0" marL="457200" rtl="0" algn="l">
              <a:spcBef>
                <a:spcPts val="0"/>
              </a:spcBef>
              <a:spcAft>
                <a:spcPts val="0"/>
              </a:spcAft>
              <a:buSzPts val="2600"/>
              <a:buFont typeface="Calibri"/>
              <a:buChar char="•"/>
            </a:pPr>
            <a:r>
              <a:rPr lang="en-US" sz="2600"/>
              <a:t>It communicates with the controllers</a:t>
            </a:r>
            <a:endParaRPr sz="2600"/>
          </a:p>
          <a:p>
            <a:pPr indent="-393700" lvl="0" marL="457200" rtl="0" algn="l">
              <a:spcBef>
                <a:spcPts val="0"/>
              </a:spcBef>
              <a:spcAft>
                <a:spcPts val="0"/>
              </a:spcAft>
              <a:buSzPts val="2600"/>
              <a:buFont typeface="Calibri"/>
              <a:buChar char="•"/>
            </a:pPr>
            <a:r>
              <a:rPr lang="en-US" sz="2600"/>
              <a:t>Can sometimes update or collaborate with the view (Depends on framework)</a:t>
            </a:r>
            <a:endParaRPr sz="2600"/>
          </a:p>
          <a:p>
            <a:pPr indent="-393700" lvl="0" marL="457200" rtl="0" algn="l">
              <a:spcBef>
                <a:spcPts val="0"/>
              </a:spcBef>
              <a:spcAft>
                <a:spcPts val="0"/>
              </a:spcAft>
              <a:buSzPts val="2600"/>
              <a:buFont typeface="Calibri"/>
              <a:buChar char="•"/>
            </a:pPr>
            <a:r>
              <a:rPr lang="en-US" sz="2600"/>
              <a:t>In the example – Product, User, Transaction, Cart etc are model classes.</a:t>
            </a:r>
            <a:endParaRPr sz="2600"/>
          </a:p>
          <a:p>
            <a:pPr indent="0" lvl="0" marL="457200" rtl="0" algn="l">
              <a:spcBef>
                <a:spcPts val="1000"/>
              </a:spcBef>
              <a:spcAft>
                <a:spcPts val="0"/>
              </a:spcAft>
              <a:buNone/>
            </a:pPr>
            <a:r>
              <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View</a:t>
            </a:r>
            <a:endParaRPr sz="3300">
              <a:latin typeface="Lexend"/>
              <a:ea typeface="Lexend"/>
              <a:cs typeface="Lexend"/>
              <a:sym typeface="Lexend"/>
            </a:endParaRPr>
          </a:p>
        </p:txBody>
      </p:sp>
      <p:sp>
        <p:nvSpPr>
          <p:cNvPr id="145" name="Google Shape;145;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What the end users see (UI)</a:t>
            </a:r>
            <a:endParaRPr sz="2600"/>
          </a:p>
          <a:p>
            <a:pPr indent="-393700" lvl="0" marL="457200" rtl="0" algn="l">
              <a:spcBef>
                <a:spcPts val="0"/>
              </a:spcBef>
              <a:spcAft>
                <a:spcPts val="0"/>
              </a:spcAft>
              <a:buSzPts val="2600"/>
              <a:buFont typeface="Calibri"/>
              <a:buChar char="•"/>
            </a:pPr>
            <a:r>
              <a:rPr lang="en-US" sz="2600"/>
              <a:t>Usually Consists of html/css</a:t>
            </a:r>
            <a:endParaRPr sz="2600"/>
          </a:p>
          <a:p>
            <a:pPr indent="-393700" lvl="0" marL="457200" rtl="0" algn="l">
              <a:spcBef>
                <a:spcPts val="0"/>
              </a:spcBef>
              <a:spcAft>
                <a:spcPts val="0"/>
              </a:spcAft>
              <a:buSzPts val="2600"/>
              <a:buFont typeface="Calibri"/>
              <a:buChar char="•"/>
            </a:pPr>
            <a:r>
              <a:rPr lang="en-US" sz="2600"/>
              <a:t>Communicates with the controller</a:t>
            </a:r>
            <a:endParaRPr sz="2600"/>
          </a:p>
          <a:p>
            <a:pPr indent="-393700" lvl="0" marL="457200" rtl="0" algn="l">
              <a:spcBef>
                <a:spcPts val="0"/>
              </a:spcBef>
              <a:spcAft>
                <a:spcPts val="0"/>
              </a:spcAft>
              <a:buSzPts val="2600"/>
              <a:buFont typeface="Calibri"/>
              <a:buChar char="•"/>
            </a:pPr>
            <a:r>
              <a:rPr lang="en-US" sz="2600"/>
              <a:t>While coding are passed as dynamic values from the controller</a:t>
            </a:r>
            <a:endParaRPr sz="2600"/>
          </a:p>
          <a:p>
            <a:pPr indent="-393700" lvl="0" marL="457200" rtl="0" algn="l">
              <a:spcBef>
                <a:spcPts val="0"/>
              </a:spcBef>
              <a:spcAft>
                <a:spcPts val="0"/>
              </a:spcAft>
              <a:buSzPts val="2600"/>
              <a:buFont typeface="Calibri"/>
              <a:buChar char="•"/>
            </a:pPr>
            <a:r>
              <a:rPr lang="en-US" sz="2600"/>
              <a:t>A controller can have multiple associated views.</a:t>
            </a:r>
            <a:endParaRPr sz="2600"/>
          </a:p>
          <a:p>
            <a:pPr indent="-393700" lvl="0" marL="457200" rtl="0" algn="l">
              <a:spcBef>
                <a:spcPts val="0"/>
              </a:spcBef>
              <a:spcAft>
                <a:spcPts val="0"/>
              </a:spcAft>
              <a:buSzPts val="2600"/>
              <a:buFont typeface="Calibri"/>
              <a:buChar char="•"/>
            </a:pPr>
            <a:r>
              <a:rPr lang="en-US" sz="2600"/>
              <a:t>In the example – product.html, user.html to view a html file</a:t>
            </a:r>
            <a:endParaRPr sz="2600"/>
          </a:p>
          <a:p>
            <a:pPr indent="0" lvl="0" marL="0" rtl="0" algn="l">
              <a:spcBef>
                <a:spcPts val="1000"/>
              </a:spcBef>
              <a:spcAft>
                <a:spcPts val="0"/>
              </a:spcAft>
              <a:buNone/>
            </a:pPr>
            <a:r>
              <a:t/>
            </a:r>
            <a:endParaRPr sz="2600"/>
          </a:p>
          <a:p>
            <a:pPr indent="0" lvl="0" marL="0" rtl="0" algn="l">
              <a:spcBef>
                <a:spcPts val="1000"/>
              </a:spcBef>
              <a:spcAft>
                <a:spcPts val="0"/>
              </a:spcAft>
              <a:buNone/>
            </a:pPr>
            <a:r>
              <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Steps</a:t>
            </a:r>
            <a:endParaRPr sz="3300">
              <a:latin typeface="Lexend"/>
              <a:ea typeface="Lexend"/>
              <a:cs typeface="Lexend"/>
              <a:sym typeface="Lexend"/>
            </a:endParaRPr>
          </a:p>
        </p:txBody>
      </p:sp>
      <p:pic>
        <p:nvPicPr>
          <p:cNvPr id="151" name="Google Shape;151;p20"/>
          <p:cNvPicPr preferRelativeResize="0"/>
          <p:nvPr>
            <p:ph idx="1" type="body"/>
          </p:nvPr>
        </p:nvPicPr>
        <p:blipFill rotWithShape="1">
          <a:blip r:embed="rId3">
            <a:alphaModFix/>
          </a:blip>
          <a:srcRect b="0" l="0" r="0" t="0"/>
          <a:stretch/>
        </p:blipFill>
        <p:spPr>
          <a:xfrm>
            <a:off x="1892713" y="4721100"/>
            <a:ext cx="1524000" cy="1485900"/>
          </a:xfrm>
          <a:prstGeom prst="rect">
            <a:avLst/>
          </a:prstGeom>
          <a:noFill/>
          <a:ln>
            <a:noFill/>
          </a:ln>
        </p:spPr>
      </p:pic>
      <p:sp>
        <p:nvSpPr>
          <p:cNvPr id="152" name="Google Shape;152;p20"/>
          <p:cNvSpPr/>
          <p:nvPr/>
        </p:nvSpPr>
        <p:spPr>
          <a:xfrm>
            <a:off x="6236113" y="4873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Controller</a:t>
            </a:r>
            <a:endParaRPr b="0" i="0" sz="1800" u="none" cap="none" strike="noStrike">
              <a:solidFill>
                <a:srgbClr val="000000"/>
              </a:solidFill>
              <a:latin typeface="Gill Sans"/>
              <a:ea typeface="Gill Sans"/>
              <a:cs typeface="Gill Sans"/>
              <a:sym typeface="Gill Sans"/>
            </a:endParaRPr>
          </a:p>
        </p:txBody>
      </p:sp>
      <p:sp>
        <p:nvSpPr>
          <p:cNvPr id="153" name="Google Shape;153;p20"/>
          <p:cNvSpPr/>
          <p:nvPr/>
        </p:nvSpPr>
        <p:spPr>
          <a:xfrm>
            <a:off x="3669582" y="14445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Model</a:t>
            </a:r>
            <a:endParaRPr b="0" i="0" sz="1800" u="none" cap="none" strike="noStrike">
              <a:solidFill>
                <a:srgbClr val="000000"/>
              </a:solidFill>
              <a:latin typeface="Gill Sans"/>
              <a:ea typeface="Gill Sans"/>
              <a:cs typeface="Gill Sans"/>
              <a:sym typeface="Gill Sans"/>
            </a:endParaRPr>
          </a:p>
        </p:txBody>
      </p:sp>
      <p:sp>
        <p:nvSpPr>
          <p:cNvPr id="154" name="Google Shape;154;p20"/>
          <p:cNvSpPr/>
          <p:nvPr/>
        </p:nvSpPr>
        <p:spPr>
          <a:xfrm>
            <a:off x="8313346" y="14319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49849" scaled="0"/>
          </a:gradFill>
          <a:ln cap="flat" cmpd="sng" w="9525">
            <a:solidFill>
              <a:srgbClr val="809EC2"/>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View</a:t>
            </a:r>
            <a:endParaRPr b="0" i="0" sz="1800" u="none" cap="none" strike="noStrike">
              <a:solidFill>
                <a:srgbClr val="000000"/>
              </a:solidFill>
              <a:latin typeface="Gill Sans"/>
              <a:ea typeface="Gill Sans"/>
              <a:cs typeface="Gill Sans"/>
              <a:sym typeface="Gill Sans"/>
            </a:endParaRPr>
          </a:p>
        </p:txBody>
      </p:sp>
      <p:cxnSp>
        <p:nvCxnSpPr>
          <p:cNvPr id="155" name="Google Shape;155;p20"/>
          <p:cNvCxnSpPr/>
          <p:nvPr/>
        </p:nvCxnSpPr>
        <p:spPr>
          <a:xfrm>
            <a:off x="3492913" y="51783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56" name="Google Shape;156;p20"/>
          <p:cNvSpPr txBox="1"/>
          <p:nvPr/>
        </p:nvSpPr>
        <p:spPr>
          <a:xfrm>
            <a:off x="3437393" y="4656568"/>
            <a:ext cx="26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 Request: Get a product</a:t>
            </a:r>
            <a:endParaRPr b="0" i="0" sz="1800" u="none" cap="none" strike="noStrike">
              <a:solidFill>
                <a:srgbClr val="000000"/>
              </a:solidFill>
              <a:latin typeface="Gill Sans"/>
              <a:ea typeface="Gill Sans"/>
              <a:cs typeface="Gill Sans"/>
              <a:sym typeface="Gill Sans"/>
            </a:endParaRPr>
          </a:p>
        </p:txBody>
      </p:sp>
      <p:cxnSp>
        <p:nvCxnSpPr>
          <p:cNvPr id="157" name="Google Shape;157;p20"/>
          <p:cNvCxnSpPr/>
          <p:nvPr/>
        </p:nvCxnSpPr>
        <p:spPr>
          <a:xfrm rot="10800000">
            <a:off x="4818890" y="2624534"/>
            <a:ext cx="1976100" cy="2216700"/>
          </a:xfrm>
          <a:prstGeom prst="straightConnector1">
            <a:avLst/>
          </a:prstGeom>
          <a:noFill/>
          <a:ln cap="flat" cmpd="sng" w="44450">
            <a:solidFill>
              <a:srgbClr val="000000"/>
            </a:solidFill>
            <a:prstDash val="solid"/>
            <a:round/>
            <a:headEnd len="sm" w="sm" type="none"/>
            <a:tailEnd len="med" w="med" type="stealth"/>
          </a:ln>
        </p:spPr>
      </p:cxnSp>
      <p:sp>
        <p:nvSpPr>
          <p:cNvPr id="158" name="Google Shape;158;p20"/>
          <p:cNvSpPr txBox="1"/>
          <p:nvPr/>
        </p:nvSpPr>
        <p:spPr>
          <a:xfrm rot="2977198">
            <a:off x="5082685" y="3511891"/>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[2] Get the product data from DB</a:t>
            </a:r>
            <a:endParaRPr b="0" i="0" sz="1800" u="none" cap="none" strike="noStrike">
              <a:solidFill>
                <a:srgbClr val="000000"/>
              </a:solidFill>
              <a:latin typeface="Gill Sans"/>
              <a:ea typeface="Gill Sans"/>
              <a:cs typeface="Gill Sans"/>
              <a:sym typeface="Gill Sans"/>
            </a:endParaRPr>
          </a:p>
        </p:txBody>
      </p:sp>
      <p:cxnSp>
        <p:nvCxnSpPr>
          <p:cNvPr id="159" name="Google Shape;159;p20"/>
          <p:cNvCxnSpPr/>
          <p:nvPr/>
        </p:nvCxnSpPr>
        <p:spPr>
          <a:xfrm>
            <a:off x="4483513" y="2624559"/>
            <a:ext cx="1930500" cy="2248800"/>
          </a:xfrm>
          <a:prstGeom prst="straightConnector1">
            <a:avLst/>
          </a:prstGeom>
          <a:noFill/>
          <a:ln cap="flat" cmpd="sng" w="44450">
            <a:solidFill>
              <a:srgbClr val="000000"/>
            </a:solidFill>
            <a:prstDash val="solid"/>
            <a:round/>
            <a:headEnd len="sm" w="sm" type="none"/>
            <a:tailEnd len="med" w="med" type="stealth"/>
          </a:ln>
        </p:spPr>
      </p:cxnSp>
      <p:sp>
        <p:nvSpPr>
          <p:cNvPr id="160" name="Google Shape;160;p20"/>
          <p:cNvSpPr txBox="1"/>
          <p:nvPr/>
        </p:nvSpPr>
        <p:spPr>
          <a:xfrm rot="2977198">
            <a:off x="3743784" y="3664289"/>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[3] Fetch the data and return to controller</a:t>
            </a:r>
            <a:endParaRPr b="0" i="0" sz="1800" u="none" cap="none" strike="noStrike">
              <a:solidFill>
                <a:srgbClr val="000000"/>
              </a:solidFill>
              <a:latin typeface="Gill Sans"/>
              <a:ea typeface="Gill Sans"/>
              <a:cs typeface="Gill Sans"/>
              <a:sym typeface="Gill Sans"/>
            </a:endParaRPr>
          </a:p>
        </p:txBody>
      </p:sp>
      <p:cxnSp>
        <p:nvCxnSpPr>
          <p:cNvPr id="161" name="Google Shape;161;p20"/>
          <p:cNvCxnSpPr/>
          <p:nvPr/>
        </p:nvCxnSpPr>
        <p:spPr>
          <a:xfrm flipH="1" rot="10800000">
            <a:off x="7522683" y="2611484"/>
            <a:ext cx="1676400" cy="2216700"/>
          </a:xfrm>
          <a:prstGeom prst="straightConnector1">
            <a:avLst/>
          </a:prstGeom>
          <a:noFill/>
          <a:ln cap="flat" cmpd="sng" w="44450">
            <a:solidFill>
              <a:srgbClr val="000000"/>
            </a:solidFill>
            <a:prstDash val="solid"/>
            <a:round/>
            <a:headEnd len="sm" w="sm" type="none"/>
            <a:tailEnd len="med" w="med" type="stealth"/>
          </a:ln>
        </p:spPr>
      </p:cxnSp>
      <p:sp>
        <p:nvSpPr>
          <p:cNvPr id="162" name="Google Shape;162;p20"/>
          <p:cNvSpPr txBox="1"/>
          <p:nvPr/>
        </p:nvSpPr>
        <p:spPr>
          <a:xfrm rot="-3071781">
            <a:off x="6947178" y="3070932"/>
            <a:ext cx="2332869" cy="646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[4] Get Presentation of the product data</a:t>
            </a:r>
            <a:endParaRPr b="0" i="0" sz="1800" u="none" cap="none" strike="noStrike">
              <a:solidFill>
                <a:srgbClr val="000000"/>
              </a:solidFill>
              <a:latin typeface="Gill Sans"/>
              <a:ea typeface="Gill Sans"/>
              <a:cs typeface="Gill Sans"/>
              <a:sym typeface="Gill Sans"/>
            </a:endParaRPr>
          </a:p>
        </p:txBody>
      </p:sp>
      <p:sp>
        <p:nvSpPr>
          <p:cNvPr id="163" name="Google Shape;163;p20"/>
          <p:cNvSpPr txBox="1"/>
          <p:nvPr/>
        </p:nvSpPr>
        <p:spPr>
          <a:xfrm rot="-3189928">
            <a:off x="8063935" y="3413291"/>
            <a:ext cx="2332920" cy="923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[5] Returns the presentation with dynamic rendering</a:t>
            </a:r>
            <a:endParaRPr b="0" i="0" sz="1800" u="none" cap="none" strike="noStrike">
              <a:solidFill>
                <a:srgbClr val="000000"/>
              </a:solidFill>
              <a:latin typeface="Gill Sans"/>
              <a:ea typeface="Gill Sans"/>
              <a:cs typeface="Gill Sans"/>
              <a:sym typeface="Gill Sans"/>
            </a:endParaRPr>
          </a:p>
        </p:txBody>
      </p:sp>
      <p:sp>
        <p:nvSpPr>
          <p:cNvPr id="164" name="Google Shape;164;p20"/>
          <p:cNvSpPr txBox="1"/>
          <p:nvPr/>
        </p:nvSpPr>
        <p:spPr>
          <a:xfrm>
            <a:off x="3524257" y="5518405"/>
            <a:ext cx="2528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[6] Returns the response</a:t>
            </a:r>
            <a:endParaRPr b="0" i="0" sz="1800" u="none" cap="none" strike="noStrike">
              <a:solidFill>
                <a:srgbClr val="000000"/>
              </a:solidFill>
              <a:latin typeface="Gill Sans"/>
              <a:ea typeface="Gill Sans"/>
              <a:cs typeface="Gill Sans"/>
              <a:sym typeface="Gill Sans"/>
            </a:endParaRPr>
          </a:p>
        </p:txBody>
      </p:sp>
      <p:cxnSp>
        <p:nvCxnSpPr>
          <p:cNvPr id="165" name="Google Shape;165;p20"/>
          <p:cNvCxnSpPr>
            <a:stCxn id="152" idx="1"/>
          </p:cNvCxnSpPr>
          <p:nvPr/>
        </p:nvCxnSpPr>
        <p:spPr>
          <a:xfrm rot="10800000">
            <a:off x="3492913" y="5445000"/>
            <a:ext cx="2743200" cy="0"/>
          </a:xfrm>
          <a:prstGeom prst="straightConnector1">
            <a:avLst/>
          </a:prstGeom>
          <a:noFill/>
          <a:ln cap="flat" cmpd="sng" w="44450">
            <a:solidFill>
              <a:srgbClr val="000000"/>
            </a:solidFill>
            <a:prstDash val="solid"/>
            <a:round/>
            <a:headEnd len="sm" w="sm" type="none"/>
            <a:tailEnd len="med" w="med" type="stealth"/>
          </a:ln>
        </p:spPr>
      </p:cxnSp>
      <p:sp>
        <p:nvSpPr>
          <p:cNvPr id="166" name="Google Shape;166;p20"/>
          <p:cNvSpPr/>
          <p:nvPr/>
        </p:nvSpPr>
        <p:spPr>
          <a:xfrm>
            <a:off x="9566353" y="4873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49849" scaled="0"/>
          </a:gradFill>
          <a:ln cap="flat" cmpd="sng" w="9525">
            <a:solidFill>
              <a:srgbClr val="9C85C0"/>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Routes</a:t>
            </a:r>
            <a:endParaRPr b="0" i="0" sz="1800" u="none" cap="none" strike="noStrike">
              <a:solidFill>
                <a:srgbClr val="000000"/>
              </a:solidFill>
              <a:latin typeface="Gill Sans"/>
              <a:ea typeface="Gill Sans"/>
              <a:cs typeface="Gill Sans"/>
              <a:sym typeface="Gill Sans"/>
            </a:endParaRPr>
          </a:p>
        </p:txBody>
      </p:sp>
      <p:cxnSp>
        <p:nvCxnSpPr>
          <p:cNvPr id="167" name="Google Shape;167;p20"/>
          <p:cNvCxnSpPr/>
          <p:nvPr/>
        </p:nvCxnSpPr>
        <p:spPr>
          <a:xfrm flipH="1">
            <a:off x="7836313" y="2624559"/>
            <a:ext cx="1676400" cy="2248800"/>
          </a:xfrm>
          <a:prstGeom prst="straightConnector1">
            <a:avLst/>
          </a:prstGeom>
          <a:noFill/>
          <a:ln cap="flat" cmpd="sng" w="44450">
            <a:solidFill>
              <a:srgbClr val="000000"/>
            </a:solidFill>
            <a:prstDash val="solid"/>
            <a:round/>
            <a:headEnd len="sm" w="sm"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Routes</a:t>
            </a:r>
            <a:endParaRPr sz="3300">
              <a:latin typeface="Lexend"/>
              <a:ea typeface="Lexend"/>
              <a:cs typeface="Lexend"/>
              <a:sym typeface="Lexend"/>
            </a:endParaRPr>
          </a:p>
        </p:txBody>
      </p:sp>
      <p:sp>
        <p:nvSpPr>
          <p:cNvPr id="173" name="Google Shape;173;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Font typeface="Calibri"/>
              <a:buChar char="•"/>
            </a:pPr>
            <a:r>
              <a:rPr lang="en-US" sz="2600"/>
              <a:t>Are urls to access a resource kept under App_Start folder</a:t>
            </a:r>
            <a:endParaRPr sz="2600"/>
          </a:p>
          <a:p>
            <a:pPr indent="-393700" lvl="0" marL="457200" rtl="0" algn="l">
              <a:spcBef>
                <a:spcPts val="0"/>
              </a:spcBef>
              <a:spcAft>
                <a:spcPts val="0"/>
              </a:spcAft>
              <a:buSzPts val="2600"/>
              <a:buFont typeface="Calibri"/>
              <a:buChar char="•"/>
            </a:pPr>
            <a:r>
              <a:rPr lang="en-US" sz="2600"/>
              <a:t>General structure - http://domainName/{controller}/{action}/{id}</a:t>
            </a:r>
            <a:endParaRPr sz="2600"/>
          </a:p>
          <a:p>
            <a:pPr indent="-393700" lvl="0" marL="457200" rtl="0" algn="l">
              <a:spcBef>
                <a:spcPts val="0"/>
              </a:spcBef>
              <a:spcAft>
                <a:spcPts val="0"/>
              </a:spcAft>
              <a:buSzPts val="2600"/>
              <a:buFont typeface="Calibri"/>
              <a:buChar char="•"/>
            </a:pPr>
            <a:r>
              <a:rPr lang="en-US" sz="2600"/>
              <a:t> http://YourApp.com/Users/Profile/25</a:t>
            </a:r>
            <a:endParaRPr sz="2600"/>
          </a:p>
          <a:p>
            <a:pPr indent="0" lvl="0" marL="0" rtl="0" algn="l">
              <a:spcBef>
                <a:spcPts val="1000"/>
              </a:spcBef>
              <a:spcAft>
                <a:spcPts val="0"/>
              </a:spcAft>
              <a:buNone/>
            </a:pPr>
            <a:r>
              <a:t/>
            </a:r>
            <a:endParaRPr sz="2600"/>
          </a:p>
        </p:txBody>
      </p:sp>
      <p:pic>
        <p:nvPicPr>
          <p:cNvPr id="174" name="Google Shape;174;p21"/>
          <p:cNvPicPr preferRelativeResize="0"/>
          <p:nvPr/>
        </p:nvPicPr>
        <p:blipFill rotWithShape="1">
          <a:blip r:embed="rId3">
            <a:alphaModFix/>
          </a:blip>
          <a:srcRect b="0" l="0" r="0" t="0"/>
          <a:stretch/>
        </p:blipFill>
        <p:spPr>
          <a:xfrm>
            <a:off x="2736950" y="3058975"/>
            <a:ext cx="6718100" cy="318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Folder Structure</a:t>
            </a:r>
            <a:endParaRPr sz="3300">
              <a:latin typeface="Lexend"/>
              <a:ea typeface="Lexend"/>
              <a:cs typeface="Lexend"/>
              <a:sym typeface="Lexend"/>
            </a:endParaRPr>
          </a:p>
        </p:txBody>
      </p:sp>
      <p:pic>
        <p:nvPicPr>
          <p:cNvPr id="180" name="Google Shape;180;p22"/>
          <p:cNvPicPr preferRelativeResize="0"/>
          <p:nvPr>
            <p:ph idx="1" type="body"/>
          </p:nvPr>
        </p:nvPicPr>
        <p:blipFill rotWithShape="1">
          <a:blip r:embed="rId3">
            <a:alphaModFix/>
          </a:blip>
          <a:srcRect b="0" l="0" r="0" t="0"/>
          <a:stretch/>
        </p:blipFill>
        <p:spPr>
          <a:xfrm>
            <a:off x="4114800" y="1296075"/>
            <a:ext cx="3962400" cy="5153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MVC Code Structure</a:t>
            </a:r>
            <a:endParaRPr sz="3300">
              <a:latin typeface="Lexend"/>
              <a:ea typeface="Lexend"/>
              <a:cs typeface="Lexend"/>
              <a:sym typeface="Lexend"/>
            </a:endParaRPr>
          </a:p>
        </p:txBody>
      </p:sp>
      <p:pic>
        <p:nvPicPr>
          <p:cNvPr id="186" name="Google Shape;186;p23"/>
          <p:cNvPicPr preferRelativeResize="0"/>
          <p:nvPr>
            <p:ph idx="1" type="body"/>
          </p:nvPr>
        </p:nvPicPr>
        <p:blipFill rotWithShape="1">
          <a:blip r:embed="rId3">
            <a:alphaModFix/>
          </a:blip>
          <a:srcRect b="0" l="0" r="0" t="0"/>
          <a:stretch/>
        </p:blipFill>
        <p:spPr>
          <a:xfrm>
            <a:off x="1905000" y="1690825"/>
            <a:ext cx="8382000" cy="471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24"/>
          <p:cNvSpPr/>
          <p:nvPr/>
        </p:nvSpPr>
        <p:spPr>
          <a:xfrm>
            <a:off x="670560" y="1341120"/>
            <a:ext cx="10850880" cy="3779520"/>
          </a:xfrm>
          <a:prstGeom prst="roundRect">
            <a:avLst>
              <a:gd fmla="val 6452" name="adj"/>
            </a:avLst>
          </a:prstGeom>
          <a:solidFill>
            <a:srgbClr val="FFFFFF">
              <a:alpha val="10196"/>
            </a:srgbClr>
          </a:solidFill>
          <a:ln cap="flat" cmpd="sng" w="12700">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193" name="Google Shape;193;p24"/>
          <p:cNvSpPr/>
          <p:nvPr/>
        </p:nvSpPr>
        <p:spPr>
          <a:xfrm>
            <a:off x="670560" y="1706880"/>
            <a:ext cx="10850880" cy="1219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5100"/>
              <a:buFont typeface="Calibri"/>
              <a:buNone/>
            </a:pPr>
            <a:r>
              <a:rPr b="1" i="0" lang="en-US" sz="5100" u="none" cap="none" strike="noStrike">
                <a:solidFill>
                  <a:schemeClr val="dk1"/>
                </a:solidFill>
                <a:latin typeface="Calibri"/>
                <a:ea typeface="Calibri"/>
                <a:cs typeface="Calibri"/>
                <a:sym typeface="Calibri"/>
              </a:rPr>
              <a:t>MVC Architecture</a:t>
            </a:r>
            <a:endParaRPr b="0" i="0" sz="5100" u="none" cap="none" strike="noStrike">
              <a:solidFill>
                <a:schemeClr val="dk1"/>
              </a:solidFill>
              <a:latin typeface="Calibri"/>
              <a:ea typeface="Calibri"/>
              <a:cs typeface="Calibri"/>
              <a:sym typeface="Calibri"/>
            </a:endParaRPr>
          </a:p>
        </p:txBody>
      </p:sp>
      <p:sp>
        <p:nvSpPr>
          <p:cNvPr id="194" name="Google Shape;194;p24"/>
          <p:cNvSpPr/>
          <p:nvPr/>
        </p:nvSpPr>
        <p:spPr>
          <a:xfrm>
            <a:off x="670560" y="2974848"/>
            <a:ext cx="10850880" cy="755904"/>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CADCFC"/>
              </a:buClr>
              <a:buSzPts val="2700"/>
              <a:buFont typeface="Calibri"/>
              <a:buNone/>
            </a:pPr>
            <a:r>
              <a:rPr b="0" i="0" lang="en-US" sz="2700" u="none" cap="none" strike="noStrike">
                <a:solidFill>
                  <a:schemeClr val="dk1"/>
                </a:solidFill>
                <a:latin typeface="Calibri"/>
                <a:ea typeface="Calibri"/>
                <a:cs typeface="Calibri"/>
                <a:sym typeface="Calibri"/>
              </a:rPr>
              <a:t>Request Flow — Student Record Lookup</a:t>
            </a:r>
            <a:endParaRPr b="0" i="0" sz="2700" u="none" cap="none" strike="noStrike">
              <a:solidFill>
                <a:schemeClr val="dk1"/>
              </a:solidFill>
              <a:latin typeface="Calibri"/>
              <a:ea typeface="Calibri"/>
              <a:cs typeface="Calibri"/>
              <a:sym typeface="Calibri"/>
            </a:endParaRPr>
          </a:p>
        </p:txBody>
      </p:sp>
      <p:sp>
        <p:nvSpPr>
          <p:cNvPr id="195" name="Google Shape;195;p24"/>
          <p:cNvSpPr/>
          <p:nvPr/>
        </p:nvSpPr>
        <p:spPr>
          <a:xfrm>
            <a:off x="670560" y="5547360"/>
            <a:ext cx="10850880" cy="487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500"/>
              <a:buFont typeface="Calibri"/>
              <a:buNone/>
            </a:pPr>
            <a:r>
              <a:rPr b="1" i="0" lang="en-US" sz="1500" u="none" cap="none" strike="noStrike">
                <a:solidFill>
                  <a:schemeClr val="dk1"/>
                </a:solidFill>
                <a:latin typeface="Calibri"/>
                <a:ea typeface="Calibri"/>
                <a:cs typeface="Calibri"/>
                <a:sym typeface="Calibri"/>
              </a:rPr>
              <a:t>Browser</a:t>
            </a:r>
            <a:r>
              <a:rPr b="0" i="0" lang="en-US" sz="1500" u="none" cap="none" strike="noStrike">
                <a:solidFill>
                  <a:schemeClr val="dk1"/>
                </a:solidFill>
                <a:latin typeface="Calibri"/>
                <a:ea typeface="Calibri"/>
                <a:cs typeface="Calibri"/>
                <a:sym typeface="Calibri"/>
              </a:rPr>
              <a:t> → Router → Controller → Model → Database  |  Database → Model → Controller → View → Browser</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200" name="Shape 200"/>
        <p:cNvGrpSpPr/>
        <p:nvPr/>
      </p:nvGrpSpPr>
      <p:grpSpPr>
        <a:xfrm>
          <a:off x="0" y="0"/>
          <a:ext cx="0" cy="0"/>
          <a:chOff x="0" y="0"/>
          <a:chExt cx="0" cy="0"/>
        </a:xfrm>
      </p:grpSpPr>
      <p:sp>
        <p:nvSpPr>
          <p:cNvPr id="201" name="Google Shape;201;p25"/>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 name="Google Shape;202;p25"/>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 name="Google Shape;203;p25"/>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1/10</a:t>
            </a:r>
            <a:endParaRPr sz="1500">
              <a:solidFill>
                <a:schemeClr val="dk1"/>
              </a:solidFill>
              <a:latin typeface="Calibri"/>
              <a:ea typeface="Calibri"/>
              <a:cs typeface="Calibri"/>
              <a:sym typeface="Calibri"/>
            </a:endParaRPr>
          </a:p>
        </p:txBody>
      </p:sp>
      <p:sp>
        <p:nvSpPr>
          <p:cNvPr id="204" name="Google Shape;204;p25"/>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Browser sends GET /students/2021-CSE-047</a:t>
            </a:r>
            <a:endParaRPr sz="2900">
              <a:solidFill>
                <a:schemeClr val="dk1"/>
              </a:solidFill>
              <a:latin typeface="Calibri"/>
              <a:ea typeface="Calibri"/>
              <a:cs typeface="Calibri"/>
              <a:sym typeface="Calibri"/>
            </a:endParaRPr>
          </a:p>
        </p:txBody>
      </p:sp>
      <p:sp>
        <p:nvSpPr>
          <p:cNvPr id="205" name="Google Shape;205;p25"/>
          <p:cNvSpPr/>
          <p:nvPr/>
        </p:nvSpPr>
        <p:spPr>
          <a:xfrm>
            <a:off x="4511040"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 name="Google Shape;206;p25"/>
          <p:cNvSpPr/>
          <p:nvPr/>
        </p:nvSpPr>
        <p:spPr>
          <a:xfrm>
            <a:off x="485241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7" name="Google Shape;207;p25"/>
          <p:cNvSpPr/>
          <p:nvPr/>
        </p:nvSpPr>
        <p:spPr>
          <a:xfrm>
            <a:off x="516940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8" name="Google Shape;208;p25"/>
          <p:cNvSpPr/>
          <p:nvPr/>
        </p:nvSpPr>
        <p:spPr>
          <a:xfrm>
            <a:off x="548640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9" name="Google Shape;209;p25"/>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p25"/>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1" name="Google Shape;211;p25"/>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2" name="Google Shape;212;p25"/>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3" name="Google Shape;213;p25"/>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4" name="Google Shape;214;p25"/>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5" name="Google Shape;215;p25"/>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216" name="Google Shape;216;p25"/>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217" name="Google Shape;217;p25"/>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18" name="Google Shape;218;p25"/>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19" name="Google Shape;219;p25"/>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220" name="Google Shape;220;p25"/>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21" name="Google Shape;221;p25"/>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22" name="Google Shape;222;p25"/>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223" name="Google Shape;223;p25"/>
          <p:cNvSpPr/>
          <p:nvPr/>
        </p:nvSpPr>
        <p:spPr>
          <a:xfrm>
            <a:off x="463296" y="1609344"/>
            <a:ext cx="3108960" cy="1584960"/>
          </a:xfrm>
          <a:prstGeom prst="roundRect">
            <a:avLst>
              <a:gd fmla="val 10769" name="adj"/>
            </a:avLst>
          </a:prstGeom>
          <a:solidFill>
            <a:srgbClr val="DEEEFF"/>
          </a:solidFill>
          <a:ln cap="flat" cmpd="sng" w="25400">
            <a:solidFill>
              <a:srgbClr val="1560A8"/>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4" name="Google Shape;224;p25"/>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225" name="Google Shape;225;p25"/>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226" name="Google Shape;226;p25"/>
          <p:cNvSpPr/>
          <p:nvPr/>
        </p:nvSpPr>
        <p:spPr>
          <a:xfrm>
            <a:off x="4547616" y="1609344"/>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7" name="Google Shape;227;p25"/>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228" name="Google Shape;228;p25"/>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229" name="Google Shape;229;p25"/>
          <p:cNvSpPr/>
          <p:nvPr/>
        </p:nvSpPr>
        <p:spPr>
          <a:xfrm>
            <a:off x="8631936" y="1609344"/>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p25"/>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231" name="Google Shape;231;p25"/>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232" name="Google Shape;232;p25"/>
          <p:cNvSpPr/>
          <p:nvPr/>
        </p:nvSpPr>
        <p:spPr>
          <a:xfrm>
            <a:off x="863193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3" name="Google Shape;233;p25"/>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234" name="Google Shape;234;p25"/>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235" name="Google Shape;235;p25"/>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p25"/>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237" name="Google Shape;237;p25"/>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238" name="Google Shape;238;p25"/>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9" name="Google Shape;239;p25"/>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240" name="Google Shape;240;p25"/>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sp>
        <p:nvSpPr>
          <p:cNvPr id="241" name="Google Shape;241;p25"/>
          <p:cNvSpPr/>
          <p:nvPr/>
        </p:nvSpPr>
        <p:spPr>
          <a:xfrm>
            <a:off x="3742944" y="1658112"/>
            <a:ext cx="3108960" cy="1487424"/>
          </a:xfrm>
          <a:prstGeom prst="roundRect">
            <a:avLst>
              <a:gd fmla="val 8197" name="adj"/>
            </a:avLst>
          </a:prstGeom>
          <a:solidFill>
            <a:srgbClr val="FFFFFF"/>
          </a:solidFill>
          <a:ln cap="flat" cmpd="sng" w="9525">
            <a:solidFill>
              <a:srgbClr val="1560A8"/>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2" name="Google Shape;242;p25"/>
          <p:cNvSpPr/>
          <p:nvPr/>
        </p:nvSpPr>
        <p:spPr>
          <a:xfrm>
            <a:off x="3889248" y="1755648"/>
            <a:ext cx="2804160"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Student lookup</a:t>
            </a:r>
            <a:endParaRPr sz="1300">
              <a:solidFill>
                <a:schemeClr val="dk1"/>
              </a:solidFill>
              <a:latin typeface="Calibri"/>
              <a:ea typeface="Calibri"/>
              <a:cs typeface="Calibri"/>
              <a:sym typeface="Calibri"/>
            </a:endParaRPr>
          </a:p>
        </p:txBody>
      </p:sp>
      <p:sp>
        <p:nvSpPr>
          <p:cNvPr id="243" name="Google Shape;243;p25"/>
          <p:cNvSpPr/>
          <p:nvPr/>
        </p:nvSpPr>
        <p:spPr>
          <a:xfrm>
            <a:off x="3889248" y="2097024"/>
            <a:ext cx="1828800" cy="341376"/>
          </a:xfrm>
          <a:prstGeom prst="roundRect">
            <a:avLst>
              <a:gd fmla="val 21429" name="adj"/>
            </a:avLst>
          </a:prstGeom>
          <a:solidFill>
            <a:srgbClr val="F0F4F8"/>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4" name="Google Shape;244;p25"/>
          <p:cNvSpPr/>
          <p:nvPr/>
        </p:nvSpPr>
        <p:spPr>
          <a:xfrm>
            <a:off x="3913632" y="2097024"/>
            <a:ext cx="1780032" cy="341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300"/>
              <a:buFont typeface="Calibri"/>
              <a:buNone/>
            </a:pPr>
            <a:r>
              <a:rPr lang="en-US" sz="1300">
                <a:solidFill>
                  <a:srgbClr val="1A1A18"/>
                </a:solidFill>
                <a:latin typeface="Calibri"/>
                <a:ea typeface="Calibri"/>
                <a:cs typeface="Calibri"/>
                <a:sym typeface="Calibri"/>
              </a:rPr>
              <a:t>2021-CSE-047</a:t>
            </a:r>
            <a:endParaRPr sz="1300">
              <a:solidFill>
                <a:schemeClr val="dk1"/>
              </a:solidFill>
              <a:latin typeface="Calibri"/>
              <a:ea typeface="Calibri"/>
              <a:cs typeface="Calibri"/>
              <a:sym typeface="Calibri"/>
            </a:endParaRPr>
          </a:p>
        </p:txBody>
      </p:sp>
      <p:sp>
        <p:nvSpPr>
          <p:cNvPr id="245" name="Google Shape;245;p25"/>
          <p:cNvSpPr/>
          <p:nvPr/>
        </p:nvSpPr>
        <p:spPr>
          <a:xfrm>
            <a:off x="5815584" y="2097024"/>
            <a:ext cx="902208" cy="341376"/>
          </a:xfrm>
          <a:prstGeom prst="roundRect">
            <a:avLst>
              <a:gd fmla="val 21429" name="adj"/>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6" name="Google Shape;246;p25"/>
          <p:cNvSpPr/>
          <p:nvPr/>
        </p:nvSpPr>
        <p:spPr>
          <a:xfrm>
            <a:off x="5815584" y="2097024"/>
            <a:ext cx="902208"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Submit</a:t>
            </a:r>
            <a:endParaRPr sz="1200">
              <a:solidFill>
                <a:schemeClr val="dk1"/>
              </a:solidFill>
              <a:latin typeface="Calibri"/>
              <a:ea typeface="Calibri"/>
              <a:cs typeface="Calibri"/>
              <a:sym typeface="Calibri"/>
            </a:endParaRPr>
          </a:p>
        </p:txBody>
      </p:sp>
      <p:sp>
        <p:nvSpPr>
          <p:cNvPr id="247" name="Google Shape;247;p25"/>
          <p:cNvSpPr/>
          <p:nvPr/>
        </p:nvSpPr>
        <p:spPr>
          <a:xfrm>
            <a:off x="3889248" y="2584704"/>
            <a:ext cx="280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0A8"/>
              </a:buClr>
              <a:buSzPts val="1200"/>
              <a:buFont typeface="Calibri"/>
              <a:buNone/>
            </a:pPr>
            <a:r>
              <a:rPr lang="en-US" sz="1200">
                <a:solidFill>
                  <a:srgbClr val="1560A8"/>
                </a:solidFill>
                <a:latin typeface="Calibri"/>
                <a:ea typeface="Calibri"/>
                <a:cs typeface="Calibri"/>
                <a:sym typeface="Calibri"/>
              </a:rPr>
              <a:t>User submits → browser fires HTTP GET</a:t>
            </a:r>
            <a:endParaRPr sz="1200">
              <a:solidFill>
                <a:schemeClr val="dk1"/>
              </a:solidFill>
              <a:latin typeface="Calibri"/>
              <a:ea typeface="Calibri"/>
              <a:cs typeface="Calibri"/>
              <a:sym typeface="Calibri"/>
            </a:endParaRPr>
          </a:p>
        </p:txBody>
      </p:sp>
      <p:cxnSp>
        <p:nvCxnSpPr>
          <p:cNvPr id="248" name="Google Shape;248;p25"/>
          <p:cNvCxnSpPr/>
          <p:nvPr/>
        </p:nvCxnSpPr>
        <p:spPr>
          <a:xfrm flipH="1">
            <a:off x="3572256" y="2401824"/>
            <a:ext cx="170688" cy="12192"/>
          </a:xfrm>
          <a:prstGeom prst="straightConnector1">
            <a:avLst/>
          </a:prstGeom>
          <a:noFill/>
          <a:ln cap="flat" cmpd="sng" w="12700">
            <a:solidFill>
              <a:srgbClr val="1560A8"/>
            </a:solidFill>
            <a:prstDash val="dash"/>
            <a:round/>
            <a:headEnd len="sm" w="sm" type="none"/>
            <a:tailEnd len="med" w="med" type="triangle"/>
          </a:ln>
        </p:spPr>
      </p:cxnSp>
      <p:sp>
        <p:nvSpPr>
          <p:cNvPr id="249" name="Google Shape;249;p25"/>
          <p:cNvSpPr/>
          <p:nvPr/>
        </p:nvSpPr>
        <p:spPr>
          <a:xfrm>
            <a:off x="341376" y="6041136"/>
            <a:ext cx="11509248" cy="731520"/>
          </a:xfrm>
          <a:prstGeom prst="roundRect">
            <a:avLst>
              <a:gd fmla="val 16667"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0" name="Google Shape;250;p25"/>
          <p:cNvSpPr/>
          <p:nvPr/>
        </p:nvSpPr>
        <p:spPr>
          <a:xfrm>
            <a:off x="536448" y="6114288"/>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251" name="Google Shape;251;p25"/>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0A8"/>
              </a:buClr>
              <a:buSzPts val="1400"/>
              <a:buFont typeface="Calibri"/>
              <a:buNone/>
            </a:pPr>
            <a:r>
              <a:rPr b="1" lang="en-US" sz="1400">
                <a:solidFill>
                  <a:srgbClr val="1560A8"/>
                </a:solidFill>
                <a:latin typeface="Calibri"/>
                <a:ea typeface="Calibri"/>
                <a:cs typeface="Calibri"/>
                <a:sym typeface="Calibri"/>
              </a:rPr>
              <a:t>→ REQUEST  </a:t>
            </a:r>
            <a:r>
              <a:rPr lang="en-US" sz="1400">
                <a:solidFill>
                  <a:srgbClr val="3A3A38"/>
                </a:solidFill>
                <a:latin typeface="Calibri"/>
                <a:ea typeface="Calibri"/>
                <a:cs typeface="Calibri"/>
                <a:sym typeface="Calibri"/>
              </a:rPr>
              <a:t>GET /students/2021-CSE-047 — user submits form, browser fires HTTP request</a:t>
            </a:r>
            <a:endParaRPr sz="1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256" name="Shape 256"/>
        <p:cNvGrpSpPr/>
        <p:nvPr/>
      </p:nvGrpSpPr>
      <p:grpSpPr>
        <a:xfrm>
          <a:off x="0" y="0"/>
          <a:ext cx="0" cy="0"/>
          <a:chOff x="0" y="0"/>
          <a:chExt cx="0" cy="0"/>
        </a:xfrm>
      </p:grpSpPr>
      <p:sp>
        <p:nvSpPr>
          <p:cNvPr id="257" name="Google Shape;257;p26"/>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8" name="Google Shape;258;p26"/>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9" name="Google Shape;259;p26"/>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2/10</a:t>
            </a:r>
            <a:endParaRPr sz="1500">
              <a:solidFill>
                <a:schemeClr val="dk1"/>
              </a:solidFill>
              <a:latin typeface="Calibri"/>
              <a:ea typeface="Calibri"/>
              <a:cs typeface="Calibri"/>
              <a:sym typeface="Calibri"/>
            </a:endParaRPr>
          </a:p>
        </p:txBody>
      </p:sp>
      <p:sp>
        <p:nvSpPr>
          <p:cNvPr id="260" name="Google Shape;260;p26"/>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Router matches URL to Controller</a:t>
            </a:r>
            <a:endParaRPr sz="2900">
              <a:solidFill>
                <a:schemeClr val="dk1"/>
              </a:solidFill>
              <a:latin typeface="Calibri"/>
              <a:ea typeface="Calibri"/>
              <a:cs typeface="Calibri"/>
              <a:sym typeface="Calibri"/>
            </a:endParaRPr>
          </a:p>
        </p:txBody>
      </p:sp>
      <p:sp>
        <p:nvSpPr>
          <p:cNvPr id="261" name="Google Shape;261;p26"/>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p26"/>
          <p:cNvSpPr/>
          <p:nvPr/>
        </p:nvSpPr>
        <p:spPr>
          <a:xfrm>
            <a:off x="4828032"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3" name="Google Shape;263;p26"/>
          <p:cNvSpPr/>
          <p:nvPr/>
        </p:nvSpPr>
        <p:spPr>
          <a:xfrm>
            <a:off x="516940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4" name="Google Shape;264;p26"/>
          <p:cNvSpPr/>
          <p:nvPr/>
        </p:nvSpPr>
        <p:spPr>
          <a:xfrm>
            <a:off x="548640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5" name="Google Shape;265;p26"/>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6" name="Google Shape;266;p26"/>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7" name="Google Shape;267;p26"/>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8" name="Google Shape;268;p26"/>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9" name="Google Shape;269;p26"/>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0" name="Google Shape;270;p26"/>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1" name="Google Shape;271;p26"/>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272" name="Google Shape;272;p26"/>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273" name="Google Shape;273;p26"/>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4" name="Google Shape;274;p26"/>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5" name="Google Shape;275;p26"/>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276" name="Google Shape;276;p26"/>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7" name="Google Shape;277;p26"/>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278" name="Google Shape;278;p26"/>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279" name="Google Shape;279;p26"/>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0" name="Google Shape;280;p26"/>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281" name="Google Shape;281;p26"/>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282" name="Google Shape;282;p26"/>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283" name="Google Shape;283;p26"/>
          <p:cNvSpPr/>
          <p:nvPr/>
        </p:nvSpPr>
        <p:spPr>
          <a:xfrm>
            <a:off x="4547616" y="1609344"/>
            <a:ext cx="3108960" cy="1584960"/>
          </a:xfrm>
          <a:prstGeom prst="roundRect">
            <a:avLst>
              <a:gd fmla="val 10769" name="adj"/>
            </a:avLst>
          </a:prstGeom>
          <a:solidFill>
            <a:srgbClr val="FCE8F4"/>
          </a:solidFill>
          <a:ln cap="flat" cmpd="sng" w="25400">
            <a:solidFill>
              <a:srgbClr val="993556"/>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4" name="Google Shape;284;p26"/>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285" name="Google Shape;285;p26"/>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286" name="Google Shape;286;p26"/>
          <p:cNvSpPr/>
          <p:nvPr/>
        </p:nvSpPr>
        <p:spPr>
          <a:xfrm>
            <a:off x="8631936" y="1609344"/>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7" name="Google Shape;287;p26"/>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288" name="Google Shape;288;p26"/>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289" name="Google Shape;289;p26"/>
          <p:cNvSpPr/>
          <p:nvPr/>
        </p:nvSpPr>
        <p:spPr>
          <a:xfrm>
            <a:off x="863193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0" name="Google Shape;290;p26"/>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291" name="Google Shape;291;p26"/>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292" name="Google Shape;292;p26"/>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3" name="Google Shape;293;p26"/>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294" name="Google Shape;294;p26"/>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295" name="Google Shape;295;p26"/>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6" name="Google Shape;296;p26"/>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297" name="Google Shape;297;p26"/>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298" name="Google Shape;298;p26"/>
          <p:cNvCxnSpPr/>
          <p:nvPr/>
        </p:nvCxnSpPr>
        <p:spPr>
          <a:xfrm>
            <a:off x="3572256" y="2401824"/>
            <a:ext cx="975360" cy="12192"/>
          </a:xfrm>
          <a:prstGeom prst="straightConnector1">
            <a:avLst/>
          </a:prstGeom>
          <a:noFill/>
          <a:ln cap="flat" cmpd="sng" w="30475">
            <a:solidFill>
              <a:srgbClr val="1560A8"/>
            </a:solidFill>
            <a:prstDash val="solid"/>
            <a:round/>
            <a:headEnd len="sm" w="sm" type="none"/>
            <a:tailEnd len="med" w="med" type="triangle"/>
          </a:ln>
        </p:spPr>
      </p:cxnSp>
      <p:sp>
        <p:nvSpPr>
          <p:cNvPr id="299" name="Google Shape;299;p26"/>
          <p:cNvSpPr/>
          <p:nvPr/>
        </p:nvSpPr>
        <p:spPr>
          <a:xfrm>
            <a:off x="2538375" y="1767840"/>
            <a:ext cx="3043123" cy="390144"/>
          </a:xfrm>
          <a:prstGeom prst="roundRect">
            <a:avLst>
              <a:gd fmla="val 50000" name="adj"/>
            </a:avLst>
          </a:prstGeom>
          <a:solidFill>
            <a:srgbClr val="1560A8"/>
          </a:solidFill>
          <a:ln cap="flat" cmpd="sng" w="12700">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0" name="Google Shape;300;p26"/>
          <p:cNvSpPr/>
          <p:nvPr/>
        </p:nvSpPr>
        <p:spPr>
          <a:xfrm>
            <a:off x="2611527" y="1767840"/>
            <a:ext cx="2896819"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GET /students/2021-CSE-047</a:t>
            </a:r>
            <a:endParaRPr sz="1500">
              <a:solidFill>
                <a:schemeClr val="dk1"/>
              </a:solidFill>
              <a:latin typeface="Calibri"/>
              <a:ea typeface="Calibri"/>
              <a:cs typeface="Calibri"/>
              <a:sym typeface="Calibri"/>
            </a:endParaRPr>
          </a:p>
        </p:txBody>
      </p:sp>
      <p:sp>
        <p:nvSpPr>
          <p:cNvPr id="301" name="Google Shape;301;p26"/>
          <p:cNvSpPr/>
          <p:nvPr/>
        </p:nvSpPr>
        <p:spPr>
          <a:xfrm>
            <a:off x="3974592" y="2316480"/>
            <a:ext cx="170688" cy="170688"/>
          </a:xfrm>
          <a:prstGeom prst="ellipse">
            <a:avLst/>
          </a:prstGeom>
          <a:solidFill>
            <a:srgbClr val="1560A8"/>
          </a:solidFill>
          <a:ln cap="flat" cmpd="sng" w="12700">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2" name="Google Shape;302;p26"/>
          <p:cNvSpPr/>
          <p:nvPr/>
        </p:nvSpPr>
        <p:spPr>
          <a:xfrm>
            <a:off x="5760720" y="2060448"/>
            <a:ext cx="682752" cy="682752"/>
          </a:xfrm>
          <a:prstGeom prst="ellipse">
            <a:avLst/>
          </a:prstGeom>
          <a:solidFill>
            <a:srgbClr val="993556">
              <a:alpha val="0"/>
            </a:srgbClr>
          </a:solidFill>
          <a:ln cap="flat" cmpd="sng" w="10150">
            <a:solidFill>
              <a:srgbClr val="993556">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3" name="Google Shape;303;p26"/>
          <p:cNvSpPr/>
          <p:nvPr/>
        </p:nvSpPr>
        <p:spPr>
          <a:xfrm>
            <a:off x="5541264" y="1840992"/>
            <a:ext cx="1121664" cy="1121664"/>
          </a:xfrm>
          <a:prstGeom prst="ellipse">
            <a:avLst/>
          </a:prstGeom>
          <a:solidFill>
            <a:srgbClr val="993556">
              <a:alpha val="0"/>
            </a:srgbClr>
          </a:solidFill>
          <a:ln cap="flat" cmpd="sng" w="10150">
            <a:solidFill>
              <a:srgbClr val="993556">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4" name="Google Shape;304;p26"/>
          <p:cNvSpPr/>
          <p:nvPr/>
        </p:nvSpPr>
        <p:spPr>
          <a:xfrm>
            <a:off x="5321808" y="1621536"/>
            <a:ext cx="1560576" cy="1560576"/>
          </a:xfrm>
          <a:prstGeom prst="ellipse">
            <a:avLst/>
          </a:prstGeom>
          <a:solidFill>
            <a:srgbClr val="993556">
              <a:alpha val="0"/>
            </a:srgbClr>
          </a:solidFill>
          <a:ln cap="flat" cmpd="sng" w="10150">
            <a:solidFill>
              <a:srgbClr val="993556">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5" name="Google Shape;305;p26"/>
          <p:cNvSpPr/>
          <p:nvPr/>
        </p:nvSpPr>
        <p:spPr>
          <a:xfrm>
            <a:off x="4547616" y="3316224"/>
            <a:ext cx="3108960" cy="633984"/>
          </a:xfrm>
          <a:prstGeom prst="roundRect">
            <a:avLst>
              <a:gd fmla="val 15385" name="adj"/>
            </a:avLst>
          </a:prstGeom>
          <a:solidFill>
            <a:srgbClr val="FCE8F4"/>
          </a:solidFill>
          <a:ln cap="flat" cmpd="sng" w="95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6" name="Google Shape;306;p26"/>
          <p:cNvSpPr/>
          <p:nvPr/>
        </p:nvSpPr>
        <p:spPr>
          <a:xfrm>
            <a:off x="4669536" y="3316224"/>
            <a:ext cx="2865120" cy="6339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1300"/>
              <a:buFont typeface="Calibri"/>
              <a:buNone/>
            </a:pPr>
            <a:r>
              <a:rPr lang="en-US" sz="1300">
                <a:solidFill>
                  <a:srgbClr val="4A1040"/>
                </a:solidFill>
                <a:latin typeface="Calibri"/>
                <a:ea typeface="Calibri"/>
                <a:cs typeface="Calibri"/>
                <a:sym typeface="Calibri"/>
              </a:rPr>
              <a:t>GET /students/:id  →  StudentController@show</a:t>
            </a:r>
            <a:endParaRPr sz="1300">
              <a:solidFill>
                <a:schemeClr val="dk1"/>
              </a:solidFill>
              <a:latin typeface="Calibri"/>
              <a:ea typeface="Calibri"/>
              <a:cs typeface="Calibri"/>
              <a:sym typeface="Calibri"/>
            </a:endParaRPr>
          </a:p>
        </p:txBody>
      </p:sp>
      <p:sp>
        <p:nvSpPr>
          <p:cNvPr id="307" name="Google Shape;307;p26"/>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8" name="Google Shape;308;p26"/>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309" name="Google Shape;309;p26"/>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0A8"/>
              </a:buClr>
              <a:buSzPts val="1400"/>
              <a:buFont typeface="Calibri"/>
              <a:buNone/>
            </a:pPr>
            <a:r>
              <a:rPr b="1" lang="en-US" sz="1400">
                <a:solidFill>
                  <a:srgbClr val="1560A8"/>
                </a:solidFill>
                <a:latin typeface="Calibri"/>
                <a:ea typeface="Calibri"/>
                <a:cs typeface="Calibri"/>
                <a:sym typeface="Calibri"/>
              </a:rPr>
              <a:t>→ REQUEST  </a:t>
            </a:r>
            <a:r>
              <a:rPr lang="en-US" sz="1400">
                <a:solidFill>
                  <a:srgbClr val="3A3A38"/>
                </a:solidFill>
                <a:latin typeface="Calibri"/>
                <a:ea typeface="Calibri"/>
                <a:cs typeface="Calibri"/>
                <a:sym typeface="Calibri"/>
              </a:rPr>
              <a:t>GET /students/2021-CSE-047 received by Router</a:t>
            </a:r>
            <a:endParaRPr sz="1400">
              <a:solidFill>
                <a:schemeClr val="dk1"/>
              </a:solidFill>
              <a:latin typeface="Calibri"/>
              <a:ea typeface="Calibri"/>
              <a:cs typeface="Calibri"/>
              <a:sym typeface="Calibri"/>
            </a:endParaRPr>
          </a:p>
        </p:txBody>
      </p:sp>
      <p:sp>
        <p:nvSpPr>
          <p:cNvPr id="310" name="Google Shape;310;p26"/>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3556"/>
              </a:buClr>
              <a:buSzPts val="1400"/>
              <a:buFont typeface="Calibri"/>
              <a:buNone/>
            </a:pPr>
            <a:r>
              <a:rPr b="1" lang="en-US" sz="1400">
                <a:solidFill>
                  <a:srgbClr val="993556"/>
                </a:solidFill>
                <a:latin typeface="Calibri"/>
                <a:ea typeface="Calibri"/>
                <a:cs typeface="Calibri"/>
                <a:sym typeface="Calibri"/>
              </a:rPr>
              <a:t>⟳ ROUTER  </a:t>
            </a:r>
            <a:r>
              <a:rPr lang="en-US" sz="1400">
                <a:solidFill>
                  <a:srgbClr val="3A3A38"/>
                </a:solidFill>
                <a:latin typeface="Calibri"/>
                <a:ea typeface="Calibri"/>
                <a:cs typeface="Calibri"/>
                <a:sym typeface="Calibri"/>
              </a:rPr>
              <a:t>Pattern match: GET /students/:id  →  StudentController@show</a:t>
            </a:r>
            <a:endParaRPr sz="1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315" name="Shape 315"/>
        <p:cNvGrpSpPr/>
        <p:nvPr/>
      </p:nvGrpSpPr>
      <p:grpSpPr>
        <a:xfrm>
          <a:off x="0" y="0"/>
          <a:ext cx="0" cy="0"/>
          <a:chOff x="0" y="0"/>
          <a:chExt cx="0" cy="0"/>
        </a:xfrm>
      </p:grpSpPr>
      <p:sp>
        <p:nvSpPr>
          <p:cNvPr id="316" name="Google Shape;316;p27"/>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7" name="Google Shape;317;p27"/>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8" name="Google Shape;318;p27"/>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3/10</a:t>
            </a:r>
            <a:endParaRPr sz="1500">
              <a:solidFill>
                <a:schemeClr val="dk1"/>
              </a:solidFill>
              <a:latin typeface="Calibri"/>
              <a:ea typeface="Calibri"/>
              <a:cs typeface="Calibri"/>
              <a:sym typeface="Calibri"/>
            </a:endParaRPr>
          </a:p>
        </p:txBody>
      </p:sp>
      <p:sp>
        <p:nvSpPr>
          <p:cNvPr id="319" name="Google Shape;319;p27"/>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Router dispatches request to Controller</a:t>
            </a:r>
            <a:endParaRPr sz="2900">
              <a:solidFill>
                <a:schemeClr val="dk1"/>
              </a:solidFill>
              <a:latin typeface="Calibri"/>
              <a:ea typeface="Calibri"/>
              <a:cs typeface="Calibri"/>
              <a:sym typeface="Calibri"/>
            </a:endParaRPr>
          </a:p>
        </p:txBody>
      </p:sp>
      <p:sp>
        <p:nvSpPr>
          <p:cNvPr id="320" name="Google Shape;320;p27"/>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1" name="Google Shape;321;p27"/>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2" name="Google Shape;322;p27"/>
          <p:cNvSpPr/>
          <p:nvPr/>
        </p:nvSpPr>
        <p:spPr>
          <a:xfrm>
            <a:off x="5145024"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3" name="Google Shape;323;p27"/>
          <p:cNvSpPr/>
          <p:nvPr/>
        </p:nvSpPr>
        <p:spPr>
          <a:xfrm>
            <a:off x="548640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4" name="Google Shape;324;p27"/>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5" name="Google Shape;325;p27"/>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6" name="Google Shape;326;p27"/>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7" name="Google Shape;327;p27"/>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8" name="Google Shape;328;p27"/>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9" name="Google Shape;329;p27"/>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0" name="Google Shape;330;p27"/>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331" name="Google Shape;331;p27"/>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332" name="Google Shape;332;p27"/>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3" name="Google Shape;333;p27"/>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4" name="Google Shape;334;p27"/>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335" name="Google Shape;335;p27"/>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6" name="Google Shape;336;p27"/>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37" name="Google Shape;337;p27"/>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338" name="Google Shape;338;p27"/>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9" name="Google Shape;339;p27"/>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340" name="Google Shape;340;p27"/>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341" name="Google Shape;341;p27"/>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342" name="Google Shape;342;p27"/>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3" name="Google Shape;343;p27"/>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344" name="Google Shape;344;p27"/>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345" name="Google Shape;345;p27"/>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346" name="Google Shape;346;p27"/>
          <p:cNvSpPr/>
          <p:nvPr/>
        </p:nvSpPr>
        <p:spPr>
          <a:xfrm>
            <a:off x="8631936" y="1609344"/>
            <a:ext cx="3108960" cy="1584960"/>
          </a:xfrm>
          <a:prstGeom prst="roundRect">
            <a:avLst>
              <a:gd fmla="val 10769" name="adj"/>
            </a:avLst>
          </a:prstGeom>
          <a:solidFill>
            <a:srgbClr val="EAE8FE"/>
          </a:solidFill>
          <a:ln cap="flat" cmpd="sng" w="25400">
            <a:solidFill>
              <a:srgbClr val="4A42B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7" name="Google Shape;347;p27"/>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348" name="Google Shape;348;p27"/>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349" name="Google Shape;349;p27"/>
          <p:cNvSpPr/>
          <p:nvPr/>
        </p:nvSpPr>
        <p:spPr>
          <a:xfrm>
            <a:off x="863193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0" name="Google Shape;350;p27"/>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351" name="Google Shape;351;p27"/>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352" name="Google Shape;352;p27"/>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3" name="Google Shape;353;p27"/>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354" name="Google Shape;354;p27"/>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355" name="Google Shape;355;p27"/>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6" name="Google Shape;356;p27"/>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357" name="Google Shape;357;p27"/>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358" name="Google Shape;358;p27"/>
          <p:cNvCxnSpPr/>
          <p:nvPr/>
        </p:nvCxnSpPr>
        <p:spPr>
          <a:xfrm>
            <a:off x="7656576" y="2401824"/>
            <a:ext cx="975360" cy="12192"/>
          </a:xfrm>
          <a:prstGeom prst="straightConnector1">
            <a:avLst/>
          </a:prstGeom>
          <a:noFill/>
          <a:ln cap="flat" cmpd="sng" w="30475">
            <a:solidFill>
              <a:srgbClr val="993556"/>
            </a:solidFill>
            <a:prstDash val="solid"/>
            <a:round/>
            <a:headEnd len="sm" w="sm" type="none"/>
            <a:tailEnd len="med" w="med" type="triangle"/>
          </a:ln>
        </p:spPr>
      </p:cxnSp>
      <p:sp>
        <p:nvSpPr>
          <p:cNvPr id="359" name="Google Shape;359;p27"/>
          <p:cNvSpPr/>
          <p:nvPr/>
        </p:nvSpPr>
        <p:spPr>
          <a:xfrm>
            <a:off x="6620256" y="1767840"/>
            <a:ext cx="3048000" cy="390144"/>
          </a:xfrm>
          <a:prstGeom prst="roundRect">
            <a:avLst>
              <a:gd fmla="val 50000" name="adj"/>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0" name="Google Shape;360;p27"/>
          <p:cNvSpPr/>
          <p:nvPr/>
        </p:nvSpPr>
        <p:spPr>
          <a:xfrm>
            <a:off x="6693408" y="1767840"/>
            <a:ext cx="290169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dispatch + { id: '2021-CSE-047' }</a:t>
            </a:r>
            <a:endParaRPr sz="1500">
              <a:solidFill>
                <a:schemeClr val="dk1"/>
              </a:solidFill>
              <a:latin typeface="Calibri"/>
              <a:ea typeface="Calibri"/>
              <a:cs typeface="Calibri"/>
              <a:sym typeface="Calibri"/>
            </a:endParaRPr>
          </a:p>
        </p:txBody>
      </p:sp>
      <p:sp>
        <p:nvSpPr>
          <p:cNvPr id="361" name="Google Shape;361;p27"/>
          <p:cNvSpPr/>
          <p:nvPr/>
        </p:nvSpPr>
        <p:spPr>
          <a:xfrm>
            <a:off x="8058912" y="2316480"/>
            <a:ext cx="170688" cy="170688"/>
          </a:xfrm>
          <a:prstGeom prst="ellipse">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2" name="Google Shape;362;p27"/>
          <p:cNvSpPr/>
          <p:nvPr/>
        </p:nvSpPr>
        <p:spPr>
          <a:xfrm>
            <a:off x="9845040" y="2060448"/>
            <a:ext cx="682752" cy="682752"/>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3" name="Google Shape;363;p27"/>
          <p:cNvSpPr/>
          <p:nvPr/>
        </p:nvSpPr>
        <p:spPr>
          <a:xfrm>
            <a:off x="9625584" y="1840992"/>
            <a:ext cx="1121664" cy="1121664"/>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4" name="Google Shape;364;p27"/>
          <p:cNvSpPr/>
          <p:nvPr/>
        </p:nvSpPr>
        <p:spPr>
          <a:xfrm>
            <a:off x="9406128" y="1621536"/>
            <a:ext cx="1560576" cy="1560576"/>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5" name="Google Shape;365;p27"/>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6" name="Google Shape;366;p27"/>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367" name="Google Shape;367;p27"/>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3556"/>
              </a:buClr>
              <a:buSzPts val="1400"/>
              <a:buFont typeface="Calibri"/>
              <a:buNone/>
            </a:pPr>
            <a:r>
              <a:rPr b="1" lang="en-US" sz="1400">
                <a:solidFill>
                  <a:srgbClr val="993556"/>
                </a:solidFill>
                <a:latin typeface="Calibri"/>
                <a:ea typeface="Calibri"/>
                <a:cs typeface="Calibri"/>
                <a:sym typeface="Calibri"/>
              </a:rPr>
              <a:t>⟳ ROUTER  </a:t>
            </a:r>
            <a:r>
              <a:rPr lang="en-US" sz="1400">
                <a:solidFill>
                  <a:srgbClr val="3A3A38"/>
                </a:solidFill>
                <a:latin typeface="Calibri"/>
                <a:ea typeface="Calibri"/>
                <a:cs typeface="Calibri"/>
                <a:sym typeface="Calibri"/>
              </a:rPr>
              <a:t>Route matched — dispatching to StudentController with bound params</a:t>
            </a:r>
            <a:endParaRPr sz="1400">
              <a:solidFill>
                <a:schemeClr val="dk1"/>
              </a:solidFill>
              <a:latin typeface="Calibri"/>
              <a:ea typeface="Calibri"/>
              <a:cs typeface="Calibri"/>
              <a:sym typeface="Calibri"/>
            </a:endParaRPr>
          </a:p>
        </p:txBody>
      </p:sp>
      <p:sp>
        <p:nvSpPr>
          <p:cNvPr id="368" name="Google Shape;368;p27"/>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StudentController.show(id='2021-CSE-047') invoked</a:t>
            </a:r>
            <a:endParaRPr sz="1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373" name="Shape 373"/>
        <p:cNvGrpSpPr/>
        <p:nvPr/>
      </p:nvGrpSpPr>
      <p:grpSpPr>
        <a:xfrm>
          <a:off x="0" y="0"/>
          <a:ext cx="0" cy="0"/>
          <a:chOff x="0" y="0"/>
          <a:chExt cx="0" cy="0"/>
        </a:xfrm>
      </p:grpSpPr>
      <p:sp>
        <p:nvSpPr>
          <p:cNvPr id="374" name="Google Shape;374;p28"/>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5" name="Google Shape;375;p28"/>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6" name="Google Shape;376;p28"/>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4/10</a:t>
            </a:r>
            <a:endParaRPr sz="1500">
              <a:solidFill>
                <a:schemeClr val="dk1"/>
              </a:solidFill>
              <a:latin typeface="Calibri"/>
              <a:ea typeface="Calibri"/>
              <a:cs typeface="Calibri"/>
              <a:sym typeface="Calibri"/>
            </a:endParaRPr>
          </a:p>
        </p:txBody>
      </p:sp>
      <p:sp>
        <p:nvSpPr>
          <p:cNvPr id="377" name="Google Shape;377;p28"/>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Controller calls Model with bound ID</a:t>
            </a:r>
            <a:endParaRPr sz="2900">
              <a:solidFill>
                <a:schemeClr val="dk1"/>
              </a:solidFill>
              <a:latin typeface="Calibri"/>
              <a:ea typeface="Calibri"/>
              <a:cs typeface="Calibri"/>
              <a:sym typeface="Calibri"/>
            </a:endParaRPr>
          </a:p>
        </p:txBody>
      </p:sp>
      <p:sp>
        <p:nvSpPr>
          <p:cNvPr id="378" name="Google Shape;378;p28"/>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9" name="Google Shape;379;p28"/>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0" name="Google Shape;380;p28"/>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1" name="Google Shape;381;p28"/>
          <p:cNvSpPr/>
          <p:nvPr/>
        </p:nvSpPr>
        <p:spPr>
          <a:xfrm>
            <a:off x="5462016"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2" name="Google Shape;382;p28"/>
          <p:cNvSpPr/>
          <p:nvPr/>
        </p:nvSpPr>
        <p:spPr>
          <a:xfrm>
            <a:off x="580339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3" name="Google Shape;383;p28"/>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4" name="Google Shape;384;p28"/>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5" name="Google Shape;385;p28"/>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6" name="Google Shape;386;p28"/>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7" name="Google Shape;387;p28"/>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8" name="Google Shape;388;p28"/>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389" name="Google Shape;389;p28"/>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390" name="Google Shape;390;p28"/>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1" name="Google Shape;391;p28"/>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2" name="Google Shape;392;p28"/>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393" name="Google Shape;393;p28"/>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4" name="Google Shape;394;p28"/>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395" name="Google Shape;395;p28"/>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396" name="Google Shape;396;p28"/>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7" name="Google Shape;397;p28"/>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398" name="Google Shape;398;p28"/>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399" name="Google Shape;399;p28"/>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00" name="Google Shape;400;p28"/>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1" name="Google Shape;401;p28"/>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402" name="Google Shape;402;p28"/>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403" name="Google Shape;403;p28"/>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04" name="Google Shape;404;p28"/>
          <p:cNvSpPr/>
          <p:nvPr/>
        </p:nvSpPr>
        <p:spPr>
          <a:xfrm>
            <a:off x="8631936" y="1609344"/>
            <a:ext cx="3108960" cy="1584960"/>
          </a:xfrm>
          <a:prstGeom prst="roundRect">
            <a:avLst>
              <a:gd fmla="val 10769" name="adj"/>
            </a:avLst>
          </a:prstGeom>
          <a:solidFill>
            <a:srgbClr val="EAE8FE"/>
          </a:solidFill>
          <a:ln cap="flat" cmpd="sng" w="25400">
            <a:solidFill>
              <a:srgbClr val="4A42B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5" name="Google Shape;405;p28"/>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406" name="Google Shape;406;p28"/>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407" name="Google Shape;407;p28"/>
          <p:cNvSpPr/>
          <p:nvPr/>
        </p:nvSpPr>
        <p:spPr>
          <a:xfrm>
            <a:off x="8631936" y="3840480"/>
            <a:ext cx="3108960" cy="1584960"/>
          </a:xfrm>
          <a:prstGeom prst="roundRect">
            <a:avLst>
              <a:gd fmla="val 10769" name="adj"/>
            </a:avLst>
          </a:prstGeom>
          <a:solidFill>
            <a:srgbClr val="FDEFD4"/>
          </a:solidFill>
          <a:ln cap="flat" cmpd="sng" w="25400">
            <a:solidFill>
              <a:srgbClr val="8A520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8" name="Google Shape;408;p28"/>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409" name="Google Shape;409;p28"/>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410" name="Google Shape;410;p28"/>
          <p:cNvSpPr/>
          <p:nvPr/>
        </p:nvSpPr>
        <p:spPr>
          <a:xfrm>
            <a:off x="454761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1" name="Google Shape;411;p28"/>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412" name="Google Shape;412;p28"/>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413" name="Google Shape;413;p28"/>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4" name="Google Shape;414;p28"/>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415" name="Google Shape;415;p28"/>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416" name="Google Shape;416;p28"/>
          <p:cNvCxnSpPr/>
          <p:nvPr/>
        </p:nvCxnSpPr>
        <p:spPr>
          <a:xfrm>
            <a:off x="10186416" y="3194304"/>
            <a:ext cx="12192" cy="646176"/>
          </a:xfrm>
          <a:prstGeom prst="straightConnector1">
            <a:avLst/>
          </a:prstGeom>
          <a:noFill/>
          <a:ln cap="flat" cmpd="sng" w="30475">
            <a:solidFill>
              <a:srgbClr val="4A42B0"/>
            </a:solidFill>
            <a:prstDash val="solid"/>
            <a:round/>
            <a:headEnd len="sm" w="sm" type="none"/>
            <a:tailEnd len="med" w="med" type="triangle"/>
          </a:ln>
        </p:spPr>
      </p:cxnSp>
      <p:sp>
        <p:nvSpPr>
          <p:cNvPr id="417" name="Google Shape;417;p28"/>
          <p:cNvSpPr/>
          <p:nvPr/>
        </p:nvSpPr>
        <p:spPr>
          <a:xfrm>
            <a:off x="9168384" y="3322320"/>
            <a:ext cx="2682240" cy="390144"/>
          </a:xfrm>
          <a:prstGeom prst="roundRect">
            <a:avLst>
              <a:gd fmla="val 50000" name="adj"/>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8" name="Google Shape;418;p28"/>
          <p:cNvSpPr/>
          <p:nvPr/>
        </p:nvSpPr>
        <p:spPr>
          <a:xfrm>
            <a:off x="9241536" y="3322320"/>
            <a:ext cx="253593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StudentModel.find('2021-CSE-047')</a:t>
            </a:r>
            <a:endParaRPr sz="1300">
              <a:solidFill>
                <a:schemeClr val="dk1"/>
              </a:solidFill>
              <a:latin typeface="Calibri"/>
              <a:ea typeface="Calibri"/>
              <a:cs typeface="Calibri"/>
              <a:sym typeface="Calibri"/>
            </a:endParaRPr>
          </a:p>
        </p:txBody>
      </p:sp>
      <p:sp>
        <p:nvSpPr>
          <p:cNvPr id="419" name="Google Shape;419;p28"/>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0" name="Google Shape;420;p28"/>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421" name="Google Shape;421;p28"/>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$id = '2021-CSE-047' bound from route param</a:t>
            </a:r>
            <a:endParaRPr sz="1400">
              <a:solidFill>
                <a:schemeClr val="dk1"/>
              </a:solidFill>
              <a:latin typeface="Calibri"/>
              <a:ea typeface="Calibri"/>
              <a:cs typeface="Calibri"/>
              <a:sym typeface="Calibri"/>
            </a:endParaRPr>
          </a:p>
        </p:txBody>
      </p:sp>
      <p:sp>
        <p:nvSpPr>
          <p:cNvPr id="422" name="Google Shape;422;p28"/>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StudentModel.find($id) called — passing bound value to Model</a:t>
            </a:r>
            <a:endParaRPr sz="1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427" name="Shape 427"/>
        <p:cNvGrpSpPr/>
        <p:nvPr/>
      </p:nvGrpSpPr>
      <p:grpSpPr>
        <a:xfrm>
          <a:off x="0" y="0"/>
          <a:ext cx="0" cy="0"/>
          <a:chOff x="0" y="0"/>
          <a:chExt cx="0" cy="0"/>
        </a:xfrm>
      </p:grpSpPr>
      <p:sp>
        <p:nvSpPr>
          <p:cNvPr id="428" name="Google Shape;428;p29"/>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9" name="Google Shape;429;p29"/>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0" name="Google Shape;430;p29"/>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5/10</a:t>
            </a:r>
            <a:endParaRPr sz="1500">
              <a:solidFill>
                <a:schemeClr val="dk1"/>
              </a:solidFill>
              <a:latin typeface="Calibri"/>
              <a:ea typeface="Calibri"/>
              <a:cs typeface="Calibri"/>
              <a:sym typeface="Calibri"/>
            </a:endParaRPr>
          </a:p>
        </p:txBody>
      </p:sp>
      <p:sp>
        <p:nvSpPr>
          <p:cNvPr id="431" name="Google Shape;431;p29"/>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Model sends SQL query to Database</a:t>
            </a:r>
            <a:endParaRPr sz="2900">
              <a:solidFill>
                <a:schemeClr val="dk1"/>
              </a:solidFill>
              <a:latin typeface="Calibri"/>
              <a:ea typeface="Calibri"/>
              <a:cs typeface="Calibri"/>
              <a:sym typeface="Calibri"/>
            </a:endParaRPr>
          </a:p>
        </p:txBody>
      </p:sp>
      <p:sp>
        <p:nvSpPr>
          <p:cNvPr id="432" name="Google Shape;432;p29"/>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3" name="Google Shape;433;p29"/>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4" name="Google Shape;434;p29"/>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5" name="Google Shape;435;p29"/>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6" name="Google Shape;436;p29"/>
          <p:cNvSpPr/>
          <p:nvPr/>
        </p:nvSpPr>
        <p:spPr>
          <a:xfrm>
            <a:off x="5779008"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7" name="Google Shape;437;p29"/>
          <p:cNvSpPr/>
          <p:nvPr/>
        </p:nvSpPr>
        <p:spPr>
          <a:xfrm>
            <a:off x="6120384"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8" name="Google Shape;438;p29"/>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9" name="Google Shape;439;p29"/>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0" name="Google Shape;440;p29"/>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1" name="Google Shape;441;p29"/>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2" name="Google Shape;442;p29"/>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443" name="Google Shape;443;p29"/>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444" name="Google Shape;444;p29"/>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5" name="Google Shape;445;p29"/>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6" name="Google Shape;446;p29"/>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447" name="Google Shape;447;p29"/>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8" name="Google Shape;448;p29"/>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449" name="Google Shape;449;p29"/>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450" name="Google Shape;450;p29"/>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1" name="Google Shape;451;p29"/>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452" name="Google Shape;452;p29"/>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453" name="Google Shape;453;p29"/>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54" name="Google Shape;454;p29"/>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5" name="Google Shape;455;p29"/>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456" name="Google Shape;456;p29"/>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457" name="Google Shape;457;p29"/>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58" name="Google Shape;458;p29"/>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9" name="Google Shape;459;p29"/>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460" name="Google Shape;460;p29"/>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461" name="Google Shape;461;p29"/>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462" name="Google Shape;462;p29"/>
          <p:cNvSpPr/>
          <p:nvPr/>
        </p:nvSpPr>
        <p:spPr>
          <a:xfrm>
            <a:off x="8631936" y="3840480"/>
            <a:ext cx="3108960" cy="1584960"/>
          </a:xfrm>
          <a:prstGeom prst="roundRect">
            <a:avLst>
              <a:gd fmla="val 10769" name="adj"/>
            </a:avLst>
          </a:prstGeom>
          <a:solidFill>
            <a:srgbClr val="FDEFD4"/>
          </a:solidFill>
          <a:ln cap="flat" cmpd="sng" w="25400">
            <a:solidFill>
              <a:srgbClr val="8A520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3" name="Google Shape;463;p29"/>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464" name="Google Shape;464;p29"/>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465" name="Google Shape;465;p29"/>
          <p:cNvSpPr/>
          <p:nvPr/>
        </p:nvSpPr>
        <p:spPr>
          <a:xfrm>
            <a:off x="4547616" y="3840480"/>
            <a:ext cx="3108960" cy="1584960"/>
          </a:xfrm>
          <a:prstGeom prst="roundRect">
            <a:avLst>
              <a:gd fmla="val 10769" name="adj"/>
            </a:avLst>
          </a:prstGeom>
          <a:solidFill>
            <a:srgbClr val="EAF3DE"/>
          </a:solidFill>
          <a:ln cap="flat" cmpd="sng" w="25400">
            <a:solidFill>
              <a:srgbClr val="3B6D11"/>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6" name="Google Shape;466;p29"/>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467" name="Google Shape;467;p29"/>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468" name="Google Shape;468;p29"/>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9" name="Google Shape;469;p29"/>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470" name="Google Shape;470;p29"/>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471" name="Google Shape;471;p29"/>
          <p:cNvCxnSpPr/>
          <p:nvPr/>
        </p:nvCxnSpPr>
        <p:spPr>
          <a:xfrm flipH="1">
            <a:off x="7656576" y="4632960"/>
            <a:ext cx="975360" cy="12192"/>
          </a:xfrm>
          <a:prstGeom prst="straightConnector1">
            <a:avLst/>
          </a:prstGeom>
          <a:noFill/>
          <a:ln cap="flat" cmpd="sng" w="30475">
            <a:solidFill>
              <a:srgbClr val="8A5200"/>
            </a:solidFill>
            <a:prstDash val="solid"/>
            <a:round/>
            <a:headEnd len="sm" w="sm" type="none"/>
            <a:tailEnd len="med" w="med" type="triangle"/>
          </a:ln>
        </p:spPr>
      </p:cxnSp>
      <p:sp>
        <p:nvSpPr>
          <p:cNvPr id="472" name="Google Shape;472;p29"/>
          <p:cNvSpPr/>
          <p:nvPr/>
        </p:nvSpPr>
        <p:spPr>
          <a:xfrm>
            <a:off x="6620256" y="4876800"/>
            <a:ext cx="3048000" cy="390144"/>
          </a:xfrm>
          <a:prstGeom prst="roundRect">
            <a:avLst>
              <a:gd fmla="val 50000" name="adj"/>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3" name="Google Shape;473;p29"/>
          <p:cNvSpPr/>
          <p:nvPr/>
        </p:nvSpPr>
        <p:spPr>
          <a:xfrm>
            <a:off x="6693408" y="4876800"/>
            <a:ext cx="290169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SELECT * WHERE id='2021-CSE-047'</a:t>
            </a:r>
            <a:endParaRPr sz="1500">
              <a:solidFill>
                <a:schemeClr val="dk1"/>
              </a:solidFill>
              <a:latin typeface="Calibri"/>
              <a:ea typeface="Calibri"/>
              <a:cs typeface="Calibri"/>
              <a:sym typeface="Calibri"/>
            </a:endParaRPr>
          </a:p>
        </p:txBody>
      </p:sp>
      <p:sp>
        <p:nvSpPr>
          <p:cNvPr id="474" name="Google Shape;474;p29"/>
          <p:cNvSpPr/>
          <p:nvPr/>
        </p:nvSpPr>
        <p:spPr>
          <a:xfrm>
            <a:off x="8058912" y="4547616"/>
            <a:ext cx="170688" cy="170688"/>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5" name="Google Shape;475;p29"/>
          <p:cNvSpPr/>
          <p:nvPr/>
        </p:nvSpPr>
        <p:spPr>
          <a:xfrm>
            <a:off x="5760720" y="4291584"/>
            <a:ext cx="682752" cy="682752"/>
          </a:xfrm>
          <a:prstGeom prst="ellipse">
            <a:avLst/>
          </a:prstGeom>
          <a:solidFill>
            <a:srgbClr val="3B6D11">
              <a:alpha val="0"/>
            </a:srgbClr>
          </a:solidFill>
          <a:ln cap="flat" cmpd="sng" w="10150">
            <a:solidFill>
              <a:srgbClr val="3B6D11">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6" name="Google Shape;476;p29"/>
          <p:cNvSpPr/>
          <p:nvPr/>
        </p:nvSpPr>
        <p:spPr>
          <a:xfrm>
            <a:off x="5541264" y="4072128"/>
            <a:ext cx="1121664" cy="1121664"/>
          </a:xfrm>
          <a:prstGeom prst="ellipse">
            <a:avLst/>
          </a:prstGeom>
          <a:solidFill>
            <a:srgbClr val="3B6D11">
              <a:alpha val="0"/>
            </a:srgbClr>
          </a:solidFill>
          <a:ln cap="flat" cmpd="sng" w="10150">
            <a:solidFill>
              <a:srgbClr val="3B6D11">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7" name="Google Shape;477;p29"/>
          <p:cNvSpPr/>
          <p:nvPr/>
        </p:nvSpPr>
        <p:spPr>
          <a:xfrm>
            <a:off x="5321808" y="3852672"/>
            <a:ext cx="1560576" cy="1560576"/>
          </a:xfrm>
          <a:prstGeom prst="ellipse">
            <a:avLst/>
          </a:prstGeom>
          <a:solidFill>
            <a:srgbClr val="3B6D11">
              <a:alpha val="0"/>
            </a:srgbClr>
          </a:solidFill>
          <a:ln cap="flat" cmpd="sng" w="10150">
            <a:solidFill>
              <a:srgbClr val="3B6D11">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8" name="Google Shape;478;p29"/>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9" name="Google Shape;479;p29"/>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480" name="Google Shape;480;p29"/>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0"/>
              </a:buClr>
              <a:buSzPts val="1400"/>
              <a:buFont typeface="Calibri"/>
              <a:buNone/>
            </a:pPr>
            <a:r>
              <a:rPr b="1" lang="en-US" sz="1400">
                <a:solidFill>
                  <a:srgbClr val="8A5200"/>
                </a:solidFill>
                <a:latin typeface="Calibri"/>
                <a:ea typeface="Calibri"/>
                <a:cs typeface="Calibri"/>
                <a:sym typeface="Calibri"/>
              </a:rPr>
              <a:t>◈ MODEL  </a:t>
            </a:r>
            <a:r>
              <a:rPr lang="en-US" sz="1400">
                <a:solidFill>
                  <a:srgbClr val="3A3A38"/>
                </a:solidFill>
                <a:latin typeface="Calibri"/>
                <a:ea typeface="Calibri"/>
                <a:cs typeface="Calibri"/>
                <a:sym typeface="Calibri"/>
              </a:rPr>
              <a:t>ORM builds query: SELECT * FROM students WHERE id = '2021-CSE-047'</a:t>
            </a:r>
            <a:endParaRPr sz="1400">
              <a:solidFill>
                <a:schemeClr val="dk1"/>
              </a:solidFill>
              <a:latin typeface="Calibri"/>
              <a:ea typeface="Calibri"/>
              <a:cs typeface="Calibri"/>
              <a:sym typeface="Calibri"/>
            </a:endParaRPr>
          </a:p>
        </p:txBody>
      </p:sp>
      <p:sp>
        <p:nvSpPr>
          <p:cNvPr id="481" name="Google Shape;481;p29"/>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400"/>
              <a:buFont typeface="Calibri"/>
              <a:buNone/>
            </a:pPr>
            <a:r>
              <a:rPr b="1" lang="en-US" sz="1400">
                <a:solidFill>
                  <a:srgbClr val="3B6D11"/>
                </a:solidFill>
                <a:latin typeface="Calibri"/>
                <a:ea typeface="Calibri"/>
                <a:cs typeface="Calibri"/>
                <a:sym typeface="Calibri"/>
              </a:rPr>
              <a:t>⬡ DB  </a:t>
            </a:r>
            <a:r>
              <a:rPr lang="en-US" sz="1400">
                <a:solidFill>
                  <a:srgbClr val="3A3A38"/>
                </a:solidFill>
                <a:latin typeface="Calibri"/>
                <a:ea typeface="Calibri"/>
                <a:cs typeface="Calibri"/>
                <a:sym typeface="Calibri"/>
              </a:rPr>
              <a:t>SQL query dispatched to database over internal connection</a:t>
            </a:r>
            <a:endParaRPr sz="1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486" name="Shape 486"/>
        <p:cNvGrpSpPr/>
        <p:nvPr/>
      </p:nvGrpSpPr>
      <p:grpSpPr>
        <a:xfrm>
          <a:off x="0" y="0"/>
          <a:ext cx="0" cy="0"/>
          <a:chOff x="0" y="0"/>
          <a:chExt cx="0" cy="0"/>
        </a:xfrm>
      </p:grpSpPr>
      <p:sp>
        <p:nvSpPr>
          <p:cNvPr id="487" name="Google Shape;487;p30"/>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8" name="Google Shape;488;p30"/>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9" name="Google Shape;489;p30"/>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6/10</a:t>
            </a:r>
            <a:endParaRPr sz="1500">
              <a:solidFill>
                <a:schemeClr val="dk1"/>
              </a:solidFill>
              <a:latin typeface="Calibri"/>
              <a:ea typeface="Calibri"/>
              <a:cs typeface="Calibri"/>
              <a:sym typeface="Calibri"/>
            </a:endParaRPr>
          </a:p>
        </p:txBody>
      </p:sp>
      <p:sp>
        <p:nvSpPr>
          <p:cNvPr id="490" name="Google Shape;490;p30"/>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Database returns result row to Model</a:t>
            </a:r>
            <a:endParaRPr sz="2900">
              <a:solidFill>
                <a:schemeClr val="dk1"/>
              </a:solidFill>
              <a:latin typeface="Calibri"/>
              <a:ea typeface="Calibri"/>
              <a:cs typeface="Calibri"/>
              <a:sym typeface="Calibri"/>
            </a:endParaRPr>
          </a:p>
        </p:txBody>
      </p:sp>
      <p:sp>
        <p:nvSpPr>
          <p:cNvPr id="491" name="Google Shape;491;p30"/>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2" name="Google Shape;492;p30"/>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3" name="Google Shape;493;p30"/>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4" name="Google Shape;494;p30"/>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5" name="Google Shape;495;p30"/>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6" name="Google Shape;496;p30"/>
          <p:cNvSpPr/>
          <p:nvPr/>
        </p:nvSpPr>
        <p:spPr>
          <a:xfrm>
            <a:off x="6096000"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7" name="Google Shape;497;p30"/>
          <p:cNvSpPr/>
          <p:nvPr/>
        </p:nvSpPr>
        <p:spPr>
          <a:xfrm>
            <a:off x="6437376"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8" name="Google Shape;498;p30"/>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9" name="Google Shape;499;p30"/>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0" name="Google Shape;500;p30"/>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1" name="Google Shape;501;p30"/>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502" name="Google Shape;502;p30"/>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503" name="Google Shape;503;p30"/>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4" name="Google Shape;504;p30"/>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5" name="Google Shape;505;p30"/>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506" name="Google Shape;506;p30"/>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7" name="Google Shape;507;p30"/>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08" name="Google Shape;508;p30"/>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509" name="Google Shape;509;p30"/>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0" name="Google Shape;510;p30"/>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511" name="Google Shape;511;p30"/>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512" name="Google Shape;512;p30"/>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13" name="Google Shape;513;p30"/>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4" name="Google Shape;514;p30"/>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515" name="Google Shape;515;p30"/>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516" name="Google Shape;516;p30"/>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17" name="Google Shape;517;p30"/>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8" name="Google Shape;518;p30"/>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519" name="Google Shape;519;p30"/>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520" name="Google Shape;520;p30"/>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21" name="Google Shape;521;p30"/>
          <p:cNvSpPr/>
          <p:nvPr/>
        </p:nvSpPr>
        <p:spPr>
          <a:xfrm>
            <a:off x="8631936" y="3840480"/>
            <a:ext cx="3108960" cy="1584960"/>
          </a:xfrm>
          <a:prstGeom prst="roundRect">
            <a:avLst>
              <a:gd fmla="val 10769" name="adj"/>
            </a:avLst>
          </a:prstGeom>
          <a:solidFill>
            <a:srgbClr val="FDEFD4"/>
          </a:solidFill>
          <a:ln cap="flat" cmpd="sng" w="25400">
            <a:solidFill>
              <a:srgbClr val="8A520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2" name="Google Shape;522;p30"/>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523" name="Google Shape;523;p30"/>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524" name="Google Shape;524;p30"/>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5" name="Google Shape;525;p30"/>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526" name="Google Shape;526;p30"/>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527" name="Google Shape;527;p30"/>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28" name="Google Shape;528;p30"/>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9" name="Google Shape;529;p30"/>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530" name="Google Shape;530;p30"/>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531" name="Google Shape;531;p30"/>
          <p:cNvCxnSpPr/>
          <p:nvPr/>
        </p:nvCxnSpPr>
        <p:spPr>
          <a:xfrm>
            <a:off x="7656576" y="4632960"/>
            <a:ext cx="975360" cy="12192"/>
          </a:xfrm>
          <a:prstGeom prst="straightConnector1">
            <a:avLst/>
          </a:prstGeom>
          <a:noFill/>
          <a:ln cap="flat" cmpd="sng" w="30475">
            <a:solidFill>
              <a:srgbClr val="3B6D11"/>
            </a:solidFill>
            <a:prstDash val="solid"/>
            <a:round/>
            <a:headEnd len="sm" w="sm" type="none"/>
            <a:tailEnd len="med" w="med" type="triangle"/>
          </a:ln>
        </p:spPr>
      </p:cxnSp>
      <p:sp>
        <p:nvSpPr>
          <p:cNvPr id="532" name="Google Shape;532;p30"/>
          <p:cNvSpPr/>
          <p:nvPr/>
        </p:nvSpPr>
        <p:spPr>
          <a:xfrm>
            <a:off x="7266432" y="3998976"/>
            <a:ext cx="1755648" cy="390144"/>
          </a:xfrm>
          <a:prstGeom prst="roundRect">
            <a:avLst>
              <a:gd fmla="val 50000" name="adj"/>
            </a:avLst>
          </a:prstGeom>
          <a:solidFill>
            <a:srgbClr val="3B6D11"/>
          </a:solidFill>
          <a:ln cap="flat" cmpd="sng" w="12700">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3" name="Google Shape;533;p30"/>
          <p:cNvSpPr/>
          <p:nvPr/>
        </p:nvSpPr>
        <p:spPr>
          <a:xfrm>
            <a:off x="7339584" y="3998976"/>
            <a:ext cx="1609344"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 student row }</a:t>
            </a:r>
            <a:endParaRPr sz="1500">
              <a:solidFill>
                <a:schemeClr val="dk1"/>
              </a:solidFill>
              <a:latin typeface="Calibri"/>
              <a:ea typeface="Calibri"/>
              <a:cs typeface="Calibri"/>
              <a:sym typeface="Calibri"/>
            </a:endParaRPr>
          </a:p>
        </p:txBody>
      </p:sp>
      <p:sp>
        <p:nvSpPr>
          <p:cNvPr id="534" name="Google Shape;534;p30"/>
          <p:cNvSpPr/>
          <p:nvPr/>
        </p:nvSpPr>
        <p:spPr>
          <a:xfrm>
            <a:off x="8058912" y="4547616"/>
            <a:ext cx="170688" cy="170688"/>
          </a:xfrm>
          <a:prstGeom prst="ellipse">
            <a:avLst/>
          </a:prstGeom>
          <a:solidFill>
            <a:srgbClr val="3B6D11"/>
          </a:solidFill>
          <a:ln cap="flat" cmpd="sng" w="12700">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5" name="Google Shape;535;p30"/>
          <p:cNvSpPr/>
          <p:nvPr/>
        </p:nvSpPr>
        <p:spPr>
          <a:xfrm>
            <a:off x="4547616" y="5547360"/>
            <a:ext cx="3108960" cy="1127760"/>
          </a:xfrm>
          <a:prstGeom prst="roundRect">
            <a:avLst>
              <a:gd fmla="val 9756" name="adj"/>
            </a:avLst>
          </a:prstGeom>
          <a:solidFill>
            <a:srgbClr val="FFFFFF"/>
          </a:solidFill>
          <a:ln cap="flat" cmpd="sng" w="9525">
            <a:solidFill>
              <a:srgbClr val="3B6D11"/>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6" name="Google Shape;536;p30"/>
          <p:cNvSpPr/>
          <p:nvPr/>
        </p:nvSpPr>
        <p:spPr>
          <a:xfrm>
            <a:off x="4669536" y="5620512"/>
            <a:ext cx="286512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200"/>
              <a:buFont typeface="Calibri"/>
              <a:buNone/>
            </a:pPr>
            <a:r>
              <a:rPr b="1" lang="en-US" sz="1200">
                <a:solidFill>
                  <a:srgbClr val="3B6D11"/>
                </a:solidFill>
                <a:latin typeface="Calibri"/>
                <a:ea typeface="Calibri"/>
                <a:cs typeface="Calibri"/>
                <a:sym typeface="Calibri"/>
              </a:rPr>
              <a:t>Result: 1 row found</a:t>
            </a:r>
            <a:endParaRPr sz="1200">
              <a:solidFill>
                <a:schemeClr val="dk1"/>
              </a:solidFill>
              <a:latin typeface="Calibri"/>
              <a:ea typeface="Calibri"/>
              <a:cs typeface="Calibri"/>
              <a:sym typeface="Calibri"/>
            </a:endParaRPr>
          </a:p>
        </p:txBody>
      </p:sp>
      <p:sp>
        <p:nvSpPr>
          <p:cNvPr id="537" name="Google Shape;537;p30"/>
          <p:cNvSpPr/>
          <p:nvPr/>
        </p:nvSpPr>
        <p:spPr>
          <a:xfrm>
            <a:off x="4693920" y="5913120"/>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name: </a:t>
            </a:r>
            <a:endParaRPr sz="1100">
              <a:solidFill>
                <a:schemeClr val="dk1"/>
              </a:solidFill>
              <a:latin typeface="Calibri"/>
              <a:ea typeface="Calibri"/>
              <a:cs typeface="Calibri"/>
              <a:sym typeface="Calibri"/>
            </a:endParaRPr>
          </a:p>
        </p:txBody>
      </p:sp>
      <p:sp>
        <p:nvSpPr>
          <p:cNvPr id="538" name="Google Shape;538;p30"/>
          <p:cNvSpPr/>
          <p:nvPr/>
        </p:nvSpPr>
        <p:spPr>
          <a:xfrm>
            <a:off x="5376672" y="5913120"/>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Rafiul Hasan</a:t>
            </a:r>
            <a:endParaRPr sz="1100">
              <a:solidFill>
                <a:schemeClr val="dk1"/>
              </a:solidFill>
              <a:latin typeface="Calibri"/>
              <a:ea typeface="Calibri"/>
              <a:cs typeface="Calibri"/>
              <a:sym typeface="Calibri"/>
            </a:endParaRPr>
          </a:p>
        </p:txBody>
      </p:sp>
      <p:sp>
        <p:nvSpPr>
          <p:cNvPr id="539" name="Google Shape;539;p30"/>
          <p:cNvSpPr/>
          <p:nvPr/>
        </p:nvSpPr>
        <p:spPr>
          <a:xfrm>
            <a:off x="4693920" y="6083808"/>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cgpa: </a:t>
            </a:r>
            <a:endParaRPr sz="1100">
              <a:solidFill>
                <a:schemeClr val="dk1"/>
              </a:solidFill>
              <a:latin typeface="Calibri"/>
              <a:ea typeface="Calibri"/>
              <a:cs typeface="Calibri"/>
              <a:sym typeface="Calibri"/>
            </a:endParaRPr>
          </a:p>
        </p:txBody>
      </p:sp>
      <p:sp>
        <p:nvSpPr>
          <p:cNvPr id="540" name="Google Shape;540;p30"/>
          <p:cNvSpPr/>
          <p:nvPr/>
        </p:nvSpPr>
        <p:spPr>
          <a:xfrm>
            <a:off x="5376672" y="6083808"/>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3.72</a:t>
            </a:r>
            <a:endParaRPr sz="1100">
              <a:solidFill>
                <a:schemeClr val="dk1"/>
              </a:solidFill>
              <a:latin typeface="Calibri"/>
              <a:ea typeface="Calibri"/>
              <a:cs typeface="Calibri"/>
              <a:sym typeface="Calibri"/>
            </a:endParaRPr>
          </a:p>
        </p:txBody>
      </p:sp>
      <p:sp>
        <p:nvSpPr>
          <p:cNvPr id="541" name="Google Shape;541;p30"/>
          <p:cNvSpPr/>
          <p:nvPr/>
        </p:nvSpPr>
        <p:spPr>
          <a:xfrm>
            <a:off x="4693920" y="6254496"/>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dept: </a:t>
            </a:r>
            <a:endParaRPr sz="1100">
              <a:solidFill>
                <a:schemeClr val="dk1"/>
              </a:solidFill>
              <a:latin typeface="Calibri"/>
              <a:ea typeface="Calibri"/>
              <a:cs typeface="Calibri"/>
              <a:sym typeface="Calibri"/>
            </a:endParaRPr>
          </a:p>
        </p:txBody>
      </p:sp>
      <p:sp>
        <p:nvSpPr>
          <p:cNvPr id="542" name="Google Shape;542;p30"/>
          <p:cNvSpPr/>
          <p:nvPr/>
        </p:nvSpPr>
        <p:spPr>
          <a:xfrm>
            <a:off x="5376672" y="6254496"/>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CSE</a:t>
            </a:r>
            <a:endParaRPr sz="1100">
              <a:solidFill>
                <a:schemeClr val="dk1"/>
              </a:solidFill>
              <a:latin typeface="Calibri"/>
              <a:ea typeface="Calibri"/>
              <a:cs typeface="Calibri"/>
              <a:sym typeface="Calibri"/>
            </a:endParaRPr>
          </a:p>
        </p:txBody>
      </p:sp>
      <p:sp>
        <p:nvSpPr>
          <p:cNvPr id="543" name="Google Shape;543;p30"/>
          <p:cNvSpPr/>
          <p:nvPr/>
        </p:nvSpPr>
        <p:spPr>
          <a:xfrm>
            <a:off x="4693920" y="6425184"/>
            <a:ext cx="67056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semester: </a:t>
            </a:r>
            <a:endParaRPr sz="1100">
              <a:solidFill>
                <a:schemeClr val="dk1"/>
              </a:solidFill>
              <a:latin typeface="Calibri"/>
              <a:ea typeface="Calibri"/>
              <a:cs typeface="Calibri"/>
              <a:sym typeface="Calibri"/>
            </a:endParaRPr>
          </a:p>
        </p:txBody>
      </p:sp>
      <p:sp>
        <p:nvSpPr>
          <p:cNvPr id="544" name="Google Shape;544;p30"/>
          <p:cNvSpPr/>
          <p:nvPr/>
        </p:nvSpPr>
        <p:spPr>
          <a:xfrm>
            <a:off x="5376672" y="6425184"/>
            <a:ext cx="2133600" cy="1584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1100"/>
              <a:buFont typeface="Calibri"/>
              <a:buNone/>
            </a:pPr>
            <a:r>
              <a:rPr lang="en-US" sz="1100">
                <a:solidFill>
                  <a:srgbClr val="1A1A18"/>
                </a:solidFill>
                <a:latin typeface="Calibri"/>
                <a:ea typeface="Calibri"/>
                <a:cs typeface="Calibri"/>
                <a:sym typeface="Calibri"/>
              </a:rPr>
              <a:t>8th</a:t>
            </a:r>
            <a:endParaRPr sz="1100">
              <a:solidFill>
                <a:schemeClr val="dk1"/>
              </a:solidFill>
              <a:latin typeface="Calibri"/>
              <a:ea typeface="Calibri"/>
              <a:cs typeface="Calibri"/>
              <a:sym typeface="Calibri"/>
            </a:endParaRPr>
          </a:p>
        </p:txBody>
      </p:sp>
      <p:sp>
        <p:nvSpPr>
          <p:cNvPr id="545" name="Google Shape;545;p30"/>
          <p:cNvSpPr/>
          <p:nvPr/>
        </p:nvSpPr>
        <p:spPr>
          <a:xfrm>
            <a:off x="341376" y="5547360"/>
            <a:ext cx="4181856" cy="12252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6" name="Google Shape;546;p30"/>
          <p:cNvSpPr/>
          <p:nvPr/>
        </p:nvSpPr>
        <p:spPr>
          <a:xfrm>
            <a:off x="536448" y="5644896"/>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547" name="Google Shape;547;p30"/>
          <p:cNvSpPr/>
          <p:nvPr/>
        </p:nvSpPr>
        <p:spPr>
          <a:xfrm>
            <a:off x="546520" y="5973285"/>
            <a:ext cx="386486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400"/>
              <a:buFont typeface="Calibri"/>
              <a:buNone/>
            </a:pPr>
            <a:r>
              <a:rPr b="1" lang="en-US" sz="1400">
                <a:solidFill>
                  <a:srgbClr val="3B6D11"/>
                </a:solidFill>
                <a:latin typeface="Calibri"/>
                <a:ea typeface="Calibri"/>
                <a:cs typeface="Calibri"/>
                <a:sym typeface="Calibri"/>
              </a:rPr>
              <a:t>⬡ DB  </a:t>
            </a:r>
            <a:r>
              <a:rPr lang="en-US" sz="1400">
                <a:solidFill>
                  <a:srgbClr val="3A3A38"/>
                </a:solidFill>
                <a:latin typeface="Calibri"/>
                <a:ea typeface="Calibri"/>
                <a:cs typeface="Calibri"/>
                <a:sym typeface="Calibri"/>
              </a:rPr>
              <a:t>Query executed in 4ms — 1 row found (Rafiul Hasan)</a:t>
            </a:r>
            <a:endParaRPr sz="1400">
              <a:solidFill>
                <a:schemeClr val="dk1"/>
              </a:solidFill>
              <a:latin typeface="Calibri"/>
              <a:ea typeface="Calibri"/>
              <a:cs typeface="Calibri"/>
              <a:sym typeface="Calibri"/>
            </a:endParaRPr>
          </a:p>
        </p:txBody>
      </p:sp>
      <p:sp>
        <p:nvSpPr>
          <p:cNvPr id="548" name="Google Shape;548;p30"/>
          <p:cNvSpPr/>
          <p:nvPr/>
        </p:nvSpPr>
        <p:spPr>
          <a:xfrm>
            <a:off x="536448" y="6382512"/>
            <a:ext cx="38648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6D11"/>
              </a:buClr>
              <a:buSzPts val="1400"/>
              <a:buFont typeface="Calibri"/>
              <a:buNone/>
            </a:pPr>
            <a:r>
              <a:rPr b="1" lang="en-US" sz="1400">
                <a:solidFill>
                  <a:srgbClr val="3B6D11"/>
                </a:solidFill>
                <a:latin typeface="Calibri"/>
                <a:ea typeface="Calibri"/>
                <a:cs typeface="Calibri"/>
                <a:sym typeface="Calibri"/>
              </a:rPr>
              <a:t>⬡ DB  </a:t>
            </a:r>
            <a:r>
              <a:rPr lang="en-US" sz="1400">
                <a:solidFill>
                  <a:srgbClr val="3A3A38"/>
                </a:solidFill>
                <a:latin typeface="Calibri"/>
                <a:ea typeface="Calibri"/>
                <a:cs typeface="Calibri"/>
                <a:sym typeface="Calibri"/>
              </a:rPr>
              <a:t>Raw row { id, name, dept, cgpa, semester, status } returned to Model</a:t>
            </a:r>
            <a:endParaRPr sz="1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553" name="Shape 553"/>
        <p:cNvGrpSpPr/>
        <p:nvPr/>
      </p:nvGrpSpPr>
      <p:grpSpPr>
        <a:xfrm>
          <a:off x="0" y="0"/>
          <a:ext cx="0" cy="0"/>
          <a:chOff x="0" y="0"/>
          <a:chExt cx="0" cy="0"/>
        </a:xfrm>
      </p:grpSpPr>
      <p:sp>
        <p:nvSpPr>
          <p:cNvPr id="554" name="Google Shape;554;p31"/>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5" name="Google Shape;555;p31"/>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6" name="Google Shape;556;p31"/>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7/10</a:t>
            </a:r>
            <a:endParaRPr sz="1500">
              <a:solidFill>
                <a:schemeClr val="dk1"/>
              </a:solidFill>
              <a:latin typeface="Calibri"/>
              <a:ea typeface="Calibri"/>
              <a:cs typeface="Calibri"/>
              <a:sym typeface="Calibri"/>
            </a:endParaRPr>
          </a:p>
        </p:txBody>
      </p:sp>
      <p:sp>
        <p:nvSpPr>
          <p:cNvPr id="557" name="Google Shape;557;p31"/>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Model returns bound $student object to Controller</a:t>
            </a:r>
            <a:endParaRPr sz="2900">
              <a:solidFill>
                <a:schemeClr val="dk1"/>
              </a:solidFill>
              <a:latin typeface="Calibri"/>
              <a:ea typeface="Calibri"/>
              <a:cs typeface="Calibri"/>
              <a:sym typeface="Calibri"/>
            </a:endParaRPr>
          </a:p>
        </p:txBody>
      </p:sp>
      <p:sp>
        <p:nvSpPr>
          <p:cNvPr id="558" name="Google Shape;558;p31"/>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9" name="Google Shape;559;p31"/>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0" name="Google Shape;560;p31"/>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1" name="Google Shape;561;p31"/>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2" name="Google Shape;562;p31"/>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3" name="Google Shape;563;p31"/>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4" name="Google Shape;564;p31"/>
          <p:cNvSpPr/>
          <p:nvPr/>
        </p:nvSpPr>
        <p:spPr>
          <a:xfrm>
            <a:off x="6412992"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5" name="Google Shape;565;p31"/>
          <p:cNvSpPr/>
          <p:nvPr/>
        </p:nvSpPr>
        <p:spPr>
          <a:xfrm>
            <a:off x="6754368"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6" name="Google Shape;566;p31"/>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7" name="Google Shape;567;p31"/>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8" name="Google Shape;568;p31"/>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569" name="Google Shape;569;p31"/>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570" name="Google Shape;570;p31"/>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1" name="Google Shape;571;p31"/>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2" name="Google Shape;572;p31"/>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573" name="Google Shape;573;p31"/>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4" name="Google Shape;574;p31"/>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575" name="Google Shape;575;p31"/>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576" name="Google Shape;576;p31"/>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7" name="Google Shape;577;p31"/>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578" name="Google Shape;578;p31"/>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579" name="Google Shape;579;p31"/>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80" name="Google Shape;580;p31"/>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1" name="Google Shape;581;p31"/>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582" name="Google Shape;582;p31"/>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583" name="Google Shape;583;p31"/>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84" name="Google Shape;584;p31"/>
          <p:cNvSpPr/>
          <p:nvPr/>
        </p:nvSpPr>
        <p:spPr>
          <a:xfrm>
            <a:off x="8631936" y="1609344"/>
            <a:ext cx="3108960" cy="1584960"/>
          </a:xfrm>
          <a:prstGeom prst="roundRect">
            <a:avLst>
              <a:gd fmla="val 10769" name="adj"/>
            </a:avLst>
          </a:prstGeom>
          <a:solidFill>
            <a:srgbClr val="EAE8FE"/>
          </a:solidFill>
          <a:ln cap="flat" cmpd="sng" w="25400">
            <a:solidFill>
              <a:srgbClr val="4A42B0"/>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5" name="Google Shape;585;p31"/>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586" name="Google Shape;586;p31"/>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587" name="Google Shape;587;p31"/>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8" name="Google Shape;588;p31"/>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589" name="Google Shape;589;p31"/>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590" name="Google Shape;590;p31"/>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91" name="Google Shape;591;p31"/>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2" name="Google Shape;592;p31"/>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593" name="Google Shape;593;p31"/>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594" name="Google Shape;594;p31"/>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595" name="Google Shape;595;p31"/>
          <p:cNvSpPr/>
          <p:nvPr/>
        </p:nvSpPr>
        <p:spPr>
          <a:xfrm>
            <a:off x="463296" y="3840480"/>
            <a:ext cx="3108960" cy="1584960"/>
          </a:xfrm>
          <a:prstGeom prst="roundRect">
            <a:avLst>
              <a:gd fmla="val 10769" name="adj"/>
            </a:avLst>
          </a:prstGeom>
          <a:solidFill>
            <a:srgbClr val="F2F4F8"/>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6" name="Google Shape;596;p31"/>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966"/>
              </a:buClr>
              <a:buSzPts val="2300"/>
              <a:buFont typeface="Calibri"/>
              <a:buNone/>
            </a:pPr>
            <a:r>
              <a:rPr b="1" lang="en-US" sz="2300">
                <a:solidFill>
                  <a:srgbClr val="6A6966"/>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597" name="Google Shape;597;p31"/>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C6BC"/>
              </a:buClr>
              <a:buSzPts val="1300"/>
              <a:buFont typeface="Calibri"/>
              <a:buNone/>
            </a:pPr>
            <a:r>
              <a:rPr lang="en-US" sz="1300">
                <a:solidFill>
                  <a:srgbClr val="C8C6BC"/>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598" name="Google Shape;598;p31"/>
          <p:cNvCxnSpPr/>
          <p:nvPr/>
        </p:nvCxnSpPr>
        <p:spPr>
          <a:xfrm flipH="1" rot="10800000">
            <a:off x="10186416" y="3194304"/>
            <a:ext cx="12192" cy="646176"/>
          </a:xfrm>
          <a:prstGeom prst="straightConnector1">
            <a:avLst/>
          </a:prstGeom>
          <a:noFill/>
          <a:ln cap="flat" cmpd="sng" w="30475">
            <a:solidFill>
              <a:srgbClr val="8A5200"/>
            </a:solidFill>
            <a:prstDash val="solid"/>
            <a:round/>
            <a:headEnd len="sm" w="sm" type="none"/>
            <a:tailEnd len="med" w="med" type="triangle"/>
          </a:ln>
        </p:spPr>
      </p:cxnSp>
      <p:sp>
        <p:nvSpPr>
          <p:cNvPr id="599" name="Google Shape;599;p31"/>
          <p:cNvSpPr/>
          <p:nvPr/>
        </p:nvSpPr>
        <p:spPr>
          <a:xfrm>
            <a:off x="9168384" y="3322320"/>
            <a:ext cx="2682240" cy="390144"/>
          </a:xfrm>
          <a:prstGeom prst="roundRect">
            <a:avLst>
              <a:gd fmla="val 50000" name="adj"/>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0" name="Google Shape;600;p31"/>
          <p:cNvSpPr/>
          <p:nvPr/>
        </p:nvSpPr>
        <p:spPr>
          <a:xfrm>
            <a:off x="9241536" y="3322320"/>
            <a:ext cx="2535936"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$student (hydrated object)</a:t>
            </a:r>
            <a:endParaRPr sz="1300">
              <a:solidFill>
                <a:schemeClr val="dk1"/>
              </a:solidFill>
              <a:latin typeface="Calibri"/>
              <a:ea typeface="Calibri"/>
              <a:cs typeface="Calibri"/>
              <a:sym typeface="Calibri"/>
            </a:endParaRPr>
          </a:p>
        </p:txBody>
      </p:sp>
      <p:sp>
        <p:nvSpPr>
          <p:cNvPr id="601" name="Google Shape;601;p31"/>
          <p:cNvSpPr/>
          <p:nvPr/>
        </p:nvSpPr>
        <p:spPr>
          <a:xfrm>
            <a:off x="10101072" y="3432048"/>
            <a:ext cx="170688" cy="170688"/>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2" name="Google Shape;602;p31"/>
          <p:cNvSpPr/>
          <p:nvPr/>
        </p:nvSpPr>
        <p:spPr>
          <a:xfrm>
            <a:off x="9845040" y="2060448"/>
            <a:ext cx="682752" cy="682752"/>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3" name="Google Shape;603;p31"/>
          <p:cNvSpPr/>
          <p:nvPr/>
        </p:nvSpPr>
        <p:spPr>
          <a:xfrm>
            <a:off x="9625584" y="1840992"/>
            <a:ext cx="1121664" cy="1121664"/>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4" name="Google Shape;604;p31"/>
          <p:cNvSpPr/>
          <p:nvPr/>
        </p:nvSpPr>
        <p:spPr>
          <a:xfrm>
            <a:off x="9406128" y="1621536"/>
            <a:ext cx="1560576" cy="1560576"/>
          </a:xfrm>
          <a:prstGeom prst="ellipse">
            <a:avLst/>
          </a:prstGeom>
          <a:solidFill>
            <a:srgbClr val="4A42B0">
              <a:alpha val="0"/>
            </a:srgbClr>
          </a:solidFill>
          <a:ln cap="flat" cmpd="sng" w="10150">
            <a:solidFill>
              <a:srgbClr val="4A42B0">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5" name="Google Shape;605;p31"/>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6" name="Google Shape;606;p31"/>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607" name="Google Shape;607;p31"/>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0"/>
              </a:buClr>
              <a:buSzPts val="1400"/>
              <a:buFont typeface="Calibri"/>
              <a:buNone/>
            </a:pPr>
            <a:r>
              <a:rPr b="1" lang="en-US" sz="1400">
                <a:solidFill>
                  <a:srgbClr val="8A5200"/>
                </a:solidFill>
                <a:latin typeface="Calibri"/>
                <a:ea typeface="Calibri"/>
                <a:cs typeface="Calibri"/>
                <a:sym typeface="Calibri"/>
              </a:rPr>
              <a:t>◈ MODEL  </a:t>
            </a:r>
            <a:r>
              <a:rPr lang="en-US" sz="1400">
                <a:solidFill>
                  <a:srgbClr val="3A3A38"/>
                </a:solidFill>
                <a:latin typeface="Calibri"/>
                <a:ea typeface="Calibri"/>
                <a:cs typeface="Calibri"/>
                <a:sym typeface="Calibri"/>
              </a:rPr>
              <a:t>Row mapped → Student object: { name, dept, cgpa, semester, status }</a:t>
            </a:r>
            <a:endParaRPr sz="1400">
              <a:solidFill>
                <a:schemeClr val="dk1"/>
              </a:solidFill>
              <a:latin typeface="Calibri"/>
              <a:ea typeface="Calibri"/>
              <a:cs typeface="Calibri"/>
              <a:sym typeface="Calibri"/>
            </a:endParaRPr>
          </a:p>
        </p:txBody>
      </p:sp>
      <p:sp>
        <p:nvSpPr>
          <p:cNvPr id="608" name="Google Shape;608;p31"/>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 hydrated object received back in Controller</a:t>
            </a:r>
            <a:endParaRPr sz="1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613" name="Shape 613"/>
        <p:cNvGrpSpPr/>
        <p:nvPr/>
      </p:nvGrpSpPr>
      <p:grpSpPr>
        <a:xfrm>
          <a:off x="0" y="0"/>
          <a:ext cx="0" cy="0"/>
          <a:chOff x="0" y="0"/>
          <a:chExt cx="0" cy="0"/>
        </a:xfrm>
      </p:grpSpPr>
      <p:sp>
        <p:nvSpPr>
          <p:cNvPr id="614" name="Google Shape;614;p32"/>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5" name="Google Shape;615;p32"/>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6" name="Google Shape;616;p32"/>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8/10</a:t>
            </a:r>
            <a:endParaRPr sz="1500">
              <a:solidFill>
                <a:schemeClr val="dk1"/>
              </a:solidFill>
              <a:latin typeface="Calibri"/>
              <a:ea typeface="Calibri"/>
              <a:cs typeface="Calibri"/>
              <a:sym typeface="Calibri"/>
            </a:endParaRPr>
          </a:p>
        </p:txBody>
      </p:sp>
      <p:sp>
        <p:nvSpPr>
          <p:cNvPr id="617" name="Google Shape;617;p32"/>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Controller passes $student to View</a:t>
            </a:r>
            <a:endParaRPr sz="2900">
              <a:solidFill>
                <a:schemeClr val="dk1"/>
              </a:solidFill>
              <a:latin typeface="Calibri"/>
              <a:ea typeface="Calibri"/>
              <a:cs typeface="Calibri"/>
              <a:sym typeface="Calibri"/>
            </a:endParaRPr>
          </a:p>
        </p:txBody>
      </p:sp>
      <p:sp>
        <p:nvSpPr>
          <p:cNvPr id="618" name="Google Shape;618;p32"/>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9" name="Google Shape;619;p32"/>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0" name="Google Shape;620;p32"/>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1" name="Google Shape;621;p32"/>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2" name="Google Shape;622;p32"/>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3" name="Google Shape;623;p32"/>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4" name="Google Shape;624;p32"/>
          <p:cNvSpPr/>
          <p:nvPr/>
        </p:nvSpPr>
        <p:spPr>
          <a:xfrm>
            <a:off x="643737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5" name="Google Shape;625;p32"/>
          <p:cNvSpPr/>
          <p:nvPr/>
        </p:nvSpPr>
        <p:spPr>
          <a:xfrm>
            <a:off x="6729984"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6" name="Google Shape;626;p32"/>
          <p:cNvSpPr/>
          <p:nvPr/>
        </p:nvSpPr>
        <p:spPr>
          <a:xfrm>
            <a:off x="7071360"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7" name="Google Shape;627;p32"/>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8" name="Google Shape;628;p32"/>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629" name="Google Shape;629;p32"/>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630" name="Google Shape;630;p32"/>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1" name="Google Shape;631;p32"/>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2" name="Google Shape;632;p32"/>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633" name="Google Shape;633;p32"/>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4" name="Google Shape;634;p32"/>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35" name="Google Shape;635;p32"/>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636" name="Google Shape;636;p32"/>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7" name="Google Shape;637;p32"/>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638" name="Google Shape;638;p32"/>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639" name="Google Shape;639;p32"/>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40" name="Google Shape;640;p32"/>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1" name="Google Shape;641;p32"/>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642" name="Google Shape;642;p32"/>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643" name="Google Shape;643;p32"/>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44" name="Google Shape;644;p32"/>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5" name="Google Shape;645;p32"/>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646" name="Google Shape;646;p32"/>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647" name="Google Shape;647;p32"/>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48" name="Google Shape;648;p32"/>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9" name="Google Shape;649;p32"/>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650" name="Google Shape;650;p32"/>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651" name="Google Shape;651;p32"/>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52" name="Google Shape;652;p32"/>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3" name="Google Shape;653;p32"/>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654" name="Google Shape;654;p32"/>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655" name="Google Shape;655;p32"/>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656" name="Google Shape;656;p32"/>
          <p:cNvSpPr/>
          <p:nvPr/>
        </p:nvSpPr>
        <p:spPr>
          <a:xfrm>
            <a:off x="463296" y="3840480"/>
            <a:ext cx="3108960" cy="1584960"/>
          </a:xfrm>
          <a:prstGeom prst="roundRect">
            <a:avLst>
              <a:gd fmla="val 10769" name="adj"/>
            </a:avLst>
          </a:prstGeom>
          <a:solidFill>
            <a:srgbClr val="D8F2E8"/>
          </a:solidFill>
          <a:ln cap="flat" cmpd="sng" w="25400">
            <a:solidFill>
              <a:srgbClr val="0B6047"/>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7" name="Google Shape;657;p32"/>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2300"/>
              <a:buFont typeface="Calibri"/>
              <a:buNone/>
            </a:pPr>
            <a:r>
              <a:rPr b="1" lang="en-US" sz="2300">
                <a:solidFill>
                  <a:srgbClr val="063D2C"/>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658" name="Google Shape;658;p32"/>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300"/>
              <a:buFont typeface="Calibri"/>
              <a:buNone/>
            </a:pPr>
            <a:r>
              <a:rPr lang="en-US" sz="1300">
                <a:solidFill>
                  <a:srgbClr val="0B6047"/>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cxnSp>
        <p:nvCxnSpPr>
          <p:cNvPr id="659" name="Google Shape;659;p32"/>
          <p:cNvCxnSpPr/>
          <p:nvPr/>
        </p:nvCxnSpPr>
        <p:spPr>
          <a:xfrm>
            <a:off x="10186416" y="3194304"/>
            <a:ext cx="12192" cy="1438656"/>
          </a:xfrm>
          <a:prstGeom prst="straightConnector1">
            <a:avLst/>
          </a:prstGeom>
          <a:noFill/>
          <a:ln cap="flat" cmpd="sng" w="30475">
            <a:solidFill>
              <a:srgbClr val="4A42B0"/>
            </a:solidFill>
            <a:prstDash val="solid"/>
            <a:round/>
            <a:headEnd len="sm" w="sm" type="none"/>
            <a:tailEnd len="med" w="med" type="triangle"/>
          </a:ln>
        </p:spPr>
      </p:cxnSp>
      <p:cxnSp>
        <p:nvCxnSpPr>
          <p:cNvPr id="660" name="Google Shape;660;p32"/>
          <p:cNvCxnSpPr/>
          <p:nvPr/>
        </p:nvCxnSpPr>
        <p:spPr>
          <a:xfrm flipH="1">
            <a:off x="3572256" y="4632960"/>
            <a:ext cx="6614160" cy="12192"/>
          </a:xfrm>
          <a:prstGeom prst="straightConnector1">
            <a:avLst/>
          </a:prstGeom>
          <a:noFill/>
          <a:ln cap="flat" cmpd="sng" w="30475">
            <a:solidFill>
              <a:srgbClr val="4A42B0"/>
            </a:solidFill>
            <a:prstDash val="solid"/>
            <a:round/>
            <a:headEnd len="sm" w="sm" type="none"/>
            <a:tailEnd len="med" w="med" type="triangle"/>
          </a:ln>
        </p:spPr>
      </p:cxnSp>
      <p:sp>
        <p:nvSpPr>
          <p:cNvPr id="661" name="Google Shape;661;p32"/>
          <p:cNvSpPr/>
          <p:nvPr/>
        </p:nvSpPr>
        <p:spPr>
          <a:xfrm>
            <a:off x="6001512" y="4876800"/>
            <a:ext cx="1755648" cy="390144"/>
          </a:xfrm>
          <a:prstGeom prst="roundRect">
            <a:avLst>
              <a:gd fmla="val 50000" name="adj"/>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2" name="Google Shape;662;p32"/>
          <p:cNvSpPr/>
          <p:nvPr/>
        </p:nvSpPr>
        <p:spPr>
          <a:xfrm>
            <a:off x="6074664" y="4876800"/>
            <a:ext cx="1609344" cy="3901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$student → view</a:t>
            </a:r>
            <a:endParaRPr sz="1500">
              <a:solidFill>
                <a:schemeClr val="dk1"/>
              </a:solidFill>
              <a:latin typeface="Calibri"/>
              <a:ea typeface="Calibri"/>
              <a:cs typeface="Calibri"/>
              <a:sym typeface="Calibri"/>
            </a:endParaRPr>
          </a:p>
        </p:txBody>
      </p:sp>
      <p:sp>
        <p:nvSpPr>
          <p:cNvPr id="663" name="Google Shape;663;p32"/>
          <p:cNvSpPr/>
          <p:nvPr/>
        </p:nvSpPr>
        <p:spPr>
          <a:xfrm>
            <a:off x="6793992" y="4547616"/>
            <a:ext cx="170688" cy="170688"/>
          </a:xfrm>
          <a:prstGeom prst="ellipse">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4" name="Google Shape;664;p32"/>
          <p:cNvSpPr/>
          <p:nvPr/>
        </p:nvSpPr>
        <p:spPr>
          <a:xfrm>
            <a:off x="1676400" y="4291584"/>
            <a:ext cx="682752" cy="682752"/>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5" name="Google Shape;665;p32"/>
          <p:cNvSpPr/>
          <p:nvPr/>
        </p:nvSpPr>
        <p:spPr>
          <a:xfrm>
            <a:off x="1456944" y="4072128"/>
            <a:ext cx="1121664" cy="1121664"/>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6" name="Google Shape;666;p32"/>
          <p:cNvSpPr/>
          <p:nvPr/>
        </p:nvSpPr>
        <p:spPr>
          <a:xfrm>
            <a:off x="1237488" y="3852672"/>
            <a:ext cx="1560576" cy="1560576"/>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7" name="Google Shape;667;p32"/>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8" name="Google Shape;668;p32"/>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669" name="Google Shape;669;p32"/>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2B0"/>
              </a:buClr>
              <a:buSzPts val="1400"/>
              <a:buFont typeface="Calibri"/>
              <a:buNone/>
            </a:pPr>
            <a:r>
              <a:rPr b="1" lang="en-US" sz="1400">
                <a:solidFill>
                  <a:srgbClr val="4A42B0"/>
                </a:solidFill>
                <a:latin typeface="Calibri"/>
                <a:ea typeface="Calibri"/>
                <a:cs typeface="Calibri"/>
                <a:sym typeface="Calibri"/>
              </a:rPr>
              <a:t>⚙ CONTROLLER  </a:t>
            </a:r>
            <a:r>
              <a:rPr lang="en-US" sz="1400">
                <a:solidFill>
                  <a:srgbClr val="3A3A38"/>
                </a:solidFill>
                <a:latin typeface="Calibri"/>
                <a:ea typeface="Calibri"/>
                <a:cs typeface="Calibri"/>
                <a:sym typeface="Calibri"/>
              </a:rPr>
              <a:t>$student object ready — calling return view('student_detail', $student)</a:t>
            </a:r>
            <a:endParaRPr sz="1400">
              <a:solidFill>
                <a:schemeClr val="dk1"/>
              </a:solidFill>
              <a:latin typeface="Calibri"/>
              <a:ea typeface="Calibri"/>
              <a:cs typeface="Calibri"/>
              <a:sym typeface="Calibri"/>
            </a:endParaRPr>
          </a:p>
        </p:txBody>
      </p:sp>
      <p:sp>
        <p:nvSpPr>
          <p:cNvPr id="670" name="Google Shape;670;p32"/>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View receives $student data — beginning template compilation</a:t>
            </a:r>
            <a:endParaRPr sz="1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675" name="Shape 675"/>
        <p:cNvGrpSpPr/>
        <p:nvPr/>
      </p:nvGrpSpPr>
      <p:grpSpPr>
        <a:xfrm>
          <a:off x="0" y="0"/>
          <a:ext cx="0" cy="0"/>
          <a:chOff x="0" y="0"/>
          <a:chExt cx="0" cy="0"/>
        </a:xfrm>
      </p:grpSpPr>
      <p:sp>
        <p:nvSpPr>
          <p:cNvPr id="676" name="Google Shape;676;p33"/>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7" name="Google Shape;677;p33"/>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8" name="Google Shape;678;p33"/>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9/10</a:t>
            </a:r>
            <a:endParaRPr sz="1500">
              <a:solidFill>
                <a:schemeClr val="dk1"/>
              </a:solidFill>
              <a:latin typeface="Calibri"/>
              <a:ea typeface="Calibri"/>
              <a:cs typeface="Calibri"/>
              <a:sym typeface="Calibri"/>
            </a:endParaRPr>
          </a:p>
        </p:txBody>
      </p:sp>
      <p:sp>
        <p:nvSpPr>
          <p:cNvPr id="679" name="Google Shape;679;p33"/>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View renders student_detail.html template</a:t>
            </a:r>
            <a:endParaRPr sz="2900">
              <a:solidFill>
                <a:schemeClr val="dk1"/>
              </a:solidFill>
              <a:latin typeface="Calibri"/>
              <a:ea typeface="Calibri"/>
              <a:cs typeface="Calibri"/>
              <a:sym typeface="Calibri"/>
            </a:endParaRPr>
          </a:p>
        </p:txBody>
      </p:sp>
      <p:sp>
        <p:nvSpPr>
          <p:cNvPr id="680" name="Google Shape;680;p33"/>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1" name="Google Shape;681;p33"/>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2" name="Google Shape;682;p33"/>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3" name="Google Shape;683;p33"/>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4" name="Google Shape;684;p33"/>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5" name="Google Shape;685;p33"/>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6" name="Google Shape;686;p33"/>
          <p:cNvSpPr/>
          <p:nvPr/>
        </p:nvSpPr>
        <p:spPr>
          <a:xfrm>
            <a:off x="643737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7" name="Google Shape;687;p33"/>
          <p:cNvSpPr/>
          <p:nvPr/>
        </p:nvSpPr>
        <p:spPr>
          <a:xfrm>
            <a:off x="675436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8" name="Google Shape;688;p33"/>
          <p:cNvSpPr/>
          <p:nvPr/>
        </p:nvSpPr>
        <p:spPr>
          <a:xfrm>
            <a:off x="7046976"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9" name="Google Shape;689;p33"/>
          <p:cNvSpPr/>
          <p:nvPr/>
        </p:nvSpPr>
        <p:spPr>
          <a:xfrm>
            <a:off x="7388352" y="1292352"/>
            <a:ext cx="146304" cy="146304"/>
          </a:xfrm>
          <a:prstGeom prst="ellipse">
            <a:avLst/>
          </a:prstGeom>
          <a:solidFill>
            <a:srgbClr val="C8C6BC"/>
          </a:solidFill>
          <a:ln cap="flat" cmpd="sng" w="12700">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0" name="Google Shape;690;p33"/>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691" name="Google Shape;691;p33"/>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692" name="Google Shape;692;p33"/>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3" name="Google Shape;693;p33"/>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4" name="Google Shape;694;p33"/>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695" name="Google Shape;695;p33"/>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6" name="Google Shape;696;p33"/>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697" name="Google Shape;697;p33"/>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698" name="Google Shape;698;p33"/>
          <p:cNvSpPr/>
          <p:nvPr/>
        </p:nvSpPr>
        <p:spPr>
          <a:xfrm>
            <a:off x="463296" y="1609344"/>
            <a:ext cx="3108960" cy="1584960"/>
          </a:xfrm>
          <a:prstGeom prst="roundRect">
            <a:avLst>
              <a:gd fmla="val 10769" name="adj"/>
            </a:avLst>
          </a:prstGeom>
          <a:solidFill>
            <a:srgbClr val="DEEEFF"/>
          </a:solidFill>
          <a:ln cap="flat" cmpd="sng" w="1522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9" name="Google Shape;699;p33"/>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700" name="Google Shape;700;p33"/>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701" name="Google Shape;701;p33"/>
          <p:cNvSpPr/>
          <p:nvPr/>
        </p:nvSpPr>
        <p:spPr>
          <a:xfrm>
            <a:off x="315772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700"/>
              <a:buFont typeface="Calibri"/>
              <a:buNone/>
            </a:pPr>
            <a:r>
              <a:rPr b="1" lang="en-US" sz="1700">
                <a:solidFill>
                  <a:srgbClr val="1560A8"/>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02" name="Google Shape;702;p33"/>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3" name="Google Shape;703;p33"/>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704" name="Google Shape;704;p33"/>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705" name="Google Shape;705;p33"/>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06" name="Google Shape;706;p33"/>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7" name="Google Shape;707;p33"/>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708" name="Google Shape;708;p33"/>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709" name="Google Shape;709;p33"/>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10" name="Google Shape;710;p33"/>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1" name="Google Shape;711;p33"/>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712" name="Google Shape;712;p33"/>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713" name="Google Shape;713;p33"/>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14" name="Google Shape;714;p33"/>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5" name="Google Shape;715;p33"/>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716" name="Google Shape;716;p33"/>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717" name="Google Shape;717;p33"/>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18" name="Google Shape;718;p33"/>
          <p:cNvSpPr/>
          <p:nvPr/>
        </p:nvSpPr>
        <p:spPr>
          <a:xfrm>
            <a:off x="463296" y="3840480"/>
            <a:ext cx="3108960" cy="1584960"/>
          </a:xfrm>
          <a:prstGeom prst="roundRect">
            <a:avLst>
              <a:gd fmla="val 10769" name="adj"/>
            </a:avLst>
          </a:prstGeom>
          <a:solidFill>
            <a:srgbClr val="D8F2E8"/>
          </a:solidFill>
          <a:ln cap="flat" cmpd="sng" w="25400">
            <a:solidFill>
              <a:srgbClr val="0B6047"/>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9" name="Google Shape;719;p33"/>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2300"/>
              <a:buFont typeface="Calibri"/>
              <a:buNone/>
            </a:pPr>
            <a:r>
              <a:rPr b="1" lang="en-US" sz="2300">
                <a:solidFill>
                  <a:srgbClr val="063D2C"/>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720" name="Google Shape;720;p33"/>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300"/>
              <a:buFont typeface="Calibri"/>
              <a:buNone/>
            </a:pPr>
            <a:r>
              <a:rPr lang="en-US" sz="1300">
                <a:solidFill>
                  <a:srgbClr val="0B6047"/>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sp>
        <p:nvSpPr>
          <p:cNvPr id="721" name="Google Shape;721;p33"/>
          <p:cNvSpPr/>
          <p:nvPr/>
        </p:nvSpPr>
        <p:spPr>
          <a:xfrm>
            <a:off x="1676400" y="4291584"/>
            <a:ext cx="682752" cy="682752"/>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2" name="Google Shape;722;p33"/>
          <p:cNvSpPr/>
          <p:nvPr/>
        </p:nvSpPr>
        <p:spPr>
          <a:xfrm>
            <a:off x="1456944" y="4072128"/>
            <a:ext cx="1121664" cy="1121664"/>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3" name="Google Shape;723;p33"/>
          <p:cNvSpPr/>
          <p:nvPr/>
        </p:nvSpPr>
        <p:spPr>
          <a:xfrm>
            <a:off x="1237488" y="3852672"/>
            <a:ext cx="1560576" cy="1560576"/>
          </a:xfrm>
          <a:prstGeom prst="ellipse">
            <a:avLst/>
          </a:prstGeom>
          <a:solidFill>
            <a:srgbClr val="0B6047">
              <a:alpha val="0"/>
            </a:srgbClr>
          </a:solidFill>
          <a:ln cap="flat" cmpd="sng" w="10150">
            <a:solidFill>
              <a:srgbClr val="0B6047">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4" name="Google Shape;724;p33"/>
          <p:cNvSpPr/>
          <p:nvPr/>
        </p:nvSpPr>
        <p:spPr>
          <a:xfrm>
            <a:off x="463296" y="5547360"/>
            <a:ext cx="3108960" cy="536448"/>
          </a:xfrm>
          <a:prstGeom prst="roundRect">
            <a:avLst>
              <a:gd fmla="val 18182" name="adj"/>
            </a:avLst>
          </a:prstGeom>
          <a:solidFill>
            <a:srgbClr val="D8F2E8"/>
          </a:solidFill>
          <a:ln cap="flat" cmpd="sng" w="9525">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5" name="Google Shape;725;p33"/>
          <p:cNvSpPr/>
          <p:nvPr/>
        </p:nvSpPr>
        <p:spPr>
          <a:xfrm>
            <a:off x="585216" y="5547360"/>
            <a:ext cx="2865120" cy="536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1300"/>
              <a:buFont typeface="Calibri"/>
              <a:buNone/>
            </a:pPr>
            <a:r>
              <a:rPr lang="en-US" sz="1300">
                <a:solidFill>
                  <a:srgbClr val="063D2C"/>
                </a:solidFill>
                <a:latin typeface="Calibri"/>
                <a:ea typeface="Calibri"/>
                <a:cs typeface="Calibri"/>
                <a:sym typeface="Calibri"/>
              </a:rPr>
              <a:t>{{ $student-&gt;name }}  →  Rafiul Hasan</a:t>
            </a:r>
            <a:endParaRPr sz="1300">
              <a:solidFill>
                <a:schemeClr val="dk1"/>
              </a:solidFill>
              <a:latin typeface="Calibri"/>
              <a:ea typeface="Calibri"/>
              <a:cs typeface="Calibri"/>
              <a:sym typeface="Calibri"/>
            </a:endParaRPr>
          </a:p>
        </p:txBody>
      </p:sp>
      <p:sp>
        <p:nvSpPr>
          <p:cNvPr id="726" name="Google Shape;726;p33"/>
          <p:cNvSpPr/>
          <p:nvPr/>
        </p:nvSpPr>
        <p:spPr>
          <a:xfrm>
            <a:off x="4187685" y="5699760"/>
            <a:ext cx="7662937"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7" name="Google Shape;727;p33"/>
          <p:cNvSpPr/>
          <p:nvPr/>
        </p:nvSpPr>
        <p:spPr>
          <a:xfrm>
            <a:off x="4309605" y="5730240"/>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728" name="Google Shape;728;p33"/>
          <p:cNvSpPr/>
          <p:nvPr/>
        </p:nvSpPr>
        <p:spPr>
          <a:xfrm>
            <a:off x="5509193" y="5904639"/>
            <a:ext cx="620837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Blade/template engine binding {{ $student-&gt;name }}, {{ $student-&gt;cgpa }}…</a:t>
            </a:r>
            <a:endParaRPr sz="1400">
              <a:solidFill>
                <a:schemeClr val="dk1"/>
              </a:solidFill>
              <a:latin typeface="Calibri"/>
              <a:ea typeface="Calibri"/>
              <a:cs typeface="Calibri"/>
              <a:sym typeface="Calibri"/>
            </a:endParaRPr>
          </a:p>
        </p:txBody>
      </p:sp>
      <p:sp>
        <p:nvSpPr>
          <p:cNvPr id="729" name="Google Shape;729;p33"/>
          <p:cNvSpPr/>
          <p:nvPr/>
        </p:nvSpPr>
        <p:spPr>
          <a:xfrm>
            <a:off x="4852416" y="6327648"/>
            <a:ext cx="66568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200 OK response compiled — HTML ready to send back through Router to Browser</a:t>
            </a:r>
            <a:endParaRPr sz="14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734" name="Shape 734"/>
        <p:cNvGrpSpPr/>
        <p:nvPr/>
      </p:nvGrpSpPr>
      <p:grpSpPr>
        <a:xfrm>
          <a:off x="0" y="0"/>
          <a:ext cx="0" cy="0"/>
          <a:chOff x="0" y="0"/>
          <a:chExt cx="0" cy="0"/>
        </a:xfrm>
      </p:grpSpPr>
      <p:sp>
        <p:nvSpPr>
          <p:cNvPr id="735" name="Google Shape;735;p34"/>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6" name="Google Shape;736;p34"/>
          <p:cNvSpPr/>
          <p:nvPr/>
        </p:nvSpPr>
        <p:spPr>
          <a:xfrm>
            <a:off x="341376" y="219456"/>
            <a:ext cx="1389888" cy="560832"/>
          </a:xfrm>
          <a:prstGeom prst="roundRect">
            <a:avLst>
              <a:gd fmla="val 26087" name="adj"/>
            </a:avLst>
          </a:prstGeom>
          <a:solidFill>
            <a:srgbClr val="EEF2FB">
              <a:alpha val="90196"/>
            </a:srgbClr>
          </a:solidFill>
          <a:ln cap="flat" cmpd="sng" w="9525">
            <a:solidFill>
              <a:srgbClr val="CADCF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7" name="Google Shape;737;p34"/>
          <p:cNvSpPr/>
          <p:nvPr/>
        </p:nvSpPr>
        <p:spPr>
          <a:xfrm>
            <a:off x="341376" y="219456"/>
            <a:ext cx="1389888"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Step 10/10</a:t>
            </a:r>
            <a:endParaRPr sz="1500">
              <a:solidFill>
                <a:schemeClr val="dk1"/>
              </a:solidFill>
              <a:latin typeface="Calibri"/>
              <a:ea typeface="Calibri"/>
              <a:cs typeface="Calibri"/>
              <a:sym typeface="Calibri"/>
            </a:endParaRPr>
          </a:p>
        </p:txBody>
      </p:sp>
      <p:sp>
        <p:nvSpPr>
          <p:cNvPr id="738" name="Google Shape;738;p34"/>
          <p:cNvSpPr/>
          <p:nvPr/>
        </p:nvSpPr>
        <p:spPr>
          <a:xfrm>
            <a:off x="1901952" y="97536"/>
            <a:ext cx="9851136"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200 OK HTML response delivered to Browser</a:t>
            </a:r>
            <a:endParaRPr sz="2900">
              <a:solidFill>
                <a:schemeClr val="dk1"/>
              </a:solidFill>
              <a:latin typeface="Calibri"/>
              <a:ea typeface="Calibri"/>
              <a:cs typeface="Calibri"/>
              <a:sym typeface="Calibri"/>
            </a:endParaRPr>
          </a:p>
        </p:txBody>
      </p:sp>
      <p:sp>
        <p:nvSpPr>
          <p:cNvPr id="739" name="Google Shape;739;p34"/>
          <p:cNvSpPr/>
          <p:nvPr/>
        </p:nvSpPr>
        <p:spPr>
          <a:xfrm>
            <a:off x="453542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0" name="Google Shape;740;p34"/>
          <p:cNvSpPr/>
          <p:nvPr/>
        </p:nvSpPr>
        <p:spPr>
          <a:xfrm>
            <a:off x="485241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1" name="Google Shape;741;p34"/>
          <p:cNvSpPr/>
          <p:nvPr/>
        </p:nvSpPr>
        <p:spPr>
          <a:xfrm>
            <a:off x="516940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2" name="Google Shape;742;p34"/>
          <p:cNvSpPr/>
          <p:nvPr/>
        </p:nvSpPr>
        <p:spPr>
          <a:xfrm>
            <a:off x="548640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3" name="Google Shape;743;p34"/>
          <p:cNvSpPr/>
          <p:nvPr/>
        </p:nvSpPr>
        <p:spPr>
          <a:xfrm>
            <a:off x="5803392"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4" name="Google Shape;744;p34"/>
          <p:cNvSpPr/>
          <p:nvPr/>
        </p:nvSpPr>
        <p:spPr>
          <a:xfrm>
            <a:off x="6120384"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5" name="Google Shape;745;p34"/>
          <p:cNvSpPr/>
          <p:nvPr/>
        </p:nvSpPr>
        <p:spPr>
          <a:xfrm>
            <a:off x="6437376"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6" name="Google Shape;746;p34"/>
          <p:cNvSpPr/>
          <p:nvPr/>
        </p:nvSpPr>
        <p:spPr>
          <a:xfrm>
            <a:off x="6754368"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7" name="Google Shape;747;p34"/>
          <p:cNvSpPr/>
          <p:nvPr/>
        </p:nvSpPr>
        <p:spPr>
          <a:xfrm>
            <a:off x="7071360" y="1292352"/>
            <a:ext cx="146304" cy="146304"/>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8" name="Google Shape;748;p34"/>
          <p:cNvSpPr/>
          <p:nvPr/>
        </p:nvSpPr>
        <p:spPr>
          <a:xfrm>
            <a:off x="7363968" y="1267968"/>
            <a:ext cx="195072" cy="195072"/>
          </a:xfrm>
          <a:prstGeom prst="ellipse">
            <a:avLst/>
          </a:prstGeom>
          <a:solidFill>
            <a:srgbClr val="185FA5"/>
          </a:solidFill>
          <a:ln cap="flat" cmpd="sng" w="12700">
            <a:solidFill>
              <a:srgbClr val="185FA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9" name="Google Shape;749;p34"/>
          <p:cNvSpPr/>
          <p:nvPr/>
        </p:nvSpPr>
        <p:spPr>
          <a:xfrm>
            <a:off x="341376" y="1389888"/>
            <a:ext cx="11509248" cy="195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Request path  →</a:t>
            </a:r>
            <a:endParaRPr sz="1200">
              <a:solidFill>
                <a:schemeClr val="dk1"/>
              </a:solidFill>
              <a:latin typeface="Calibri"/>
              <a:ea typeface="Calibri"/>
              <a:cs typeface="Calibri"/>
              <a:sym typeface="Calibri"/>
            </a:endParaRPr>
          </a:p>
        </p:txBody>
      </p:sp>
      <p:sp>
        <p:nvSpPr>
          <p:cNvPr id="750" name="Google Shape;750;p34"/>
          <p:cNvSpPr/>
          <p:nvPr/>
        </p:nvSpPr>
        <p:spPr>
          <a:xfrm>
            <a:off x="341376" y="5498592"/>
            <a:ext cx="11509248" cy="1950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966"/>
              </a:buClr>
              <a:buSzPts val="1200"/>
              <a:buFont typeface="Calibri"/>
              <a:buNone/>
            </a:pPr>
            <a:r>
              <a:rPr i="1" lang="en-US" sz="1200">
                <a:solidFill>
                  <a:srgbClr val="6A6966"/>
                </a:solidFill>
                <a:latin typeface="Calibri"/>
                <a:ea typeface="Calibri"/>
                <a:cs typeface="Calibri"/>
                <a:sym typeface="Calibri"/>
              </a:rPr>
              <a:t>←  Response path</a:t>
            </a:r>
            <a:endParaRPr sz="1200">
              <a:solidFill>
                <a:schemeClr val="dk1"/>
              </a:solidFill>
              <a:latin typeface="Calibri"/>
              <a:ea typeface="Calibri"/>
              <a:cs typeface="Calibri"/>
              <a:sym typeface="Calibri"/>
            </a:endParaRPr>
          </a:p>
        </p:txBody>
      </p:sp>
      <p:cxnSp>
        <p:nvCxnSpPr>
          <p:cNvPr id="751" name="Google Shape;751;p34"/>
          <p:cNvCxnSpPr/>
          <p:nvPr/>
        </p:nvCxnSpPr>
        <p:spPr>
          <a:xfrm>
            <a:off x="357225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2" name="Google Shape;752;p34"/>
          <p:cNvCxnSpPr/>
          <p:nvPr/>
        </p:nvCxnSpPr>
        <p:spPr>
          <a:xfrm>
            <a:off x="7656576" y="2401824"/>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3" name="Google Shape;753;p34"/>
          <p:cNvCxnSpPr/>
          <p:nvPr/>
        </p:nvCxnSpPr>
        <p:spPr>
          <a:xfrm>
            <a:off x="10186416" y="3194304"/>
            <a:ext cx="12192" cy="646176"/>
          </a:xfrm>
          <a:prstGeom prst="straightConnector1">
            <a:avLst/>
          </a:prstGeom>
          <a:noFill/>
          <a:ln cap="flat" cmpd="sng" w="9525">
            <a:solidFill>
              <a:srgbClr val="C8C6BC"/>
            </a:solidFill>
            <a:prstDash val="dash"/>
            <a:round/>
            <a:headEnd len="sm" w="sm" type="none"/>
            <a:tailEnd len="sm" w="sm" type="none"/>
          </a:ln>
        </p:spPr>
      </p:cxnSp>
      <p:cxnSp>
        <p:nvCxnSpPr>
          <p:cNvPr id="754" name="Google Shape;754;p34"/>
          <p:cNvCxnSpPr/>
          <p:nvPr/>
        </p:nvCxnSpPr>
        <p:spPr>
          <a:xfrm flipH="1">
            <a:off x="765657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5" name="Google Shape;755;p34"/>
          <p:cNvCxnSpPr/>
          <p:nvPr/>
        </p:nvCxnSpPr>
        <p:spPr>
          <a:xfrm flipH="1">
            <a:off x="3572256" y="4632960"/>
            <a:ext cx="975360" cy="12192"/>
          </a:xfrm>
          <a:prstGeom prst="straightConnector1">
            <a:avLst/>
          </a:prstGeom>
          <a:noFill/>
          <a:ln cap="flat" cmpd="sng" w="9525">
            <a:solidFill>
              <a:srgbClr val="C8C6BC"/>
            </a:solidFill>
            <a:prstDash val="dash"/>
            <a:round/>
            <a:headEnd len="sm" w="sm" type="none"/>
            <a:tailEnd len="sm" w="sm" type="none"/>
          </a:ln>
        </p:spPr>
      </p:cxnSp>
      <p:cxnSp>
        <p:nvCxnSpPr>
          <p:cNvPr id="756" name="Google Shape;756;p34"/>
          <p:cNvCxnSpPr/>
          <p:nvPr/>
        </p:nvCxnSpPr>
        <p:spPr>
          <a:xfrm flipH="1" rot="10800000">
            <a:off x="2017776" y="3194304"/>
            <a:ext cx="12192" cy="646176"/>
          </a:xfrm>
          <a:prstGeom prst="straightConnector1">
            <a:avLst/>
          </a:prstGeom>
          <a:noFill/>
          <a:ln cap="flat" cmpd="sng" w="9525">
            <a:solidFill>
              <a:srgbClr val="C8C6BC"/>
            </a:solidFill>
            <a:prstDash val="dash"/>
            <a:round/>
            <a:headEnd len="sm" w="sm" type="none"/>
            <a:tailEnd len="sm" w="sm" type="none"/>
          </a:ln>
        </p:spPr>
      </p:cxnSp>
      <p:sp>
        <p:nvSpPr>
          <p:cNvPr id="757" name="Google Shape;757;p34"/>
          <p:cNvSpPr/>
          <p:nvPr/>
        </p:nvSpPr>
        <p:spPr>
          <a:xfrm>
            <a:off x="463296" y="1609344"/>
            <a:ext cx="3108960" cy="1584960"/>
          </a:xfrm>
          <a:prstGeom prst="roundRect">
            <a:avLst>
              <a:gd fmla="val 10769" name="adj"/>
            </a:avLst>
          </a:prstGeom>
          <a:solidFill>
            <a:srgbClr val="DEEEFF"/>
          </a:solidFill>
          <a:ln cap="flat" cmpd="sng" w="25400">
            <a:solidFill>
              <a:srgbClr val="1560A8"/>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8" name="Google Shape;758;p34"/>
          <p:cNvSpPr/>
          <p:nvPr/>
        </p:nvSpPr>
        <p:spPr>
          <a:xfrm>
            <a:off x="46329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3060"/>
              </a:buClr>
              <a:buSzPts val="2300"/>
              <a:buFont typeface="Calibri"/>
              <a:buNone/>
            </a:pPr>
            <a:r>
              <a:rPr b="1" lang="en-US" sz="2300">
                <a:solidFill>
                  <a:srgbClr val="0C3060"/>
                </a:solidFill>
                <a:latin typeface="Calibri"/>
                <a:ea typeface="Calibri"/>
                <a:cs typeface="Calibri"/>
                <a:sym typeface="Calibri"/>
              </a:rPr>
              <a:t>Browser</a:t>
            </a:r>
            <a:endParaRPr sz="2300">
              <a:solidFill>
                <a:schemeClr val="dk1"/>
              </a:solidFill>
              <a:latin typeface="Calibri"/>
              <a:ea typeface="Calibri"/>
              <a:cs typeface="Calibri"/>
              <a:sym typeface="Calibri"/>
            </a:endParaRPr>
          </a:p>
        </p:txBody>
      </p:sp>
      <p:sp>
        <p:nvSpPr>
          <p:cNvPr id="759" name="Google Shape;759;p34"/>
          <p:cNvSpPr/>
          <p:nvPr/>
        </p:nvSpPr>
        <p:spPr>
          <a:xfrm>
            <a:off x="46329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0A8"/>
              </a:buClr>
              <a:buSzPts val="1300"/>
              <a:buFont typeface="Calibri"/>
              <a:buNone/>
            </a:pPr>
            <a:r>
              <a:rPr lang="en-US" sz="1300">
                <a:solidFill>
                  <a:srgbClr val="1560A8"/>
                </a:solidFill>
                <a:latin typeface="Calibri"/>
                <a:ea typeface="Calibri"/>
                <a:cs typeface="Calibri"/>
                <a:sym typeface="Calibri"/>
              </a:rPr>
              <a:t>HTTP client</a:t>
            </a:r>
            <a:endParaRPr sz="1300">
              <a:solidFill>
                <a:schemeClr val="dk1"/>
              </a:solidFill>
              <a:latin typeface="Calibri"/>
              <a:ea typeface="Calibri"/>
              <a:cs typeface="Calibri"/>
              <a:sym typeface="Calibri"/>
            </a:endParaRPr>
          </a:p>
        </p:txBody>
      </p:sp>
      <p:sp>
        <p:nvSpPr>
          <p:cNvPr id="760" name="Google Shape;760;p34"/>
          <p:cNvSpPr/>
          <p:nvPr/>
        </p:nvSpPr>
        <p:spPr>
          <a:xfrm>
            <a:off x="4547616" y="1609344"/>
            <a:ext cx="3108960" cy="1584960"/>
          </a:xfrm>
          <a:prstGeom prst="roundRect">
            <a:avLst>
              <a:gd fmla="val 10769" name="adj"/>
            </a:avLst>
          </a:prstGeom>
          <a:solidFill>
            <a:srgbClr val="FCE8F4"/>
          </a:solidFill>
          <a:ln cap="flat" cmpd="sng" w="1522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1" name="Google Shape;761;p34"/>
          <p:cNvSpPr/>
          <p:nvPr/>
        </p:nvSpPr>
        <p:spPr>
          <a:xfrm>
            <a:off x="454761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1040"/>
              </a:buClr>
              <a:buSzPts val="2300"/>
              <a:buFont typeface="Calibri"/>
              <a:buNone/>
            </a:pPr>
            <a:r>
              <a:rPr b="1" lang="en-US" sz="2300">
                <a:solidFill>
                  <a:srgbClr val="4A1040"/>
                </a:solidFill>
                <a:latin typeface="Calibri"/>
                <a:ea typeface="Calibri"/>
                <a:cs typeface="Calibri"/>
                <a:sym typeface="Calibri"/>
              </a:rPr>
              <a:t>Router</a:t>
            </a:r>
            <a:endParaRPr sz="2300">
              <a:solidFill>
                <a:schemeClr val="dk1"/>
              </a:solidFill>
              <a:latin typeface="Calibri"/>
              <a:ea typeface="Calibri"/>
              <a:cs typeface="Calibri"/>
              <a:sym typeface="Calibri"/>
            </a:endParaRPr>
          </a:p>
        </p:txBody>
      </p:sp>
      <p:sp>
        <p:nvSpPr>
          <p:cNvPr id="762" name="Google Shape;762;p34"/>
          <p:cNvSpPr/>
          <p:nvPr/>
        </p:nvSpPr>
        <p:spPr>
          <a:xfrm>
            <a:off x="454761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300"/>
              <a:buFont typeface="Calibri"/>
              <a:buNone/>
            </a:pPr>
            <a:r>
              <a:rPr lang="en-US" sz="1300">
                <a:solidFill>
                  <a:srgbClr val="993556"/>
                </a:solidFill>
                <a:latin typeface="Calibri"/>
                <a:ea typeface="Calibri"/>
                <a:cs typeface="Calibri"/>
                <a:sym typeface="Calibri"/>
              </a:rPr>
              <a:t>URL → controller</a:t>
            </a:r>
            <a:endParaRPr sz="1300">
              <a:solidFill>
                <a:schemeClr val="dk1"/>
              </a:solidFill>
              <a:latin typeface="Calibri"/>
              <a:ea typeface="Calibri"/>
              <a:cs typeface="Calibri"/>
              <a:sym typeface="Calibri"/>
            </a:endParaRPr>
          </a:p>
        </p:txBody>
      </p:sp>
      <p:sp>
        <p:nvSpPr>
          <p:cNvPr id="763" name="Google Shape;763;p34"/>
          <p:cNvSpPr/>
          <p:nvPr/>
        </p:nvSpPr>
        <p:spPr>
          <a:xfrm>
            <a:off x="724204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3556"/>
              </a:buClr>
              <a:buSzPts val="1700"/>
              <a:buFont typeface="Calibri"/>
              <a:buNone/>
            </a:pPr>
            <a:r>
              <a:rPr b="1" lang="en-US" sz="1700">
                <a:solidFill>
                  <a:srgbClr val="993556"/>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64" name="Google Shape;764;p34"/>
          <p:cNvSpPr/>
          <p:nvPr/>
        </p:nvSpPr>
        <p:spPr>
          <a:xfrm>
            <a:off x="8631936" y="1609344"/>
            <a:ext cx="3108960" cy="1584960"/>
          </a:xfrm>
          <a:prstGeom prst="roundRect">
            <a:avLst>
              <a:gd fmla="val 10769" name="adj"/>
            </a:avLst>
          </a:prstGeom>
          <a:solidFill>
            <a:srgbClr val="EAE8FE"/>
          </a:solidFill>
          <a:ln cap="flat" cmpd="sng" w="1522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5" name="Google Shape;765;p34"/>
          <p:cNvSpPr/>
          <p:nvPr/>
        </p:nvSpPr>
        <p:spPr>
          <a:xfrm>
            <a:off x="8631936" y="1804416"/>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2300"/>
              <a:buFont typeface="Calibri"/>
              <a:buNone/>
            </a:pPr>
            <a:r>
              <a:rPr b="1" lang="en-US" sz="2300">
                <a:solidFill>
                  <a:srgbClr val="2A2468"/>
                </a:solidFill>
                <a:latin typeface="Calibri"/>
                <a:ea typeface="Calibri"/>
                <a:cs typeface="Calibri"/>
                <a:sym typeface="Calibri"/>
              </a:rPr>
              <a:t>Controller</a:t>
            </a:r>
            <a:endParaRPr sz="2300">
              <a:solidFill>
                <a:schemeClr val="dk1"/>
              </a:solidFill>
              <a:latin typeface="Calibri"/>
              <a:ea typeface="Calibri"/>
              <a:cs typeface="Calibri"/>
              <a:sym typeface="Calibri"/>
            </a:endParaRPr>
          </a:p>
        </p:txBody>
      </p:sp>
      <p:sp>
        <p:nvSpPr>
          <p:cNvPr id="766" name="Google Shape;766;p34"/>
          <p:cNvSpPr/>
          <p:nvPr/>
        </p:nvSpPr>
        <p:spPr>
          <a:xfrm>
            <a:off x="8631936" y="2365248"/>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lang="en-US" sz="1300">
                <a:solidFill>
                  <a:srgbClr val="4A42B0"/>
                </a:solidFill>
                <a:latin typeface="Calibri"/>
                <a:ea typeface="Calibri"/>
                <a:cs typeface="Calibri"/>
                <a:sym typeface="Calibri"/>
              </a:rPr>
              <a:t>StudentController</a:t>
            </a:r>
            <a:endParaRPr sz="1300">
              <a:solidFill>
                <a:schemeClr val="dk1"/>
              </a:solidFill>
              <a:latin typeface="Calibri"/>
              <a:ea typeface="Calibri"/>
              <a:cs typeface="Calibri"/>
              <a:sym typeface="Calibri"/>
            </a:endParaRPr>
          </a:p>
        </p:txBody>
      </p:sp>
      <p:sp>
        <p:nvSpPr>
          <p:cNvPr id="767" name="Google Shape;767;p34"/>
          <p:cNvSpPr/>
          <p:nvPr/>
        </p:nvSpPr>
        <p:spPr>
          <a:xfrm>
            <a:off x="11326368" y="1682496"/>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700"/>
              <a:buFont typeface="Calibri"/>
              <a:buNone/>
            </a:pPr>
            <a:r>
              <a:rPr b="1" lang="en-US" sz="1700">
                <a:solidFill>
                  <a:srgbClr val="4A42B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68" name="Google Shape;768;p34"/>
          <p:cNvSpPr/>
          <p:nvPr/>
        </p:nvSpPr>
        <p:spPr>
          <a:xfrm>
            <a:off x="8631936" y="3840480"/>
            <a:ext cx="3108960" cy="1584960"/>
          </a:xfrm>
          <a:prstGeom prst="roundRect">
            <a:avLst>
              <a:gd fmla="val 10769" name="adj"/>
            </a:avLst>
          </a:prstGeom>
          <a:solidFill>
            <a:srgbClr val="FDEFD4"/>
          </a:solidFill>
          <a:ln cap="flat" cmpd="sng" w="1522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9" name="Google Shape;769;p34"/>
          <p:cNvSpPr/>
          <p:nvPr/>
        </p:nvSpPr>
        <p:spPr>
          <a:xfrm>
            <a:off x="863193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2300"/>
              <a:buFont typeface="Calibri"/>
              <a:buNone/>
            </a:pPr>
            <a:r>
              <a:rPr b="1" lang="en-US" sz="2300">
                <a:solidFill>
                  <a:srgbClr val="4E2E00"/>
                </a:solidFill>
                <a:latin typeface="Calibri"/>
                <a:ea typeface="Calibri"/>
                <a:cs typeface="Calibri"/>
                <a:sym typeface="Calibri"/>
              </a:rPr>
              <a:t>Model</a:t>
            </a:r>
            <a:endParaRPr sz="2300">
              <a:solidFill>
                <a:schemeClr val="dk1"/>
              </a:solidFill>
              <a:latin typeface="Calibri"/>
              <a:ea typeface="Calibri"/>
              <a:cs typeface="Calibri"/>
              <a:sym typeface="Calibri"/>
            </a:endParaRPr>
          </a:p>
        </p:txBody>
      </p:sp>
      <p:sp>
        <p:nvSpPr>
          <p:cNvPr id="770" name="Google Shape;770;p34"/>
          <p:cNvSpPr/>
          <p:nvPr/>
        </p:nvSpPr>
        <p:spPr>
          <a:xfrm>
            <a:off x="863193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lang="en-US" sz="1300">
                <a:solidFill>
                  <a:srgbClr val="8A5200"/>
                </a:solidFill>
                <a:latin typeface="Calibri"/>
                <a:ea typeface="Calibri"/>
                <a:cs typeface="Calibri"/>
                <a:sym typeface="Calibri"/>
              </a:rPr>
              <a:t>StudentModel</a:t>
            </a:r>
            <a:endParaRPr sz="1300">
              <a:solidFill>
                <a:schemeClr val="dk1"/>
              </a:solidFill>
              <a:latin typeface="Calibri"/>
              <a:ea typeface="Calibri"/>
              <a:cs typeface="Calibri"/>
              <a:sym typeface="Calibri"/>
            </a:endParaRPr>
          </a:p>
        </p:txBody>
      </p:sp>
      <p:sp>
        <p:nvSpPr>
          <p:cNvPr id="771" name="Google Shape;771;p34"/>
          <p:cNvSpPr/>
          <p:nvPr/>
        </p:nvSpPr>
        <p:spPr>
          <a:xfrm>
            <a:off x="1132636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700"/>
              <a:buFont typeface="Calibri"/>
              <a:buNone/>
            </a:pPr>
            <a:r>
              <a:rPr b="1" lang="en-US" sz="1700">
                <a:solidFill>
                  <a:srgbClr val="8A5200"/>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72" name="Google Shape;772;p34"/>
          <p:cNvSpPr/>
          <p:nvPr/>
        </p:nvSpPr>
        <p:spPr>
          <a:xfrm>
            <a:off x="4547616" y="3840480"/>
            <a:ext cx="3108960" cy="1584960"/>
          </a:xfrm>
          <a:prstGeom prst="roundRect">
            <a:avLst>
              <a:gd fmla="val 10769" name="adj"/>
            </a:avLst>
          </a:prstGeom>
          <a:solidFill>
            <a:srgbClr val="EAF3DE"/>
          </a:solidFill>
          <a:ln cap="flat" cmpd="sng" w="1522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3" name="Google Shape;773;p34"/>
          <p:cNvSpPr/>
          <p:nvPr/>
        </p:nvSpPr>
        <p:spPr>
          <a:xfrm>
            <a:off x="454761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006"/>
              </a:buClr>
              <a:buSzPts val="2300"/>
              <a:buFont typeface="Calibri"/>
              <a:buNone/>
            </a:pPr>
            <a:r>
              <a:rPr b="1" lang="en-US" sz="2300">
                <a:solidFill>
                  <a:srgbClr val="1A4006"/>
                </a:solidFill>
                <a:latin typeface="Calibri"/>
                <a:ea typeface="Calibri"/>
                <a:cs typeface="Calibri"/>
                <a:sym typeface="Calibri"/>
              </a:rPr>
              <a:t>Database</a:t>
            </a:r>
            <a:endParaRPr sz="2300">
              <a:solidFill>
                <a:schemeClr val="dk1"/>
              </a:solidFill>
              <a:latin typeface="Calibri"/>
              <a:ea typeface="Calibri"/>
              <a:cs typeface="Calibri"/>
              <a:sym typeface="Calibri"/>
            </a:endParaRPr>
          </a:p>
        </p:txBody>
      </p:sp>
      <p:sp>
        <p:nvSpPr>
          <p:cNvPr id="774" name="Google Shape;774;p34"/>
          <p:cNvSpPr/>
          <p:nvPr/>
        </p:nvSpPr>
        <p:spPr>
          <a:xfrm>
            <a:off x="454761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300"/>
              <a:buFont typeface="Calibri"/>
              <a:buNone/>
            </a:pPr>
            <a:r>
              <a:rPr lang="en-US" sz="1300">
                <a:solidFill>
                  <a:srgbClr val="3B6D11"/>
                </a:solidFill>
                <a:latin typeface="Calibri"/>
                <a:ea typeface="Calibri"/>
                <a:cs typeface="Calibri"/>
                <a:sym typeface="Calibri"/>
              </a:rPr>
              <a:t>MySQL / ORM</a:t>
            </a:r>
            <a:endParaRPr sz="1300">
              <a:solidFill>
                <a:schemeClr val="dk1"/>
              </a:solidFill>
              <a:latin typeface="Calibri"/>
              <a:ea typeface="Calibri"/>
              <a:cs typeface="Calibri"/>
              <a:sym typeface="Calibri"/>
            </a:endParaRPr>
          </a:p>
        </p:txBody>
      </p:sp>
      <p:sp>
        <p:nvSpPr>
          <p:cNvPr id="775" name="Google Shape;775;p34"/>
          <p:cNvSpPr/>
          <p:nvPr/>
        </p:nvSpPr>
        <p:spPr>
          <a:xfrm>
            <a:off x="724204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6D11"/>
              </a:buClr>
              <a:buSzPts val="1700"/>
              <a:buFont typeface="Calibri"/>
              <a:buNone/>
            </a:pPr>
            <a:r>
              <a:rPr b="1" lang="en-US" sz="1700">
                <a:solidFill>
                  <a:srgbClr val="3B6D11"/>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776" name="Google Shape;776;p34"/>
          <p:cNvSpPr/>
          <p:nvPr/>
        </p:nvSpPr>
        <p:spPr>
          <a:xfrm>
            <a:off x="463296" y="3840480"/>
            <a:ext cx="3108960" cy="1584960"/>
          </a:xfrm>
          <a:prstGeom prst="roundRect">
            <a:avLst>
              <a:gd fmla="val 10769" name="adj"/>
            </a:avLst>
          </a:prstGeom>
          <a:solidFill>
            <a:srgbClr val="D8F2E8"/>
          </a:solidFill>
          <a:ln cap="flat" cmpd="sng" w="15225">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7" name="Google Shape;777;p34"/>
          <p:cNvSpPr/>
          <p:nvPr/>
        </p:nvSpPr>
        <p:spPr>
          <a:xfrm>
            <a:off x="463296" y="4035552"/>
            <a:ext cx="3108960" cy="5608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3D2C"/>
              </a:buClr>
              <a:buSzPts val="2300"/>
              <a:buFont typeface="Calibri"/>
              <a:buNone/>
            </a:pPr>
            <a:r>
              <a:rPr b="1" lang="en-US" sz="2300">
                <a:solidFill>
                  <a:srgbClr val="063D2C"/>
                </a:solidFill>
                <a:latin typeface="Calibri"/>
                <a:ea typeface="Calibri"/>
                <a:cs typeface="Calibri"/>
                <a:sym typeface="Calibri"/>
              </a:rPr>
              <a:t>View</a:t>
            </a:r>
            <a:endParaRPr sz="2300">
              <a:solidFill>
                <a:schemeClr val="dk1"/>
              </a:solidFill>
              <a:latin typeface="Calibri"/>
              <a:ea typeface="Calibri"/>
              <a:cs typeface="Calibri"/>
              <a:sym typeface="Calibri"/>
            </a:endParaRPr>
          </a:p>
        </p:txBody>
      </p:sp>
      <p:sp>
        <p:nvSpPr>
          <p:cNvPr id="778" name="Google Shape;778;p34"/>
          <p:cNvSpPr/>
          <p:nvPr/>
        </p:nvSpPr>
        <p:spPr>
          <a:xfrm>
            <a:off x="463296" y="4596384"/>
            <a:ext cx="31089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300"/>
              <a:buFont typeface="Calibri"/>
              <a:buNone/>
            </a:pPr>
            <a:r>
              <a:rPr lang="en-US" sz="1300">
                <a:solidFill>
                  <a:srgbClr val="0B6047"/>
                </a:solidFill>
                <a:latin typeface="Calibri"/>
                <a:ea typeface="Calibri"/>
                <a:cs typeface="Calibri"/>
                <a:sym typeface="Calibri"/>
              </a:rPr>
              <a:t>student_detail.html</a:t>
            </a:r>
            <a:endParaRPr sz="1300">
              <a:solidFill>
                <a:schemeClr val="dk1"/>
              </a:solidFill>
              <a:latin typeface="Calibri"/>
              <a:ea typeface="Calibri"/>
              <a:cs typeface="Calibri"/>
              <a:sym typeface="Calibri"/>
            </a:endParaRPr>
          </a:p>
        </p:txBody>
      </p:sp>
      <p:sp>
        <p:nvSpPr>
          <p:cNvPr id="779" name="Google Shape;779;p34"/>
          <p:cNvSpPr/>
          <p:nvPr/>
        </p:nvSpPr>
        <p:spPr>
          <a:xfrm>
            <a:off x="3157728" y="3913632"/>
            <a:ext cx="316992" cy="3169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047"/>
              </a:buClr>
              <a:buSzPts val="1700"/>
              <a:buFont typeface="Calibri"/>
              <a:buNone/>
            </a:pPr>
            <a:r>
              <a:rPr b="1" lang="en-US" sz="1700">
                <a:solidFill>
                  <a:srgbClr val="0B6047"/>
                </a:solidFill>
                <a:latin typeface="Calibri"/>
                <a:ea typeface="Calibri"/>
                <a:cs typeface="Calibri"/>
                <a:sym typeface="Calibri"/>
              </a:rPr>
              <a:t>✓</a:t>
            </a:r>
            <a:endParaRPr sz="1700">
              <a:solidFill>
                <a:schemeClr val="dk1"/>
              </a:solidFill>
              <a:latin typeface="Calibri"/>
              <a:ea typeface="Calibri"/>
              <a:cs typeface="Calibri"/>
              <a:sym typeface="Calibri"/>
            </a:endParaRPr>
          </a:p>
        </p:txBody>
      </p:sp>
      <p:cxnSp>
        <p:nvCxnSpPr>
          <p:cNvPr id="780" name="Google Shape;780;p34"/>
          <p:cNvCxnSpPr/>
          <p:nvPr/>
        </p:nvCxnSpPr>
        <p:spPr>
          <a:xfrm flipH="1" rot="10800000">
            <a:off x="1200912" y="3169920"/>
            <a:ext cx="12192" cy="646176"/>
          </a:xfrm>
          <a:prstGeom prst="straightConnector1">
            <a:avLst/>
          </a:prstGeom>
          <a:noFill/>
          <a:ln cap="flat" cmpd="sng" w="30475">
            <a:solidFill>
              <a:srgbClr val="0B6047"/>
            </a:solidFill>
            <a:prstDash val="solid"/>
            <a:round/>
            <a:headEnd len="sm" w="sm" type="none"/>
            <a:tailEnd len="med" w="med" type="triangle"/>
          </a:ln>
        </p:spPr>
      </p:cxnSp>
      <p:sp>
        <p:nvSpPr>
          <p:cNvPr id="781" name="Google Shape;781;p34"/>
          <p:cNvSpPr/>
          <p:nvPr/>
        </p:nvSpPr>
        <p:spPr>
          <a:xfrm>
            <a:off x="2042160" y="3310923"/>
            <a:ext cx="2560320" cy="390144"/>
          </a:xfrm>
          <a:prstGeom prst="roundRect">
            <a:avLst>
              <a:gd fmla="val 50000" name="adj"/>
            </a:avLst>
          </a:prstGeom>
          <a:solidFill>
            <a:srgbClr val="0B6047"/>
          </a:solidFill>
          <a:ln cap="flat" cmpd="sng" w="12700">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2" name="Google Shape;782;p34"/>
          <p:cNvSpPr/>
          <p:nvPr/>
        </p:nvSpPr>
        <p:spPr>
          <a:xfrm>
            <a:off x="2188464" y="3377184"/>
            <a:ext cx="2144997" cy="31169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200 OK  HTML response</a:t>
            </a:r>
            <a:endParaRPr sz="1300">
              <a:solidFill>
                <a:schemeClr val="dk1"/>
              </a:solidFill>
              <a:latin typeface="Calibri"/>
              <a:ea typeface="Calibri"/>
              <a:cs typeface="Calibri"/>
              <a:sym typeface="Calibri"/>
            </a:endParaRPr>
          </a:p>
        </p:txBody>
      </p:sp>
      <p:sp>
        <p:nvSpPr>
          <p:cNvPr id="783" name="Google Shape;783;p34"/>
          <p:cNvSpPr/>
          <p:nvPr/>
        </p:nvSpPr>
        <p:spPr>
          <a:xfrm>
            <a:off x="1127760" y="3450336"/>
            <a:ext cx="170688" cy="170688"/>
          </a:xfrm>
          <a:prstGeom prst="ellipse">
            <a:avLst/>
          </a:prstGeom>
          <a:solidFill>
            <a:srgbClr val="0B6047"/>
          </a:solidFill>
          <a:ln cap="flat" cmpd="sng" w="12700">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4" name="Google Shape;784;p34"/>
          <p:cNvSpPr/>
          <p:nvPr/>
        </p:nvSpPr>
        <p:spPr>
          <a:xfrm>
            <a:off x="1676400" y="2060448"/>
            <a:ext cx="682752" cy="682752"/>
          </a:xfrm>
          <a:prstGeom prst="ellipse">
            <a:avLst/>
          </a:prstGeom>
          <a:solidFill>
            <a:srgbClr val="1560A8">
              <a:alpha val="0"/>
            </a:srgbClr>
          </a:solidFill>
          <a:ln cap="flat" cmpd="sng" w="10150">
            <a:solidFill>
              <a:srgbClr val="1560A8">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5" name="Google Shape;785;p34"/>
          <p:cNvSpPr/>
          <p:nvPr/>
        </p:nvSpPr>
        <p:spPr>
          <a:xfrm>
            <a:off x="1456944" y="1840992"/>
            <a:ext cx="1121664" cy="1121664"/>
          </a:xfrm>
          <a:prstGeom prst="ellipse">
            <a:avLst/>
          </a:prstGeom>
          <a:solidFill>
            <a:srgbClr val="1560A8">
              <a:alpha val="0"/>
            </a:srgbClr>
          </a:solidFill>
          <a:ln cap="flat" cmpd="sng" w="10150">
            <a:solidFill>
              <a:srgbClr val="1560A8">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6" name="Google Shape;786;p34"/>
          <p:cNvSpPr/>
          <p:nvPr/>
        </p:nvSpPr>
        <p:spPr>
          <a:xfrm>
            <a:off x="1237488" y="1621536"/>
            <a:ext cx="1560576" cy="1560576"/>
          </a:xfrm>
          <a:prstGeom prst="ellipse">
            <a:avLst/>
          </a:prstGeom>
          <a:solidFill>
            <a:srgbClr val="1560A8">
              <a:alpha val="0"/>
            </a:srgbClr>
          </a:solidFill>
          <a:ln cap="flat" cmpd="sng" w="10150">
            <a:solidFill>
              <a:srgbClr val="1560A8">
                <a:alpha val="34902"/>
              </a:srgbClr>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7" name="Google Shape;787;p34"/>
          <p:cNvSpPr/>
          <p:nvPr/>
        </p:nvSpPr>
        <p:spPr>
          <a:xfrm>
            <a:off x="341376" y="5699760"/>
            <a:ext cx="11509248" cy="1072896"/>
          </a:xfrm>
          <a:prstGeom prst="roundRect">
            <a:avLst>
              <a:gd fmla="val 11364"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8" name="Google Shape;788;p34"/>
          <p:cNvSpPr/>
          <p:nvPr/>
        </p:nvSpPr>
        <p:spPr>
          <a:xfrm>
            <a:off x="536448" y="5772912"/>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789" name="Google Shape;789;p34"/>
          <p:cNvSpPr/>
          <p:nvPr/>
        </p:nvSpPr>
        <p:spPr>
          <a:xfrm>
            <a:off x="536448" y="6041136"/>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047"/>
              </a:buClr>
              <a:buSzPts val="1400"/>
              <a:buFont typeface="Calibri"/>
              <a:buNone/>
            </a:pPr>
            <a:r>
              <a:rPr b="1" lang="en-US" sz="1400">
                <a:solidFill>
                  <a:srgbClr val="0B6047"/>
                </a:solidFill>
                <a:latin typeface="Calibri"/>
                <a:ea typeface="Calibri"/>
                <a:cs typeface="Calibri"/>
                <a:sym typeface="Calibri"/>
              </a:rPr>
              <a:t>◻ VIEW  </a:t>
            </a:r>
            <a:r>
              <a:rPr lang="en-US" sz="1400">
                <a:solidFill>
                  <a:srgbClr val="3A3A38"/>
                </a:solidFill>
                <a:latin typeface="Calibri"/>
                <a:ea typeface="Calibri"/>
                <a:cs typeface="Calibri"/>
                <a:sym typeface="Calibri"/>
              </a:rPr>
              <a:t>View → Router → Browser: 200 OK with compiled student_detail.html</a:t>
            </a:r>
            <a:endParaRPr sz="1400">
              <a:solidFill>
                <a:schemeClr val="dk1"/>
              </a:solidFill>
              <a:latin typeface="Calibri"/>
              <a:ea typeface="Calibri"/>
              <a:cs typeface="Calibri"/>
              <a:sym typeface="Calibri"/>
            </a:endParaRPr>
          </a:p>
        </p:txBody>
      </p:sp>
      <p:sp>
        <p:nvSpPr>
          <p:cNvPr id="790" name="Google Shape;790;p34"/>
          <p:cNvSpPr/>
          <p:nvPr/>
        </p:nvSpPr>
        <p:spPr>
          <a:xfrm>
            <a:off x="536448" y="6382512"/>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1400"/>
              <a:buFont typeface="Calibri"/>
              <a:buNone/>
            </a:pPr>
            <a:r>
              <a:rPr b="1" lang="en-US" sz="1400">
                <a:solidFill>
                  <a:srgbClr val="0B6E48"/>
                </a:solidFill>
                <a:latin typeface="Calibri"/>
                <a:ea typeface="Calibri"/>
                <a:cs typeface="Calibri"/>
                <a:sym typeface="Calibri"/>
              </a:rPr>
              <a:t>✓ RESPONSE  </a:t>
            </a:r>
            <a:r>
              <a:rPr lang="en-US" sz="1400">
                <a:solidFill>
                  <a:srgbClr val="3A3A38"/>
                </a:solidFill>
                <a:latin typeface="Calibri"/>
                <a:ea typeface="Calibri"/>
                <a:cs typeface="Calibri"/>
                <a:sym typeface="Calibri"/>
              </a:rPr>
              <a:t>Browser renders page — MVC cycle complete in ~180ms</a:t>
            </a:r>
            <a:endParaRPr sz="14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2FB"/>
        </a:solidFill>
      </p:bgPr>
    </p:bg>
    <p:spTree>
      <p:nvGrpSpPr>
        <p:cNvPr id="795" name="Shape 795"/>
        <p:cNvGrpSpPr/>
        <p:nvPr/>
      </p:nvGrpSpPr>
      <p:grpSpPr>
        <a:xfrm>
          <a:off x="0" y="0"/>
          <a:ext cx="0" cy="0"/>
          <a:chOff x="0" y="0"/>
          <a:chExt cx="0" cy="0"/>
        </a:xfrm>
      </p:grpSpPr>
      <p:sp>
        <p:nvSpPr>
          <p:cNvPr id="796" name="Google Shape;796;p35"/>
          <p:cNvSpPr/>
          <p:nvPr/>
        </p:nvSpPr>
        <p:spPr>
          <a:xfrm>
            <a:off x="0" y="0"/>
            <a:ext cx="12192000" cy="1170432"/>
          </a:xfrm>
          <a:prstGeom prst="rect">
            <a:avLst/>
          </a:prstGeom>
          <a:solidFill>
            <a:srgbClr val="1E2761"/>
          </a:solidFill>
          <a:ln cap="flat" cmpd="sng" w="12700">
            <a:solidFill>
              <a:srgbClr val="1E276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7" name="Google Shape;797;p35"/>
          <p:cNvSpPr/>
          <p:nvPr/>
        </p:nvSpPr>
        <p:spPr>
          <a:xfrm>
            <a:off x="426720" y="97536"/>
            <a:ext cx="11338560" cy="1072896"/>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2900"/>
              <a:buFont typeface="Calibri"/>
              <a:buNone/>
            </a:pPr>
            <a:r>
              <a:rPr b="1" lang="en-US" sz="2900">
                <a:solidFill>
                  <a:srgbClr val="FFFFFF"/>
                </a:solidFill>
                <a:latin typeface="Calibri"/>
                <a:ea typeface="Calibri"/>
                <a:cs typeface="Calibri"/>
                <a:sym typeface="Calibri"/>
              </a:rPr>
              <a:t>MVC cycle complete — student page rendered</a:t>
            </a:r>
            <a:endParaRPr sz="2900">
              <a:solidFill>
                <a:schemeClr val="dk1"/>
              </a:solidFill>
              <a:latin typeface="Calibri"/>
              <a:ea typeface="Calibri"/>
              <a:cs typeface="Calibri"/>
              <a:sym typeface="Calibri"/>
            </a:endParaRPr>
          </a:p>
        </p:txBody>
      </p:sp>
      <p:sp>
        <p:nvSpPr>
          <p:cNvPr id="798" name="Google Shape;798;p35"/>
          <p:cNvSpPr/>
          <p:nvPr/>
        </p:nvSpPr>
        <p:spPr>
          <a:xfrm>
            <a:off x="5822899" y="1292352"/>
            <a:ext cx="2114093" cy="1077773"/>
          </a:xfrm>
          <a:prstGeom prst="roundRect">
            <a:avLst>
              <a:gd fmla="val 11312" name="adj"/>
            </a:avLst>
          </a:prstGeom>
          <a:solidFill>
            <a:srgbClr val="EAE8FE"/>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9" name="Google Shape;799;p35"/>
          <p:cNvSpPr/>
          <p:nvPr/>
        </p:nvSpPr>
        <p:spPr>
          <a:xfrm>
            <a:off x="5822899" y="1365504"/>
            <a:ext cx="2114093" cy="93146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2468"/>
              </a:buClr>
              <a:buSzPts val="1500"/>
              <a:buFont typeface="Calibri"/>
              <a:buNone/>
            </a:pPr>
            <a:r>
              <a:rPr b="1" lang="en-US" sz="1500">
                <a:solidFill>
                  <a:srgbClr val="2A2468"/>
                </a:solidFill>
                <a:latin typeface="Calibri"/>
                <a:ea typeface="Calibri"/>
                <a:cs typeface="Calibri"/>
                <a:sym typeface="Calibri"/>
              </a:rPr>
              <a:t>Controller</a:t>
            </a:r>
            <a:endParaRPr sz="1500">
              <a:solidFill>
                <a:schemeClr val="dk1"/>
              </a:solidFill>
              <a:latin typeface="Calibri"/>
              <a:ea typeface="Calibri"/>
              <a:cs typeface="Calibri"/>
              <a:sym typeface="Calibri"/>
            </a:endParaRPr>
          </a:p>
        </p:txBody>
      </p:sp>
      <p:sp>
        <p:nvSpPr>
          <p:cNvPr id="800" name="Google Shape;800;p35"/>
          <p:cNvSpPr/>
          <p:nvPr/>
        </p:nvSpPr>
        <p:spPr>
          <a:xfrm>
            <a:off x="7668768" y="13411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42B0"/>
              </a:buClr>
              <a:buSzPts val="1300"/>
              <a:buFont typeface="Calibri"/>
              <a:buNone/>
            </a:pPr>
            <a:r>
              <a:rPr b="1" lang="en-US" sz="1300">
                <a:solidFill>
                  <a:srgbClr val="4A42B0"/>
                </a:solidFill>
                <a:latin typeface="Calibri"/>
                <a:ea typeface="Calibri"/>
                <a:cs typeface="Calibri"/>
                <a:sym typeface="Calibri"/>
              </a:rPr>
              <a:t>✓</a:t>
            </a:r>
            <a:endParaRPr sz="1300">
              <a:solidFill>
                <a:schemeClr val="dk1"/>
              </a:solidFill>
              <a:latin typeface="Calibri"/>
              <a:ea typeface="Calibri"/>
              <a:cs typeface="Calibri"/>
              <a:sym typeface="Calibri"/>
            </a:endParaRPr>
          </a:p>
        </p:txBody>
      </p:sp>
      <p:sp>
        <p:nvSpPr>
          <p:cNvPr id="801" name="Google Shape;801;p35"/>
          <p:cNvSpPr/>
          <p:nvPr/>
        </p:nvSpPr>
        <p:spPr>
          <a:xfrm>
            <a:off x="5822899" y="2809524"/>
            <a:ext cx="2114093" cy="1077773"/>
          </a:xfrm>
          <a:prstGeom prst="roundRect">
            <a:avLst>
              <a:gd fmla="val 11312" name="adj"/>
            </a:avLst>
          </a:prstGeom>
          <a:solidFill>
            <a:srgbClr val="FDEFD4"/>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2" name="Google Shape;802;p35"/>
          <p:cNvSpPr/>
          <p:nvPr/>
        </p:nvSpPr>
        <p:spPr>
          <a:xfrm>
            <a:off x="5822899" y="2882676"/>
            <a:ext cx="2114093" cy="93146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E2E00"/>
              </a:buClr>
              <a:buSzPts val="1500"/>
              <a:buFont typeface="Calibri"/>
              <a:buNone/>
            </a:pPr>
            <a:r>
              <a:rPr b="1" lang="en-US" sz="1500">
                <a:solidFill>
                  <a:srgbClr val="4E2E00"/>
                </a:solidFill>
                <a:latin typeface="Calibri"/>
                <a:ea typeface="Calibri"/>
                <a:cs typeface="Calibri"/>
                <a:sym typeface="Calibri"/>
              </a:rPr>
              <a:t>Model</a:t>
            </a:r>
            <a:endParaRPr sz="1500">
              <a:solidFill>
                <a:schemeClr val="dk1"/>
              </a:solidFill>
              <a:latin typeface="Calibri"/>
              <a:ea typeface="Calibri"/>
              <a:cs typeface="Calibri"/>
              <a:sym typeface="Calibri"/>
            </a:endParaRPr>
          </a:p>
        </p:txBody>
      </p:sp>
      <p:sp>
        <p:nvSpPr>
          <p:cNvPr id="803" name="Google Shape;803;p35"/>
          <p:cNvSpPr/>
          <p:nvPr/>
        </p:nvSpPr>
        <p:spPr>
          <a:xfrm>
            <a:off x="7668768" y="2858292"/>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0"/>
              </a:buClr>
              <a:buSzPts val="1300"/>
              <a:buFont typeface="Calibri"/>
              <a:buNone/>
            </a:pPr>
            <a:r>
              <a:rPr b="1" lang="en-US" sz="1300">
                <a:solidFill>
                  <a:srgbClr val="8A5200"/>
                </a:solidFill>
                <a:latin typeface="Calibri"/>
                <a:ea typeface="Calibri"/>
                <a:cs typeface="Calibri"/>
                <a:sym typeface="Calibri"/>
              </a:rPr>
              <a:t>✓</a:t>
            </a:r>
            <a:endParaRPr sz="1300">
              <a:solidFill>
                <a:schemeClr val="dk1"/>
              </a:solidFill>
              <a:latin typeface="Calibri"/>
              <a:ea typeface="Calibri"/>
              <a:cs typeface="Calibri"/>
              <a:sym typeface="Calibri"/>
            </a:endParaRPr>
          </a:p>
        </p:txBody>
      </p:sp>
      <p:sp>
        <p:nvSpPr>
          <p:cNvPr id="804" name="Google Shape;804;p35"/>
          <p:cNvSpPr/>
          <p:nvPr/>
        </p:nvSpPr>
        <p:spPr>
          <a:xfrm>
            <a:off x="4828032" y="1267968"/>
            <a:ext cx="6925056" cy="4291584"/>
          </a:xfrm>
          <a:prstGeom prst="roundRect">
            <a:avLst>
              <a:gd fmla="val 3977" name="adj"/>
            </a:avLst>
          </a:prstGeom>
          <a:solidFill>
            <a:srgbClr val="FFFFFF"/>
          </a:solidFill>
          <a:ln cap="flat" cmpd="sng" w="19050">
            <a:solidFill>
              <a:srgbClr val="1D9E75"/>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5" name="Google Shape;805;p35"/>
          <p:cNvSpPr/>
          <p:nvPr/>
        </p:nvSpPr>
        <p:spPr>
          <a:xfrm>
            <a:off x="4828032" y="1267968"/>
            <a:ext cx="6925056" cy="1048512"/>
          </a:xfrm>
          <a:prstGeom prst="roundRect">
            <a:avLst>
              <a:gd fmla="val 16279" name="adj"/>
            </a:avLst>
          </a:prstGeom>
          <a:solidFill>
            <a:srgbClr val="1D9E75"/>
          </a:solidFill>
          <a:ln cap="flat" cmpd="sng" w="12700">
            <a:solidFill>
              <a:srgbClr val="1D9E7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6" name="Google Shape;806;p35"/>
          <p:cNvSpPr/>
          <p:nvPr/>
        </p:nvSpPr>
        <p:spPr>
          <a:xfrm>
            <a:off x="4828032" y="1999488"/>
            <a:ext cx="6925056" cy="316992"/>
          </a:xfrm>
          <a:prstGeom prst="rect">
            <a:avLst/>
          </a:prstGeom>
          <a:solidFill>
            <a:srgbClr val="1D9E75"/>
          </a:solidFill>
          <a:ln cap="flat" cmpd="sng" w="12700">
            <a:solidFill>
              <a:srgbClr val="1D9E75"/>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7" name="Google Shape;807;p35"/>
          <p:cNvSpPr/>
          <p:nvPr/>
        </p:nvSpPr>
        <p:spPr>
          <a:xfrm>
            <a:off x="5023104" y="1426464"/>
            <a:ext cx="731520" cy="7315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8" name="Google Shape;808;p35"/>
          <p:cNvSpPr/>
          <p:nvPr/>
        </p:nvSpPr>
        <p:spPr>
          <a:xfrm>
            <a:off x="5023104" y="1426464"/>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6E48"/>
              </a:buClr>
              <a:buSzPts val="2000"/>
              <a:buFont typeface="Calibri"/>
              <a:buNone/>
            </a:pPr>
            <a:r>
              <a:rPr b="1" lang="en-US" sz="2000">
                <a:solidFill>
                  <a:srgbClr val="0B6E48"/>
                </a:solidFill>
                <a:latin typeface="Calibri"/>
                <a:ea typeface="Calibri"/>
                <a:cs typeface="Calibri"/>
                <a:sym typeface="Calibri"/>
              </a:rPr>
              <a:t>RH</a:t>
            </a:r>
            <a:endParaRPr sz="2000">
              <a:solidFill>
                <a:schemeClr val="dk1"/>
              </a:solidFill>
              <a:latin typeface="Calibri"/>
              <a:ea typeface="Calibri"/>
              <a:cs typeface="Calibri"/>
              <a:sym typeface="Calibri"/>
            </a:endParaRPr>
          </a:p>
        </p:txBody>
      </p:sp>
      <p:sp>
        <p:nvSpPr>
          <p:cNvPr id="809" name="Google Shape;809;p35"/>
          <p:cNvSpPr/>
          <p:nvPr/>
        </p:nvSpPr>
        <p:spPr>
          <a:xfrm>
            <a:off x="5925312" y="1426464"/>
            <a:ext cx="54864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lang="en-US" sz="2300">
                <a:solidFill>
                  <a:srgbClr val="FFFFFF"/>
                </a:solidFill>
                <a:latin typeface="Calibri"/>
                <a:ea typeface="Calibri"/>
                <a:cs typeface="Calibri"/>
                <a:sym typeface="Calibri"/>
              </a:rPr>
              <a:t>Rafiul Hasan</a:t>
            </a:r>
            <a:endParaRPr sz="2300">
              <a:solidFill>
                <a:schemeClr val="dk1"/>
              </a:solidFill>
              <a:latin typeface="Calibri"/>
              <a:ea typeface="Calibri"/>
              <a:cs typeface="Calibri"/>
              <a:sym typeface="Calibri"/>
            </a:endParaRPr>
          </a:p>
        </p:txBody>
      </p:sp>
      <p:sp>
        <p:nvSpPr>
          <p:cNvPr id="810" name="Google Shape;810;p35"/>
          <p:cNvSpPr/>
          <p:nvPr/>
        </p:nvSpPr>
        <p:spPr>
          <a:xfrm>
            <a:off x="5925312" y="1877568"/>
            <a:ext cx="5486400" cy="3169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F0E0"/>
              </a:buClr>
              <a:buSzPts val="1300"/>
              <a:buFont typeface="Calibri"/>
              <a:buNone/>
            </a:pPr>
            <a:r>
              <a:rPr lang="en-US" sz="1300">
                <a:solidFill>
                  <a:srgbClr val="C8F0E0"/>
                </a:solidFill>
                <a:latin typeface="Calibri"/>
                <a:ea typeface="Calibri"/>
                <a:cs typeface="Calibri"/>
                <a:sym typeface="Calibri"/>
              </a:rPr>
              <a:t>2021-CSE-047  ·  rendered via student_detail.html</a:t>
            </a:r>
            <a:endParaRPr sz="1300">
              <a:solidFill>
                <a:schemeClr val="dk1"/>
              </a:solidFill>
              <a:latin typeface="Calibri"/>
              <a:ea typeface="Calibri"/>
              <a:cs typeface="Calibri"/>
              <a:sym typeface="Calibri"/>
            </a:endParaRPr>
          </a:p>
        </p:txBody>
      </p:sp>
      <p:sp>
        <p:nvSpPr>
          <p:cNvPr id="811" name="Google Shape;811;p35"/>
          <p:cNvSpPr/>
          <p:nvPr/>
        </p:nvSpPr>
        <p:spPr>
          <a:xfrm>
            <a:off x="5023104" y="2511552"/>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2" name="Google Shape;812;p35"/>
          <p:cNvSpPr/>
          <p:nvPr/>
        </p:nvSpPr>
        <p:spPr>
          <a:xfrm>
            <a:off x="5145024" y="2609088"/>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CGPA</a:t>
            </a:r>
            <a:endParaRPr sz="1100">
              <a:solidFill>
                <a:schemeClr val="dk1"/>
              </a:solidFill>
              <a:latin typeface="Calibri"/>
              <a:ea typeface="Calibri"/>
              <a:cs typeface="Calibri"/>
              <a:sym typeface="Calibri"/>
            </a:endParaRPr>
          </a:p>
        </p:txBody>
      </p:sp>
      <p:sp>
        <p:nvSpPr>
          <p:cNvPr id="813" name="Google Shape;813;p35"/>
          <p:cNvSpPr/>
          <p:nvPr/>
        </p:nvSpPr>
        <p:spPr>
          <a:xfrm>
            <a:off x="5145024" y="2974848"/>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2100"/>
              <a:buFont typeface="Calibri"/>
              <a:buNone/>
            </a:pPr>
            <a:r>
              <a:rPr b="1" lang="en-US" sz="2100">
                <a:solidFill>
                  <a:srgbClr val="0B6E48"/>
                </a:solidFill>
                <a:latin typeface="Calibri"/>
                <a:ea typeface="Calibri"/>
                <a:cs typeface="Calibri"/>
                <a:sym typeface="Calibri"/>
              </a:rPr>
              <a:t>3.72 / 4.00</a:t>
            </a:r>
            <a:endParaRPr sz="2100">
              <a:solidFill>
                <a:schemeClr val="dk1"/>
              </a:solidFill>
              <a:latin typeface="Calibri"/>
              <a:ea typeface="Calibri"/>
              <a:cs typeface="Calibri"/>
              <a:sym typeface="Calibri"/>
            </a:endParaRPr>
          </a:p>
        </p:txBody>
      </p:sp>
      <p:sp>
        <p:nvSpPr>
          <p:cNvPr id="814" name="Google Shape;814;p35"/>
          <p:cNvSpPr/>
          <p:nvPr/>
        </p:nvSpPr>
        <p:spPr>
          <a:xfrm>
            <a:off x="8314944" y="2511552"/>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5" name="Google Shape;815;p35"/>
          <p:cNvSpPr/>
          <p:nvPr/>
        </p:nvSpPr>
        <p:spPr>
          <a:xfrm>
            <a:off x="8436864" y="2609088"/>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SEMESTER</a:t>
            </a:r>
            <a:endParaRPr sz="1100">
              <a:solidFill>
                <a:schemeClr val="dk1"/>
              </a:solidFill>
              <a:latin typeface="Calibri"/>
              <a:ea typeface="Calibri"/>
              <a:cs typeface="Calibri"/>
              <a:sym typeface="Calibri"/>
            </a:endParaRPr>
          </a:p>
        </p:txBody>
      </p:sp>
      <p:sp>
        <p:nvSpPr>
          <p:cNvPr id="816" name="Google Shape;816;p35"/>
          <p:cNvSpPr/>
          <p:nvPr/>
        </p:nvSpPr>
        <p:spPr>
          <a:xfrm>
            <a:off x="8436864" y="2974848"/>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2100"/>
              <a:buFont typeface="Calibri"/>
              <a:buNone/>
            </a:pPr>
            <a:r>
              <a:rPr b="1" lang="en-US" sz="2100">
                <a:solidFill>
                  <a:srgbClr val="1A1A18"/>
                </a:solidFill>
                <a:latin typeface="Calibri"/>
                <a:ea typeface="Calibri"/>
                <a:cs typeface="Calibri"/>
                <a:sym typeface="Calibri"/>
              </a:rPr>
              <a:t>8th</a:t>
            </a:r>
            <a:endParaRPr sz="2100">
              <a:solidFill>
                <a:schemeClr val="dk1"/>
              </a:solidFill>
              <a:latin typeface="Calibri"/>
              <a:ea typeface="Calibri"/>
              <a:cs typeface="Calibri"/>
              <a:sym typeface="Calibri"/>
            </a:endParaRPr>
          </a:p>
        </p:txBody>
      </p:sp>
      <p:sp>
        <p:nvSpPr>
          <p:cNvPr id="817" name="Google Shape;817;p35"/>
          <p:cNvSpPr/>
          <p:nvPr/>
        </p:nvSpPr>
        <p:spPr>
          <a:xfrm>
            <a:off x="5023104" y="3779520"/>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8" name="Google Shape;818;p35"/>
          <p:cNvSpPr/>
          <p:nvPr/>
        </p:nvSpPr>
        <p:spPr>
          <a:xfrm>
            <a:off x="5145024" y="3877056"/>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DEPARTMENT</a:t>
            </a:r>
            <a:endParaRPr sz="1100">
              <a:solidFill>
                <a:schemeClr val="dk1"/>
              </a:solidFill>
              <a:latin typeface="Calibri"/>
              <a:ea typeface="Calibri"/>
              <a:cs typeface="Calibri"/>
              <a:sym typeface="Calibri"/>
            </a:endParaRPr>
          </a:p>
        </p:txBody>
      </p:sp>
      <p:sp>
        <p:nvSpPr>
          <p:cNvPr id="819" name="Google Shape;819;p35"/>
          <p:cNvSpPr/>
          <p:nvPr/>
        </p:nvSpPr>
        <p:spPr>
          <a:xfrm>
            <a:off x="5145024" y="4242816"/>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8"/>
              </a:buClr>
              <a:buSzPts val="2100"/>
              <a:buFont typeface="Calibri"/>
              <a:buNone/>
            </a:pPr>
            <a:r>
              <a:rPr b="1" lang="en-US" sz="2100">
                <a:solidFill>
                  <a:srgbClr val="1A1A18"/>
                </a:solidFill>
                <a:latin typeface="Calibri"/>
                <a:ea typeface="Calibri"/>
                <a:cs typeface="Calibri"/>
                <a:sym typeface="Calibri"/>
              </a:rPr>
              <a:t>CSE</a:t>
            </a:r>
            <a:endParaRPr sz="2100">
              <a:solidFill>
                <a:schemeClr val="dk1"/>
              </a:solidFill>
              <a:latin typeface="Calibri"/>
              <a:ea typeface="Calibri"/>
              <a:cs typeface="Calibri"/>
              <a:sym typeface="Calibri"/>
            </a:endParaRPr>
          </a:p>
        </p:txBody>
      </p:sp>
      <p:sp>
        <p:nvSpPr>
          <p:cNvPr id="820" name="Google Shape;820;p35"/>
          <p:cNvSpPr/>
          <p:nvPr/>
        </p:nvSpPr>
        <p:spPr>
          <a:xfrm>
            <a:off x="8314944" y="3779520"/>
            <a:ext cx="2999232" cy="1072896"/>
          </a:xfrm>
          <a:prstGeom prst="roundRect">
            <a:avLst>
              <a:gd fmla="val 10227" name="adj"/>
            </a:avLst>
          </a:prstGeom>
          <a:solidFill>
            <a:srgbClr val="F5F7FA"/>
          </a:solidFill>
          <a:ln cap="flat" cmpd="sng" w="9525">
            <a:solidFill>
              <a:srgbClr val="C8C6B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1" name="Google Shape;821;p35"/>
          <p:cNvSpPr/>
          <p:nvPr/>
        </p:nvSpPr>
        <p:spPr>
          <a:xfrm>
            <a:off x="8436864" y="3877056"/>
            <a:ext cx="2755392" cy="2682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100"/>
              <a:buFont typeface="Calibri"/>
              <a:buNone/>
            </a:pPr>
            <a:r>
              <a:rPr b="1" lang="en-US" sz="1100">
                <a:solidFill>
                  <a:srgbClr val="6A6966"/>
                </a:solidFill>
                <a:latin typeface="Calibri"/>
                <a:ea typeface="Calibri"/>
                <a:cs typeface="Calibri"/>
                <a:sym typeface="Calibri"/>
              </a:rPr>
              <a:t>STATUS</a:t>
            </a:r>
            <a:endParaRPr sz="1100">
              <a:solidFill>
                <a:schemeClr val="dk1"/>
              </a:solidFill>
              <a:latin typeface="Calibri"/>
              <a:ea typeface="Calibri"/>
              <a:cs typeface="Calibri"/>
              <a:sym typeface="Calibri"/>
            </a:endParaRPr>
          </a:p>
        </p:txBody>
      </p:sp>
      <p:sp>
        <p:nvSpPr>
          <p:cNvPr id="822" name="Google Shape;822;p35"/>
          <p:cNvSpPr/>
          <p:nvPr/>
        </p:nvSpPr>
        <p:spPr>
          <a:xfrm>
            <a:off x="8436864" y="4242816"/>
            <a:ext cx="2755392" cy="414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2100"/>
              <a:buFont typeface="Calibri"/>
              <a:buNone/>
            </a:pPr>
            <a:r>
              <a:rPr b="1" lang="en-US" sz="2100">
                <a:solidFill>
                  <a:srgbClr val="0B6E48"/>
                </a:solidFill>
                <a:latin typeface="Calibri"/>
                <a:ea typeface="Calibri"/>
                <a:cs typeface="Calibri"/>
                <a:sym typeface="Calibri"/>
              </a:rPr>
              <a:t>Active</a:t>
            </a:r>
            <a:endParaRPr sz="2100">
              <a:solidFill>
                <a:schemeClr val="dk1"/>
              </a:solidFill>
              <a:latin typeface="Calibri"/>
              <a:ea typeface="Calibri"/>
              <a:cs typeface="Calibri"/>
              <a:sym typeface="Calibri"/>
            </a:endParaRPr>
          </a:p>
        </p:txBody>
      </p:sp>
      <p:sp>
        <p:nvSpPr>
          <p:cNvPr id="823" name="Google Shape;823;p35"/>
          <p:cNvSpPr/>
          <p:nvPr/>
        </p:nvSpPr>
        <p:spPr>
          <a:xfrm>
            <a:off x="341376" y="5681472"/>
            <a:ext cx="11509248" cy="975360"/>
          </a:xfrm>
          <a:prstGeom prst="roundRect">
            <a:avLst>
              <a:gd fmla="val 12500" name="adj"/>
            </a:avLst>
          </a:prstGeom>
          <a:solidFill>
            <a:srgbClr val="F8F7F4"/>
          </a:solidFill>
          <a:ln cap="flat" cmpd="sng" w="9525">
            <a:solidFill>
              <a:srgbClr val="C8C6BC"/>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4" name="Google Shape;824;p35"/>
          <p:cNvSpPr/>
          <p:nvPr/>
        </p:nvSpPr>
        <p:spPr>
          <a:xfrm>
            <a:off x="536448" y="5754624"/>
            <a:ext cx="1584960" cy="243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966"/>
              </a:buClr>
              <a:buSzPts val="1300"/>
              <a:buFont typeface="Calibri"/>
              <a:buNone/>
            </a:pPr>
            <a:r>
              <a:rPr b="1" lang="en-US" sz="1300">
                <a:solidFill>
                  <a:srgbClr val="6A6966"/>
                </a:solidFill>
                <a:latin typeface="Calibri"/>
                <a:ea typeface="Calibri"/>
                <a:cs typeface="Calibri"/>
                <a:sym typeface="Calibri"/>
              </a:rPr>
              <a:t>Network log</a:t>
            </a:r>
            <a:endParaRPr sz="1300">
              <a:solidFill>
                <a:schemeClr val="dk1"/>
              </a:solidFill>
              <a:latin typeface="Calibri"/>
              <a:ea typeface="Calibri"/>
              <a:cs typeface="Calibri"/>
              <a:sym typeface="Calibri"/>
            </a:endParaRPr>
          </a:p>
        </p:txBody>
      </p:sp>
      <p:sp>
        <p:nvSpPr>
          <p:cNvPr id="825" name="Google Shape;825;p35"/>
          <p:cNvSpPr/>
          <p:nvPr/>
        </p:nvSpPr>
        <p:spPr>
          <a:xfrm>
            <a:off x="536448" y="5998464"/>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1300"/>
              <a:buFont typeface="Calibri"/>
              <a:buNone/>
            </a:pPr>
            <a:r>
              <a:rPr b="1" lang="en-US" sz="1300">
                <a:solidFill>
                  <a:srgbClr val="0B6E48"/>
                </a:solidFill>
                <a:latin typeface="Calibri"/>
                <a:ea typeface="Calibri"/>
                <a:cs typeface="Calibri"/>
                <a:sym typeface="Calibri"/>
              </a:rPr>
              <a:t>✓ RESPONSE  </a:t>
            </a:r>
            <a:r>
              <a:rPr lang="en-US" sz="1300">
                <a:solidFill>
                  <a:srgbClr val="3A3A38"/>
                </a:solidFill>
                <a:latin typeface="Calibri"/>
                <a:ea typeface="Calibri"/>
                <a:cs typeface="Calibri"/>
                <a:sym typeface="Calibri"/>
              </a:rPr>
              <a:t>200 OK — MVC cycle complete — student_detail.html rendered in browser</a:t>
            </a:r>
            <a:endParaRPr sz="1300">
              <a:solidFill>
                <a:schemeClr val="dk1"/>
              </a:solidFill>
              <a:latin typeface="Calibri"/>
              <a:ea typeface="Calibri"/>
              <a:cs typeface="Calibri"/>
              <a:sym typeface="Calibri"/>
            </a:endParaRPr>
          </a:p>
        </p:txBody>
      </p:sp>
      <p:sp>
        <p:nvSpPr>
          <p:cNvPr id="826" name="Google Shape;826;p35"/>
          <p:cNvSpPr/>
          <p:nvPr/>
        </p:nvSpPr>
        <p:spPr>
          <a:xfrm>
            <a:off x="536448" y="6339840"/>
            <a:ext cx="109728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6E48"/>
              </a:buClr>
              <a:buSzPts val="1300"/>
              <a:buFont typeface="Calibri"/>
              <a:buNone/>
            </a:pPr>
            <a:r>
              <a:rPr b="1" lang="en-US" sz="1300">
                <a:solidFill>
                  <a:srgbClr val="0B6E48"/>
                </a:solidFill>
                <a:latin typeface="Calibri"/>
                <a:ea typeface="Calibri"/>
                <a:cs typeface="Calibri"/>
                <a:sym typeface="Calibri"/>
              </a:rPr>
              <a:t>✓ RESPONSE  </a:t>
            </a:r>
            <a:r>
              <a:rPr lang="en-US" sz="1300">
                <a:solidFill>
                  <a:srgbClr val="3A3A38"/>
                </a:solidFill>
                <a:latin typeface="Calibri"/>
                <a:ea typeface="Calibri"/>
                <a:cs typeface="Calibri"/>
                <a:sym typeface="Calibri"/>
              </a:rPr>
              <a:t>Full path: Browser → Router → Controller → Model → Database → Model → Controller → View → Browser</a:t>
            </a:r>
            <a:endParaRPr sz="13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1" name="Shape 831"/>
        <p:cNvGrpSpPr/>
        <p:nvPr/>
      </p:nvGrpSpPr>
      <p:grpSpPr>
        <a:xfrm>
          <a:off x="0" y="0"/>
          <a:ext cx="0" cy="0"/>
          <a:chOff x="0" y="0"/>
          <a:chExt cx="0" cy="0"/>
        </a:xfrm>
      </p:grpSpPr>
      <p:sp>
        <p:nvSpPr>
          <p:cNvPr id="832" name="Google Shape;832;p36"/>
          <p:cNvSpPr/>
          <p:nvPr/>
        </p:nvSpPr>
        <p:spPr>
          <a:xfrm>
            <a:off x="670560" y="219456"/>
            <a:ext cx="10850880" cy="877824"/>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4300"/>
              <a:buFont typeface="Calibri"/>
              <a:buNone/>
            </a:pPr>
            <a:r>
              <a:rPr b="1" lang="en-US" sz="4300">
                <a:solidFill>
                  <a:schemeClr val="dk1"/>
                </a:solidFill>
                <a:latin typeface="Lexend"/>
                <a:ea typeface="Lexend"/>
                <a:cs typeface="Lexend"/>
                <a:sym typeface="Lexend"/>
              </a:rPr>
              <a:t>MVC request lifecycle</a:t>
            </a:r>
            <a:endParaRPr sz="4300">
              <a:solidFill>
                <a:schemeClr val="dk1"/>
              </a:solidFill>
              <a:latin typeface="Lexend"/>
              <a:ea typeface="Lexend"/>
              <a:cs typeface="Lexend"/>
              <a:sym typeface="Lexend"/>
            </a:endParaRPr>
          </a:p>
        </p:txBody>
      </p:sp>
      <p:sp>
        <p:nvSpPr>
          <p:cNvPr id="833" name="Google Shape;833;p36"/>
          <p:cNvSpPr/>
          <p:nvPr/>
        </p:nvSpPr>
        <p:spPr>
          <a:xfrm>
            <a:off x="512064" y="1389888"/>
            <a:ext cx="5657088" cy="853440"/>
          </a:xfrm>
          <a:prstGeom prst="roundRect">
            <a:avLst>
              <a:gd fmla="val 17143" name="adj"/>
            </a:avLst>
          </a:prstGeom>
          <a:solidFill>
            <a:srgbClr val="FFFFFF">
              <a:alpha val="12157"/>
            </a:srgbClr>
          </a:solidFill>
          <a:ln cap="flat" cmpd="sng" w="17775">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4" name="Google Shape;834;p36"/>
          <p:cNvSpPr/>
          <p:nvPr/>
        </p:nvSpPr>
        <p:spPr>
          <a:xfrm>
            <a:off x="658368" y="1524000"/>
            <a:ext cx="585216" cy="585216"/>
          </a:xfrm>
          <a:prstGeom prst="ellipse">
            <a:avLst/>
          </a:prstGeom>
          <a:solidFill>
            <a:srgbClr val="1560A8"/>
          </a:solidFill>
          <a:ln cap="flat" cmpd="sng" w="12700">
            <a:solidFill>
              <a:srgbClr val="1560A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5" name="Google Shape;835;p36"/>
          <p:cNvSpPr/>
          <p:nvPr/>
        </p:nvSpPr>
        <p:spPr>
          <a:xfrm>
            <a:off x="658368" y="1524000"/>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1</a:t>
            </a:r>
            <a:endParaRPr sz="1900">
              <a:solidFill>
                <a:schemeClr val="lt1"/>
              </a:solidFill>
              <a:latin typeface="Calibri"/>
              <a:ea typeface="Calibri"/>
              <a:cs typeface="Calibri"/>
              <a:sym typeface="Calibri"/>
            </a:endParaRPr>
          </a:p>
        </p:txBody>
      </p:sp>
      <p:sp>
        <p:nvSpPr>
          <p:cNvPr id="836" name="Google Shape;836;p36"/>
          <p:cNvSpPr/>
          <p:nvPr/>
        </p:nvSpPr>
        <p:spPr>
          <a:xfrm>
            <a:off x="1414272" y="1389888"/>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Browser fires GET /students/2021-CSE-047</a:t>
            </a:r>
            <a:endParaRPr sz="1700">
              <a:solidFill>
                <a:schemeClr val="dk1"/>
              </a:solidFill>
              <a:latin typeface="Calibri"/>
              <a:ea typeface="Calibri"/>
              <a:cs typeface="Calibri"/>
              <a:sym typeface="Calibri"/>
            </a:endParaRPr>
          </a:p>
        </p:txBody>
      </p:sp>
      <p:sp>
        <p:nvSpPr>
          <p:cNvPr id="837" name="Google Shape;837;p36"/>
          <p:cNvSpPr/>
          <p:nvPr/>
        </p:nvSpPr>
        <p:spPr>
          <a:xfrm>
            <a:off x="512064" y="2414016"/>
            <a:ext cx="5657088" cy="853440"/>
          </a:xfrm>
          <a:prstGeom prst="roundRect">
            <a:avLst>
              <a:gd fmla="val 17143" name="adj"/>
            </a:avLst>
          </a:prstGeom>
          <a:solidFill>
            <a:srgbClr val="FFFFFF">
              <a:alpha val="12157"/>
            </a:srgbClr>
          </a:solidFill>
          <a:ln cap="flat" cmpd="sng" w="1777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8" name="Google Shape;838;p36"/>
          <p:cNvSpPr/>
          <p:nvPr/>
        </p:nvSpPr>
        <p:spPr>
          <a:xfrm>
            <a:off x="658368" y="2548128"/>
            <a:ext cx="585216" cy="585216"/>
          </a:xfrm>
          <a:prstGeom prst="ellipse">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39" name="Google Shape;839;p36"/>
          <p:cNvSpPr/>
          <p:nvPr/>
        </p:nvSpPr>
        <p:spPr>
          <a:xfrm>
            <a:off x="658368" y="2548128"/>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2</a:t>
            </a:r>
            <a:endParaRPr sz="1900">
              <a:solidFill>
                <a:schemeClr val="lt1"/>
              </a:solidFill>
              <a:latin typeface="Calibri"/>
              <a:ea typeface="Calibri"/>
              <a:cs typeface="Calibri"/>
              <a:sym typeface="Calibri"/>
            </a:endParaRPr>
          </a:p>
        </p:txBody>
      </p:sp>
      <p:sp>
        <p:nvSpPr>
          <p:cNvPr id="840" name="Google Shape;840;p36"/>
          <p:cNvSpPr/>
          <p:nvPr/>
        </p:nvSpPr>
        <p:spPr>
          <a:xfrm>
            <a:off x="1414272" y="2414016"/>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Router pattern-matches URL to controller</a:t>
            </a:r>
            <a:endParaRPr sz="1700">
              <a:solidFill>
                <a:schemeClr val="dk1"/>
              </a:solidFill>
              <a:latin typeface="Calibri"/>
              <a:ea typeface="Calibri"/>
              <a:cs typeface="Calibri"/>
              <a:sym typeface="Calibri"/>
            </a:endParaRPr>
          </a:p>
        </p:txBody>
      </p:sp>
      <p:sp>
        <p:nvSpPr>
          <p:cNvPr id="841" name="Google Shape;841;p36"/>
          <p:cNvSpPr/>
          <p:nvPr/>
        </p:nvSpPr>
        <p:spPr>
          <a:xfrm>
            <a:off x="512064" y="3438144"/>
            <a:ext cx="5657088" cy="853440"/>
          </a:xfrm>
          <a:prstGeom prst="roundRect">
            <a:avLst>
              <a:gd fmla="val 17143" name="adj"/>
            </a:avLst>
          </a:prstGeom>
          <a:solidFill>
            <a:srgbClr val="FFFFFF">
              <a:alpha val="12157"/>
            </a:srgbClr>
          </a:solidFill>
          <a:ln cap="flat" cmpd="sng" w="17775">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2" name="Google Shape;842;p36"/>
          <p:cNvSpPr/>
          <p:nvPr/>
        </p:nvSpPr>
        <p:spPr>
          <a:xfrm>
            <a:off x="658368" y="3572256"/>
            <a:ext cx="585216" cy="585216"/>
          </a:xfrm>
          <a:prstGeom prst="ellipse">
            <a:avLst/>
          </a:prstGeom>
          <a:solidFill>
            <a:srgbClr val="993556"/>
          </a:solidFill>
          <a:ln cap="flat" cmpd="sng" w="12700">
            <a:solidFill>
              <a:srgbClr val="993556"/>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3" name="Google Shape;843;p36"/>
          <p:cNvSpPr/>
          <p:nvPr/>
        </p:nvSpPr>
        <p:spPr>
          <a:xfrm>
            <a:off x="658368" y="3572256"/>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3</a:t>
            </a:r>
            <a:endParaRPr sz="1900">
              <a:solidFill>
                <a:schemeClr val="lt1"/>
              </a:solidFill>
              <a:latin typeface="Calibri"/>
              <a:ea typeface="Calibri"/>
              <a:cs typeface="Calibri"/>
              <a:sym typeface="Calibri"/>
            </a:endParaRPr>
          </a:p>
        </p:txBody>
      </p:sp>
      <p:sp>
        <p:nvSpPr>
          <p:cNvPr id="844" name="Google Shape;844;p36"/>
          <p:cNvSpPr/>
          <p:nvPr/>
        </p:nvSpPr>
        <p:spPr>
          <a:xfrm>
            <a:off x="1414272" y="3438144"/>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Router dispatches + bound { id } to Controller</a:t>
            </a:r>
            <a:endParaRPr sz="1700">
              <a:solidFill>
                <a:schemeClr val="dk1"/>
              </a:solidFill>
              <a:latin typeface="Calibri"/>
              <a:ea typeface="Calibri"/>
              <a:cs typeface="Calibri"/>
              <a:sym typeface="Calibri"/>
            </a:endParaRPr>
          </a:p>
        </p:txBody>
      </p:sp>
      <p:sp>
        <p:nvSpPr>
          <p:cNvPr id="845" name="Google Shape;845;p36"/>
          <p:cNvSpPr/>
          <p:nvPr/>
        </p:nvSpPr>
        <p:spPr>
          <a:xfrm>
            <a:off x="512064" y="4462272"/>
            <a:ext cx="5657088" cy="853440"/>
          </a:xfrm>
          <a:prstGeom prst="roundRect">
            <a:avLst>
              <a:gd fmla="val 17143" name="adj"/>
            </a:avLst>
          </a:prstGeom>
          <a:solidFill>
            <a:srgbClr val="FFFFFF">
              <a:alpha val="12157"/>
            </a:srgbClr>
          </a:solidFill>
          <a:ln cap="flat" cmpd="sng" w="1777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6" name="Google Shape;846;p36"/>
          <p:cNvSpPr/>
          <p:nvPr/>
        </p:nvSpPr>
        <p:spPr>
          <a:xfrm>
            <a:off x="658368" y="4596384"/>
            <a:ext cx="585216" cy="585216"/>
          </a:xfrm>
          <a:prstGeom prst="ellipse">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47" name="Google Shape;847;p36"/>
          <p:cNvSpPr/>
          <p:nvPr/>
        </p:nvSpPr>
        <p:spPr>
          <a:xfrm>
            <a:off x="658368" y="4596384"/>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4</a:t>
            </a:r>
            <a:endParaRPr sz="1900">
              <a:solidFill>
                <a:schemeClr val="lt1"/>
              </a:solidFill>
              <a:latin typeface="Calibri"/>
              <a:ea typeface="Calibri"/>
              <a:cs typeface="Calibri"/>
              <a:sym typeface="Calibri"/>
            </a:endParaRPr>
          </a:p>
        </p:txBody>
      </p:sp>
      <p:sp>
        <p:nvSpPr>
          <p:cNvPr id="848" name="Google Shape;848;p36"/>
          <p:cNvSpPr/>
          <p:nvPr/>
        </p:nvSpPr>
        <p:spPr>
          <a:xfrm>
            <a:off x="1414272" y="4462272"/>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Controller calls Model.find($id)</a:t>
            </a:r>
            <a:endParaRPr sz="1700">
              <a:solidFill>
                <a:schemeClr val="dk1"/>
              </a:solidFill>
              <a:latin typeface="Calibri"/>
              <a:ea typeface="Calibri"/>
              <a:cs typeface="Calibri"/>
              <a:sym typeface="Calibri"/>
            </a:endParaRPr>
          </a:p>
        </p:txBody>
      </p:sp>
      <p:sp>
        <p:nvSpPr>
          <p:cNvPr id="849" name="Google Shape;849;p36"/>
          <p:cNvSpPr/>
          <p:nvPr/>
        </p:nvSpPr>
        <p:spPr>
          <a:xfrm>
            <a:off x="512064" y="5486400"/>
            <a:ext cx="5657088" cy="853440"/>
          </a:xfrm>
          <a:prstGeom prst="roundRect">
            <a:avLst>
              <a:gd fmla="val 17143" name="adj"/>
            </a:avLst>
          </a:prstGeom>
          <a:solidFill>
            <a:srgbClr val="FFFFFF">
              <a:alpha val="12157"/>
            </a:srgbClr>
          </a:solidFill>
          <a:ln cap="flat" cmpd="sng" w="1777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0" name="Google Shape;850;p36"/>
          <p:cNvSpPr/>
          <p:nvPr/>
        </p:nvSpPr>
        <p:spPr>
          <a:xfrm>
            <a:off x="658368" y="5620512"/>
            <a:ext cx="585216" cy="585216"/>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1" name="Google Shape;851;p36"/>
          <p:cNvSpPr/>
          <p:nvPr/>
        </p:nvSpPr>
        <p:spPr>
          <a:xfrm>
            <a:off x="658368" y="562051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5</a:t>
            </a:r>
            <a:endParaRPr sz="1900">
              <a:solidFill>
                <a:schemeClr val="lt1"/>
              </a:solidFill>
              <a:latin typeface="Calibri"/>
              <a:ea typeface="Calibri"/>
              <a:cs typeface="Calibri"/>
              <a:sym typeface="Calibri"/>
            </a:endParaRPr>
          </a:p>
        </p:txBody>
      </p:sp>
      <p:sp>
        <p:nvSpPr>
          <p:cNvPr id="852" name="Google Shape;852;p36"/>
          <p:cNvSpPr/>
          <p:nvPr/>
        </p:nvSpPr>
        <p:spPr>
          <a:xfrm>
            <a:off x="1414272" y="5486400"/>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Model sends SQL query to Database</a:t>
            </a:r>
            <a:endParaRPr sz="1700">
              <a:solidFill>
                <a:schemeClr val="dk1"/>
              </a:solidFill>
              <a:latin typeface="Calibri"/>
              <a:ea typeface="Calibri"/>
              <a:cs typeface="Calibri"/>
              <a:sym typeface="Calibri"/>
            </a:endParaRPr>
          </a:p>
        </p:txBody>
      </p:sp>
      <p:sp>
        <p:nvSpPr>
          <p:cNvPr id="853" name="Google Shape;853;p36"/>
          <p:cNvSpPr/>
          <p:nvPr/>
        </p:nvSpPr>
        <p:spPr>
          <a:xfrm>
            <a:off x="6510528" y="1389888"/>
            <a:ext cx="5657088" cy="853440"/>
          </a:xfrm>
          <a:prstGeom prst="roundRect">
            <a:avLst>
              <a:gd fmla="val 17143" name="adj"/>
            </a:avLst>
          </a:prstGeom>
          <a:solidFill>
            <a:srgbClr val="FFFFFF">
              <a:alpha val="12157"/>
            </a:srgbClr>
          </a:solidFill>
          <a:ln cap="flat" cmpd="sng" w="17775">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4" name="Google Shape;854;p36"/>
          <p:cNvSpPr/>
          <p:nvPr/>
        </p:nvSpPr>
        <p:spPr>
          <a:xfrm>
            <a:off x="6656832" y="1524000"/>
            <a:ext cx="585216" cy="585216"/>
          </a:xfrm>
          <a:prstGeom prst="ellipse">
            <a:avLst/>
          </a:prstGeom>
          <a:solidFill>
            <a:srgbClr val="3B6D11"/>
          </a:solidFill>
          <a:ln cap="flat" cmpd="sng" w="12700">
            <a:solidFill>
              <a:srgbClr val="3B6D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5" name="Google Shape;855;p36"/>
          <p:cNvSpPr/>
          <p:nvPr/>
        </p:nvSpPr>
        <p:spPr>
          <a:xfrm>
            <a:off x="6656832" y="1524000"/>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6</a:t>
            </a:r>
            <a:endParaRPr sz="1900">
              <a:solidFill>
                <a:schemeClr val="lt1"/>
              </a:solidFill>
              <a:latin typeface="Calibri"/>
              <a:ea typeface="Calibri"/>
              <a:cs typeface="Calibri"/>
              <a:sym typeface="Calibri"/>
            </a:endParaRPr>
          </a:p>
        </p:txBody>
      </p:sp>
      <p:sp>
        <p:nvSpPr>
          <p:cNvPr id="856" name="Google Shape;856;p36"/>
          <p:cNvSpPr/>
          <p:nvPr/>
        </p:nvSpPr>
        <p:spPr>
          <a:xfrm>
            <a:off x="7412736" y="1389888"/>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Database returns raw row to Model</a:t>
            </a:r>
            <a:endParaRPr sz="1700">
              <a:solidFill>
                <a:schemeClr val="dk1"/>
              </a:solidFill>
              <a:latin typeface="Calibri"/>
              <a:ea typeface="Calibri"/>
              <a:cs typeface="Calibri"/>
              <a:sym typeface="Calibri"/>
            </a:endParaRPr>
          </a:p>
        </p:txBody>
      </p:sp>
      <p:sp>
        <p:nvSpPr>
          <p:cNvPr id="857" name="Google Shape;857;p36"/>
          <p:cNvSpPr/>
          <p:nvPr/>
        </p:nvSpPr>
        <p:spPr>
          <a:xfrm>
            <a:off x="6510528" y="2414016"/>
            <a:ext cx="5657088" cy="853440"/>
          </a:xfrm>
          <a:prstGeom prst="roundRect">
            <a:avLst>
              <a:gd fmla="val 17143" name="adj"/>
            </a:avLst>
          </a:prstGeom>
          <a:solidFill>
            <a:srgbClr val="FFFFFF">
              <a:alpha val="12157"/>
            </a:srgbClr>
          </a:solidFill>
          <a:ln cap="flat" cmpd="sng" w="17775">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8" name="Google Shape;858;p36"/>
          <p:cNvSpPr/>
          <p:nvPr/>
        </p:nvSpPr>
        <p:spPr>
          <a:xfrm>
            <a:off x="6656832" y="2548128"/>
            <a:ext cx="585216" cy="585216"/>
          </a:xfrm>
          <a:prstGeom prst="ellipse">
            <a:avLst/>
          </a:prstGeom>
          <a:solidFill>
            <a:srgbClr val="8A5200"/>
          </a:solidFill>
          <a:ln cap="flat" cmpd="sng" w="12700">
            <a:solidFill>
              <a:srgbClr val="8A520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59" name="Google Shape;859;p36"/>
          <p:cNvSpPr/>
          <p:nvPr/>
        </p:nvSpPr>
        <p:spPr>
          <a:xfrm>
            <a:off x="6656832" y="2548128"/>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7</a:t>
            </a:r>
            <a:endParaRPr sz="1900">
              <a:solidFill>
                <a:schemeClr val="lt1"/>
              </a:solidFill>
              <a:latin typeface="Calibri"/>
              <a:ea typeface="Calibri"/>
              <a:cs typeface="Calibri"/>
              <a:sym typeface="Calibri"/>
            </a:endParaRPr>
          </a:p>
        </p:txBody>
      </p:sp>
      <p:sp>
        <p:nvSpPr>
          <p:cNvPr id="860" name="Google Shape;860;p36"/>
          <p:cNvSpPr/>
          <p:nvPr/>
        </p:nvSpPr>
        <p:spPr>
          <a:xfrm>
            <a:off x="7412736" y="2414016"/>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Model returns hydrated $student to Controller</a:t>
            </a:r>
            <a:endParaRPr sz="1700">
              <a:solidFill>
                <a:schemeClr val="dk1"/>
              </a:solidFill>
              <a:latin typeface="Calibri"/>
              <a:ea typeface="Calibri"/>
              <a:cs typeface="Calibri"/>
              <a:sym typeface="Calibri"/>
            </a:endParaRPr>
          </a:p>
        </p:txBody>
      </p:sp>
      <p:sp>
        <p:nvSpPr>
          <p:cNvPr id="861" name="Google Shape;861;p36"/>
          <p:cNvSpPr/>
          <p:nvPr/>
        </p:nvSpPr>
        <p:spPr>
          <a:xfrm>
            <a:off x="6510528" y="3438144"/>
            <a:ext cx="5657088" cy="853440"/>
          </a:xfrm>
          <a:prstGeom prst="roundRect">
            <a:avLst>
              <a:gd fmla="val 17143" name="adj"/>
            </a:avLst>
          </a:prstGeom>
          <a:solidFill>
            <a:srgbClr val="FFFFFF">
              <a:alpha val="12157"/>
            </a:srgbClr>
          </a:solidFill>
          <a:ln cap="flat" cmpd="sng" w="17775">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2" name="Google Shape;862;p36"/>
          <p:cNvSpPr/>
          <p:nvPr/>
        </p:nvSpPr>
        <p:spPr>
          <a:xfrm>
            <a:off x="6656832" y="3572256"/>
            <a:ext cx="585216" cy="585216"/>
          </a:xfrm>
          <a:prstGeom prst="ellipse">
            <a:avLst/>
          </a:prstGeom>
          <a:solidFill>
            <a:srgbClr val="4A42B0"/>
          </a:solidFill>
          <a:ln cap="flat" cmpd="sng" w="12700">
            <a:solidFill>
              <a:srgbClr val="4A42B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3" name="Google Shape;863;p36"/>
          <p:cNvSpPr/>
          <p:nvPr/>
        </p:nvSpPr>
        <p:spPr>
          <a:xfrm>
            <a:off x="6656832" y="3572256"/>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8</a:t>
            </a:r>
            <a:endParaRPr sz="1900">
              <a:solidFill>
                <a:schemeClr val="lt1"/>
              </a:solidFill>
              <a:latin typeface="Calibri"/>
              <a:ea typeface="Calibri"/>
              <a:cs typeface="Calibri"/>
              <a:sym typeface="Calibri"/>
            </a:endParaRPr>
          </a:p>
        </p:txBody>
      </p:sp>
      <p:sp>
        <p:nvSpPr>
          <p:cNvPr id="864" name="Google Shape;864;p36"/>
          <p:cNvSpPr/>
          <p:nvPr/>
        </p:nvSpPr>
        <p:spPr>
          <a:xfrm>
            <a:off x="7412736" y="3438144"/>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Controller passes $student to View</a:t>
            </a:r>
            <a:endParaRPr sz="1700">
              <a:solidFill>
                <a:schemeClr val="dk1"/>
              </a:solidFill>
              <a:latin typeface="Calibri"/>
              <a:ea typeface="Calibri"/>
              <a:cs typeface="Calibri"/>
              <a:sym typeface="Calibri"/>
            </a:endParaRPr>
          </a:p>
        </p:txBody>
      </p:sp>
      <p:sp>
        <p:nvSpPr>
          <p:cNvPr id="865" name="Google Shape;865;p36"/>
          <p:cNvSpPr/>
          <p:nvPr/>
        </p:nvSpPr>
        <p:spPr>
          <a:xfrm>
            <a:off x="6510528" y="4462272"/>
            <a:ext cx="5657088" cy="853440"/>
          </a:xfrm>
          <a:prstGeom prst="roundRect">
            <a:avLst>
              <a:gd fmla="val 17143" name="adj"/>
            </a:avLst>
          </a:prstGeom>
          <a:solidFill>
            <a:srgbClr val="FFFFFF">
              <a:alpha val="12157"/>
            </a:srgbClr>
          </a:solidFill>
          <a:ln cap="flat" cmpd="sng" w="17775">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6" name="Google Shape;866;p36"/>
          <p:cNvSpPr/>
          <p:nvPr/>
        </p:nvSpPr>
        <p:spPr>
          <a:xfrm>
            <a:off x="6656832" y="4596384"/>
            <a:ext cx="585216" cy="585216"/>
          </a:xfrm>
          <a:prstGeom prst="ellipse">
            <a:avLst/>
          </a:prstGeom>
          <a:solidFill>
            <a:srgbClr val="0B6047"/>
          </a:solidFill>
          <a:ln cap="flat" cmpd="sng" w="12700">
            <a:solidFill>
              <a:srgbClr val="0B6047"/>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67" name="Google Shape;867;p36"/>
          <p:cNvSpPr/>
          <p:nvPr/>
        </p:nvSpPr>
        <p:spPr>
          <a:xfrm>
            <a:off x="6656832" y="4596384"/>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9</a:t>
            </a:r>
            <a:endParaRPr sz="1900">
              <a:solidFill>
                <a:schemeClr val="lt1"/>
              </a:solidFill>
              <a:latin typeface="Calibri"/>
              <a:ea typeface="Calibri"/>
              <a:cs typeface="Calibri"/>
              <a:sym typeface="Calibri"/>
            </a:endParaRPr>
          </a:p>
        </p:txBody>
      </p:sp>
      <p:sp>
        <p:nvSpPr>
          <p:cNvPr id="868" name="Google Shape;868;p36"/>
          <p:cNvSpPr/>
          <p:nvPr/>
        </p:nvSpPr>
        <p:spPr>
          <a:xfrm>
            <a:off x="7412736" y="4462272"/>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View renders HTML template</a:t>
            </a:r>
            <a:endParaRPr sz="1700">
              <a:solidFill>
                <a:schemeClr val="dk1"/>
              </a:solidFill>
              <a:latin typeface="Calibri"/>
              <a:ea typeface="Calibri"/>
              <a:cs typeface="Calibri"/>
              <a:sym typeface="Calibri"/>
            </a:endParaRPr>
          </a:p>
        </p:txBody>
      </p:sp>
      <p:sp>
        <p:nvSpPr>
          <p:cNvPr id="869" name="Google Shape;869;p36"/>
          <p:cNvSpPr/>
          <p:nvPr/>
        </p:nvSpPr>
        <p:spPr>
          <a:xfrm>
            <a:off x="6510528" y="5486400"/>
            <a:ext cx="5657088" cy="853440"/>
          </a:xfrm>
          <a:prstGeom prst="roundRect">
            <a:avLst>
              <a:gd fmla="val 17143" name="adj"/>
            </a:avLst>
          </a:prstGeom>
          <a:solidFill>
            <a:srgbClr val="FFFFFF">
              <a:alpha val="12157"/>
            </a:srgbClr>
          </a:solidFill>
          <a:ln cap="flat" cmpd="sng" w="17775">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70" name="Google Shape;870;p36"/>
          <p:cNvSpPr/>
          <p:nvPr/>
        </p:nvSpPr>
        <p:spPr>
          <a:xfrm>
            <a:off x="6656832" y="5620512"/>
            <a:ext cx="585216" cy="585216"/>
          </a:xfrm>
          <a:prstGeom prst="ellipse">
            <a:avLst/>
          </a:prstGeom>
          <a:solidFill>
            <a:srgbClr val="0B6E48"/>
          </a:solidFill>
          <a:ln cap="flat" cmpd="sng" w="12700">
            <a:solidFill>
              <a:srgbClr val="0B6E48"/>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solidFill>
                <a:schemeClr val="dk1"/>
              </a:solidFill>
            </a:endParaRPr>
          </a:p>
        </p:txBody>
      </p:sp>
      <p:sp>
        <p:nvSpPr>
          <p:cNvPr id="871" name="Google Shape;871;p36"/>
          <p:cNvSpPr/>
          <p:nvPr/>
        </p:nvSpPr>
        <p:spPr>
          <a:xfrm>
            <a:off x="6656832" y="5620512"/>
            <a:ext cx="585216"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Calibri"/>
              <a:buNone/>
            </a:pPr>
            <a:r>
              <a:rPr b="1" lang="en-US" sz="1900">
                <a:solidFill>
                  <a:schemeClr val="lt1"/>
                </a:solidFill>
                <a:latin typeface="Calibri"/>
                <a:ea typeface="Calibri"/>
                <a:cs typeface="Calibri"/>
                <a:sym typeface="Calibri"/>
              </a:rPr>
              <a:t>10</a:t>
            </a:r>
            <a:endParaRPr sz="1900">
              <a:solidFill>
                <a:schemeClr val="lt1"/>
              </a:solidFill>
              <a:latin typeface="Calibri"/>
              <a:ea typeface="Calibri"/>
              <a:cs typeface="Calibri"/>
              <a:sym typeface="Calibri"/>
            </a:endParaRPr>
          </a:p>
        </p:txBody>
      </p:sp>
      <p:sp>
        <p:nvSpPr>
          <p:cNvPr id="872" name="Google Shape;872;p36"/>
          <p:cNvSpPr/>
          <p:nvPr/>
        </p:nvSpPr>
        <p:spPr>
          <a:xfrm>
            <a:off x="7412736" y="5486400"/>
            <a:ext cx="4584192" cy="85344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700"/>
              <a:buFont typeface="Calibri"/>
              <a:buNone/>
            </a:pPr>
            <a:r>
              <a:rPr b="1" lang="en-US" sz="1700">
                <a:solidFill>
                  <a:schemeClr val="dk1"/>
                </a:solidFill>
                <a:latin typeface="Calibri"/>
                <a:ea typeface="Calibri"/>
                <a:cs typeface="Calibri"/>
                <a:sym typeface="Calibri"/>
              </a:rPr>
              <a:t>200 OK HTML delivered to Browser</a:t>
            </a:r>
            <a:endParaRPr sz="1700">
              <a:solidFill>
                <a:schemeClr val="dk1"/>
              </a:solidFill>
              <a:latin typeface="Calibri"/>
              <a:ea typeface="Calibri"/>
              <a:cs typeface="Calibri"/>
              <a:sym typeface="Calibri"/>
            </a:endParaRPr>
          </a:p>
        </p:txBody>
      </p:sp>
      <p:sp>
        <p:nvSpPr>
          <p:cNvPr id="873" name="Google Shape;873;p36"/>
          <p:cNvSpPr/>
          <p:nvPr/>
        </p:nvSpPr>
        <p:spPr>
          <a:xfrm>
            <a:off x="670560" y="6486144"/>
            <a:ext cx="10850880" cy="292608"/>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8A9BB5"/>
              </a:buClr>
              <a:buSzPts val="1500"/>
              <a:buFont typeface="Calibri"/>
              <a:buNone/>
            </a:pPr>
            <a:r>
              <a:rPr i="1" lang="en-US" sz="1500">
                <a:solidFill>
                  <a:schemeClr val="dk1"/>
                </a:solidFill>
                <a:latin typeface="Calibri"/>
                <a:ea typeface="Calibri"/>
                <a:cs typeface="Calibri"/>
                <a:sym typeface="Calibri"/>
              </a:rPr>
              <a:t>Entire MVC cycle completes in under 200ms</a:t>
            </a:r>
            <a:endParaRPr sz="15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When to use MVC</a:t>
            </a:r>
            <a:endParaRPr sz="3300">
              <a:latin typeface="Lexend"/>
              <a:ea typeface="Lexend"/>
              <a:cs typeface="Lexend"/>
              <a:sym typeface="Lexend"/>
            </a:endParaRPr>
          </a:p>
        </p:txBody>
      </p:sp>
      <p:sp>
        <p:nvSpPr>
          <p:cNvPr id="879" name="Google Shape;879;p3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Large or Complex Applications</a:t>
            </a:r>
            <a:endParaRPr/>
          </a:p>
          <a:p>
            <a:pPr indent="-342900" lvl="0" marL="457200" rtl="0" algn="l">
              <a:spcBef>
                <a:spcPts val="0"/>
              </a:spcBef>
              <a:spcAft>
                <a:spcPts val="0"/>
              </a:spcAft>
              <a:buSzPts val="1800"/>
              <a:buChar char="•"/>
            </a:pPr>
            <a:r>
              <a:rPr lang="en-US"/>
              <a:t>Frequent UI or Logic Updates</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Note: Your final project </a:t>
            </a:r>
            <a:r>
              <a:rPr b="1" lang="en-US" u="sng"/>
              <a:t>MUST</a:t>
            </a:r>
            <a:r>
              <a:rPr b="1" lang="en-US"/>
              <a:t> follow MVC Architecture</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300">
                <a:latin typeface="Lexend"/>
                <a:ea typeface="Lexend"/>
                <a:cs typeface="Lexend"/>
                <a:sym typeface="Lexend"/>
              </a:rPr>
              <a:t>Advantages-Disadvantages</a:t>
            </a:r>
            <a:endParaRPr sz="3300">
              <a:latin typeface="Lexend"/>
              <a:ea typeface="Lexend"/>
              <a:cs typeface="Lexend"/>
              <a:sym typeface="Lexend"/>
            </a:endParaRPr>
          </a:p>
        </p:txBody>
      </p:sp>
      <p:sp>
        <p:nvSpPr>
          <p:cNvPr id="885" name="Google Shape;885;p38"/>
          <p:cNvSpPr txBox="1"/>
          <p:nvPr>
            <p:ph idx="1" type="body"/>
          </p:nvPr>
        </p:nvSpPr>
        <p:spPr>
          <a:xfrm>
            <a:off x="838200" y="1513425"/>
            <a:ext cx="10515600" cy="5120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Advantages:</a:t>
            </a:r>
            <a:endParaRPr b="1"/>
          </a:p>
          <a:p>
            <a:pPr indent="0" lvl="0" marL="0" rtl="0" algn="l">
              <a:spcBef>
                <a:spcPts val="1000"/>
              </a:spcBef>
              <a:spcAft>
                <a:spcPts val="0"/>
              </a:spcAft>
              <a:buNone/>
            </a:pPr>
            <a:r>
              <a:rPr lang="en-US" sz="2500"/>
              <a:t>Allows the data to change independently of its representation and vice versa. Supports presentation of the same data in different ways with changes made in one representation shown in all of them. Other advantages are: parallel working, improved testability, code reusability</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rPr b="1" lang="en-US" sz="2700"/>
              <a:t>Disadvantages</a:t>
            </a:r>
            <a:r>
              <a:rPr lang="en-US" sz="2500"/>
              <a:t>:</a:t>
            </a:r>
            <a:endParaRPr sz="2500"/>
          </a:p>
          <a:p>
            <a:pPr indent="0" lvl="0" marL="0" rtl="0" algn="l">
              <a:spcBef>
                <a:spcPts val="1000"/>
              </a:spcBef>
              <a:spcAft>
                <a:spcPts val="0"/>
              </a:spcAft>
              <a:buNone/>
            </a:pPr>
            <a:r>
              <a:rPr lang="en-US" sz="2500"/>
              <a:t>Can involve additional code and code complexity when the data model and interactions are simple. </a:t>
            </a:r>
            <a:endParaRPr sz="2500"/>
          </a:p>
          <a:p>
            <a:pPr indent="0" lvl="0" marL="0" rtl="0" algn="l">
              <a:spcBef>
                <a:spcPts val="1000"/>
              </a:spcBef>
              <a:spcAft>
                <a:spcPts val="0"/>
              </a:spcAft>
              <a:buNone/>
            </a:pPr>
            <a:r>
              <a:t/>
            </a:r>
            <a:endParaRPr sz="2500"/>
          </a:p>
          <a:p>
            <a:pPr indent="0" lvl="0" marL="0" rtl="0" algn="l">
              <a:spcBef>
                <a:spcPts val="1000"/>
              </a:spcBef>
              <a:spcAft>
                <a:spcPts val="0"/>
              </a:spcAft>
              <a:buNone/>
            </a:pPr>
            <a:r>
              <a:rPr lang="en-US" sz="2500">
                <a:solidFill>
                  <a:schemeClr val="accent2"/>
                </a:solidFill>
              </a:rPr>
              <a:t>JavaScript-based MVC Web App: </a:t>
            </a:r>
            <a:r>
              <a:rPr lang="en-US" sz="2500" u="sng">
                <a:solidFill>
                  <a:schemeClr val="hlink"/>
                </a:solidFill>
                <a:hlinkClick r:id="rId3"/>
              </a:rPr>
              <a:t>Click here</a:t>
            </a:r>
            <a:endParaRPr sz="2500"/>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