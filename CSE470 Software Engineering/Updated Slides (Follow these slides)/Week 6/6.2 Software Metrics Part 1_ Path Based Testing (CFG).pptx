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Lexend Light"/>
      <p:regular r:id="rId32"/>
      <p:bold r:id="rId33"/>
    </p:embeddedFont>
    <p:embeddedFont>
      <p:font typeface="Lexend Medium"/>
      <p:regular r:id="rId34"/>
      <p:bold r:id="rId35"/>
    </p:embeddedFont>
    <p:embeddedFont>
      <p:font typeface="Lexend"/>
      <p:regular r:id="rId36"/>
      <p:bold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6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exendLight-bold.fntdata"/><Relationship Id="rId10" Type="http://schemas.openxmlformats.org/officeDocument/2006/relationships/slide" Target="slides/slide6.xml"/><Relationship Id="rId32" Type="http://schemas.openxmlformats.org/officeDocument/2006/relationships/font" Target="fonts/LexendLight-regular.fntdata"/><Relationship Id="rId13" Type="http://schemas.openxmlformats.org/officeDocument/2006/relationships/slide" Target="slides/slide9.xml"/><Relationship Id="rId35" Type="http://schemas.openxmlformats.org/officeDocument/2006/relationships/font" Target="fonts/LexendMedium-bold.fntdata"/><Relationship Id="rId12" Type="http://schemas.openxmlformats.org/officeDocument/2006/relationships/slide" Target="slides/slide8.xml"/><Relationship Id="rId34" Type="http://schemas.openxmlformats.org/officeDocument/2006/relationships/font" Target="fonts/LexendMedium-regular.fntdata"/><Relationship Id="rId15" Type="http://schemas.openxmlformats.org/officeDocument/2006/relationships/slide" Target="slides/slide11.xml"/><Relationship Id="rId37" Type="http://schemas.openxmlformats.org/officeDocument/2006/relationships/font" Target="fonts/Lexend-bold.fntdata"/><Relationship Id="rId14" Type="http://schemas.openxmlformats.org/officeDocument/2006/relationships/slide" Target="slides/slide10.xml"/><Relationship Id="rId36" Type="http://schemas.openxmlformats.org/officeDocument/2006/relationships/font" Target="fonts/Lexend-regular.fntdata"/><Relationship Id="rId17" Type="http://schemas.openxmlformats.org/officeDocument/2006/relationships/slide" Target="slides/slide13.xml"/><Relationship Id="rId39" Type="http://schemas.openxmlformats.org/officeDocument/2006/relationships/font" Target="fonts/RobotoMono-bold.fntdata"/><Relationship Id="rId16" Type="http://schemas.openxmlformats.org/officeDocument/2006/relationships/slide" Target="slides/slide12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09fd7ae8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09fd7ae8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e99d5a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e99d5a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e99d5a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5e99d5a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e99d5ac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e99d5a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e99d5ac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5e99d5ac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5e99d5ac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5e99d5a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7e2c0922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7e2c09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06ddd8f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606ddd8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606ddd8f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606ddd8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606ddd8f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606ddd8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606ddd8f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606ddd8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06ddd8f3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606ddd8f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f7e2c092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f7e2c09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7e2c092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f7e2c09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030f1b8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030f1b8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030f1b8b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030f1b8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030f1b8bf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030f1b8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30f1b8bf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030f1b8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030f1b8bf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030f1b8b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30f1b8b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030f1b8b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0618ea29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0618ea2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0618ea29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0618ea2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0618ea29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0618ea2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0618ea29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0618ea2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0618ea29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0618ea2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0618ea29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0618ea29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0618ea296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0618ea29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1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CFG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An abstract representation of a structured program, function or method.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Consists of two major components: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Node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: Represents a stretch of sequential code statements with no branches.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Directed Edge (also called arc):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 Represents a branch, alternative path in execution.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Path: A collection of Nodes linked with Directed Edges.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Specifications of a CFG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CFG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entry arc (known as a directed edge, too).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nodes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entry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Statements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658150" y="3043575"/>
            <a:ext cx="25917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1;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2;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3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4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6703825" y="3191325"/>
            <a:ext cx="1755900" cy="1825500"/>
            <a:chOff x="6172200" y="1676400"/>
            <a:chExt cx="1755900" cy="1825500"/>
          </a:xfrm>
        </p:grpSpPr>
        <p:sp>
          <p:nvSpPr>
            <p:cNvPr id="140" name="Google Shape;140;p16"/>
            <p:cNvSpPr/>
            <p:nvPr/>
          </p:nvSpPr>
          <p:spPr>
            <a:xfrm>
              <a:off x="6172200" y="1676400"/>
              <a:ext cx="17559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6781800" y="2286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2" name="Google Shape;142;p16"/>
            <p:cNvCxnSpPr/>
            <p:nvPr/>
          </p:nvCxnSpPr>
          <p:spPr>
            <a:xfrm>
              <a:off x="7086600" y="18288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16"/>
            <p:cNvCxnSpPr/>
            <p:nvPr/>
          </p:nvCxnSpPr>
          <p:spPr>
            <a:xfrm>
              <a:off x="7086600" y="27432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4" name="Google Shape;144;p16"/>
            <p:cNvSpPr txBox="1"/>
            <p:nvPr/>
          </p:nvSpPr>
          <p:spPr>
            <a:xfrm>
              <a:off x="61722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Conditions</a:t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382225" y="3043575"/>
            <a:ext cx="35220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&gt; 0: {1}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Statement1; {2}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else: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Statement2; {3}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6681675" y="3231975"/>
            <a:ext cx="3810000" cy="1877100"/>
            <a:chOff x="4648200" y="1600200"/>
            <a:chExt cx="3810000" cy="1877100"/>
          </a:xfrm>
        </p:grpSpPr>
        <p:sp>
          <p:nvSpPr>
            <p:cNvPr id="154" name="Google Shape;154;p17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7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9" name="Google Shape;159;p17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1" name="Google Shape;161;p17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17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3" name="Google Shape;163;p17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17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17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68" name="Google Shape;168;p17"/>
          <p:cNvSpPr txBox="1"/>
          <p:nvPr/>
        </p:nvSpPr>
        <p:spPr>
          <a:xfrm>
            <a:off x="1222750" y="5568800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{} -&gt; is denoting the node numbers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Node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Logical Node that does not represent any actual statements can be added as a joining point for several incoming edges.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Represents a logical closure.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Example: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Node 4 from previous example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18"/>
          <p:cNvGrpSpPr/>
          <p:nvPr/>
        </p:nvGrpSpPr>
        <p:grpSpPr>
          <a:xfrm>
            <a:off x="7106975" y="3152250"/>
            <a:ext cx="3810000" cy="1877100"/>
            <a:chOff x="4648200" y="1600200"/>
            <a:chExt cx="3810000" cy="1877100"/>
          </a:xfrm>
        </p:grpSpPr>
        <p:sp>
          <p:nvSpPr>
            <p:cNvPr id="176" name="Google Shape;176;p18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18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8" name="Google Shape;178;p18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1" name="Google Shape;181;p18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2" name="Google Shape;182;p18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3" name="Google Shape;183;p18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" name="Google Shape;184;p18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" name="Google Shape;185;p18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6" name="Google Shape;186;p18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9" name="Google Shape;189;p18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Every loop has 3 parts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: Initialization, Condition, Increment or 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 in CFG we identify each of them as a 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separate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 node.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Here we will discuss 2 types of loops: While and For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Loops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89825" y="6033975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Node-5 is a logical node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38200" y="1894925"/>
            <a:ext cx="6564600" cy="35676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 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 Initialization {1}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(n &lt;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-&gt; Condition {2}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-&gt; Body Statement {3}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n +=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-&gt;Increment {4}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3" name="Google Shape;203;p20" title="while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825" y="1120450"/>
            <a:ext cx="3029975" cy="4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Python implement for-loop a bit differently than others. It achieves the same functionality as the other for-loops using the range() function.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range() has 3 main parameters: Start, Stop and Step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To simplify things, we will consider the following: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Start -&gt; Initialization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Stop -&gt; Condition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 -&gt; Increment/Decrement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pic>
        <p:nvPicPr>
          <p:cNvPr id="215" name="Google Shape;215;p22" title="for-loop-cfg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500" y="1062913"/>
            <a:ext cx="3477300" cy="52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838200" y="1550500"/>
            <a:ext cx="6571500" cy="49110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Combined Example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838200" y="1762000"/>
            <a:ext cx="6564600" cy="44181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3" name="Google Shape;223;p23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break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{7}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0" name="Google Shape;230;p24" title="loop-break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1875" y="1616325"/>
            <a:ext cx="3151925" cy="48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400">
                <a:latin typeface="Roboto Mono"/>
                <a:ea typeface="Roboto Mono"/>
                <a:cs typeface="Roboto Mono"/>
                <a:sym typeface="Roboto Mono"/>
              </a:rPr>
              <a:t>{1,2,3}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7" name="Google Shape;237;p25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Continue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continue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{5}</a:t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{7}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4" name="Google Shape;2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875" y="1776075"/>
            <a:ext cx="297180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of Paths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program, how do we exercise all statements and branches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Translating the program into a CFG, an equivalent question is: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how do we cover all arcs and nodes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Since a path is a trail of nodes linked by arcs, this is similar to ask: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what is the set of paths that can cover all arcs and nodes?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914400" y="1676400"/>
            <a:ext cx="1755900" cy="18255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1524000" y="22860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8" name="Google Shape;258;p28"/>
          <p:cNvCxnSpPr/>
          <p:nvPr/>
        </p:nvCxnSpPr>
        <p:spPr>
          <a:xfrm>
            <a:off x="1828800" y="18288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28"/>
          <p:cNvCxnSpPr/>
          <p:nvPr/>
        </p:nvCxnSpPr>
        <p:spPr>
          <a:xfrm>
            <a:off x="1828800" y="27432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28"/>
          <p:cNvSpPr txBox="1"/>
          <p:nvPr/>
        </p:nvSpPr>
        <p:spPr>
          <a:xfrm>
            <a:off x="914400" y="32004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762000" y="3581400"/>
            <a:ext cx="39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Only </a:t>
            </a:r>
            <a:r>
              <a:rPr b="1" lang="en-US" sz="2000">
                <a:solidFill>
                  <a:srgbClr val="000000"/>
                </a:solidFill>
              </a:rPr>
              <a:t>one </a:t>
            </a:r>
            <a:r>
              <a:rPr lang="en-US" sz="2000">
                <a:solidFill>
                  <a:srgbClr val="000000"/>
                </a:solidFill>
              </a:rPr>
              <a:t>path is needed: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dk1"/>
                </a:solidFill>
              </a:rPr>
              <a:t>[ 1 ]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8030225" y="337185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7091250" y="48958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8" title="condition-cf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525" y="4543828"/>
            <a:ext cx="4345725" cy="19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 title="condition-cfg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250" y="1447930"/>
            <a:ext cx="3981483" cy="17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A generalized technique to find out the number of paths needed (known as cyclomatic complexity) to cover all arcs and nodes in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Draw the CFG for the code fragment.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Compute the cyclomatic complexity number C, for the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Find at most C paths that cover the nodes and arcs in a CFG, also known as Basic Paths Set;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Design test cases to force execution along paths in the Basic Paths Set.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788575" y="435325"/>
            <a:ext cx="10515600" cy="125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30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3" name="Google Shape;283;p30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30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8" name="Google Shape;288;p30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30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30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30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30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30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30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30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30"/>
          <p:cNvCxnSpPr>
            <a:stCxn id="290" idx="1"/>
            <a:endCxn id="282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04" name="Google Shape;304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1.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regions in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2.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predicate nodes in the graph.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3.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E − N + 2P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,where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edges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nodes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connected components.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838200" y="1943750"/>
            <a:ext cx="6717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‘regions’ in the graph( R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32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838200" y="1943750"/>
            <a:ext cx="6717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‘predicate’ nodes ( P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Here, Predicate node means Decision Node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33" title="CFG_PB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200" y="1868073"/>
            <a:ext cx="3545075" cy="37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Component in a Graph</a:t>
            </a:r>
            <a:endParaRPr/>
          </a:p>
        </p:txBody>
      </p:sp>
      <p:pic>
        <p:nvPicPr>
          <p:cNvPr id="324" name="Google Shape;32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650" y="1856975"/>
            <a:ext cx="6080700" cy="4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838200" y="1943750"/>
            <a:ext cx="6717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complexity,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− N + 2P, Where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E, edges = 7 </a:t>
            </a:r>
            <a:r>
              <a:rPr lang="en-US" sz="2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(exclude: entry, exit arc)</a:t>
            </a:r>
            <a:endParaRPr sz="2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N, nodes = 6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P, connected components = 1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7 – 6 + (2x1)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3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1" name="Google Shape;331;p35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5"/>
          <p:cNvSpPr/>
          <p:nvPr/>
        </p:nvSpPr>
        <p:spPr>
          <a:xfrm>
            <a:off x="9140675" y="4007150"/>
            <a:ext cx="488400" cy="28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10137475" y="4854425"/>
            <a:ext cx="4188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39" name="Google Shape;339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Independent path: 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executable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or realizable path through the graph from the start node to the end node that has not been traversed before.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Must move along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at least one arc that has not been yet traversed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 (an unvisited arc).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objective is to cover all statements in a program by independent paths.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to discover &lt;= Cyclomatic complexity number,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set of Independent paths is called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Basic Path Set</a:t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5" name="Google Shape;345;p37"/>
          <p:cNvSpPr txBox="1"/>
          <p:nvPr>
            <p:ph idx="1" type="body"/>
          </p:nvPr>
        </p:nvSpPr>
        <p:spPr>
          <a:xfrm>
            <a:off x="838200" y="3514275"/>
            <a:ext cx="10515600" cy="28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 = Regions + 1 = 2 + 1 =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1-2-3-5 can be the first independent path; 1-2-4-5 is another; 1-2-3-5-2-4-5 is one more.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Alternatively, if we had identified 1-2-3-5-2-4-5 as the first independent path, there would be no more independent paths.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therefore can vary according to the order we identify them.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37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496875" y="1380675"/>
            <a:ext cx="6019800" cy="213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838200" y="1825625"/>
            <a:ext cx="6827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Cyclomatic complexity = 3.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Need at most 3 independent paths to cover the CFG.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 this example: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6 ]</a:t>
            </a:r>
            <a:endParaRPr sz="20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5 – 2 – 6 ]</a:t>
            </a:r>
            <a:endParaRPr sz="20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4 – 5 – 2 – 6]</a:t>
            </a:r>
            <a:endParaRPr sz="20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8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38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8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38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38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38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38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38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8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38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8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38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38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38"/>
          <p:cNvCxnSpPr>
            <a:stCxn id="365" idx="1"/>
            <a:endCxn id="357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788575" y="435325"/>
            <a:ext cx="10515600" cy="1229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 Example</a:t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6510475" y="1720575"/>
            <a:ext cx="47937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): 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618025" y="1883950"/>
            <a:ext cx="574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Prepare a test case for each independent path.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example: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Path: [ 1 – 2 – 6 ]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Case:  A = { 5, …}, N =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Output: 5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