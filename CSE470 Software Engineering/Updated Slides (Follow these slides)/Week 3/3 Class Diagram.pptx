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12192000"/>
  <p:notesSz cx="6858000" cy="9144000"/>
  <p:embeddedFontLst>
    <p:embeddedFont>
      <p:font typeface="Tahoma"/>
      <p:regular r:id="rId36"/>
      <p:bold r:id="rId37"/>
    </p:embeddedFont>
    <p:embeddedFont>
      <p:font typeface="Lexend"/>
      <p:regular r:id="rId38"/>
      <p:bold r:id="rId39"/>
    </p:embeddedFont>
    <p:embeddedFont>
      <p:font typeface="Gill Sans"/>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183713C-6D4A-4973-A80B-47882B9FE88B}">
  <a:tblStyle styleId="{6183713C-6D4A-4973-A80B-47882B9FE88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GillSans-regular.fntdata"/><Relationship Id="rId20" Type="http://schemas.openxmlformats.org/officeDocument/2006/relationships/slide" Target="slides/slide15.xml"/><Relationship Id="rId41" Type="http://schemas.openxmlformats.org/officeDocument/2006/relationships/font" Target="fonts/GillSans-bold.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Tahoma-bold.fntdata"/><Relationship Id="rId14" Type="http://schemas.openxmlformats.org/officeDocument/2006/relationships/slide" Target="slides/slide9.xml"/><Relationship Id="rId36" Type="http://schemas.openxmlformats.org/officeDocument/2006/relationships/font" Target="fonts/Tahoma-regular.fntdata"/><Relationship Id="rId17" Type="http://schemas.openxmlformats.org/officeDocument/2006/relationships/slide" Target="slides/slide12.xml"/><Relationship Id="rId39" Type="http://schemas.openxmlformats.org/officeDocument/2006/relationships/font" Target="fonts/Lexend-bold.fntdata"/><Relationship Id="rId16" Type="http://schemas.openxmlformats.org/officeDocument/2006/relationships/slide" Target="slides/slide11.xml"/><Relationship Id="rId38" Type="http://schemas.openxmlformats.org/officeDocument/2006/relationships/font" Target="fonts/Lexend-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8eaa84513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8eaa8451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8eaa84513d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8eaa84513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8eaa84513d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8eaa84513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cbd3a7e131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cbd3a7e131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8eaa84513d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8eaa84513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8eaa84513d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8eaa84513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8eaa84513d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8eaa84513d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8eaa84513d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8eaa84513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8eaa84513d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8eaa84513d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8eaa84513d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8eaa84513d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8eaa84513d_0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8eaa84513d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8eaa84513d_0_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8eaa84513d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8eaa84513d_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8eaa84513d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8eaa84513d_0_1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8eaa84513d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8eaa84513d_0_1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8eaa84513d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8eaa84513d_0_1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8eaa84513d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8eaa84513d_0_1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8eaa84513d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8eaa84513d_0_1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8eaa84513d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8eaa84513d_0_2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8eaa84513d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8eaa84513d_0_2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8eaa84513d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8eaa84513d_0_2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8eaa84513d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8eaa84513d_0_2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8eaa84513d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8eaa84513d_0_3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8eaa84513d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8eaa84513d_0_3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8eaa84513d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8eaa84513d_0_1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8eaa84513d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8eaa84513d_0_3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8eaa84513d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8eaa84513d_0_3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8eaa84513d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8eaa84513d_0_4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8eaa84513d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8eaa84513d_0_4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8eaa84513d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8" name="Google Shape;18;p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9" name="Google Shape;19;p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6" name="Google Shape;26;p3"/>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27" name="Google Shape;27;p3"/>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28" name="Google Shape;28;p3"/>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2" name="Google Shape;3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5" name="Google Shape;35;p4"/>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36" name="Google Shape;36;p4"/>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37" name="Google Shape;37;p4"/>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5" name="Google Shape;45;p5"/>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46" name="Google Shape;46;p5"/>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47" name="Google Shape;47;p5"/>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7" name="Google Shape;57;p6"/>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58" name="Google Shape;58;p6"/>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59" name="Google Shape;59;p6"/>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65" name="Google Shape;65;p7"/>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66" name="Google Shape;66;p7"/>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67" name="Google Shape;67;p7"/>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72" name="Google Shape;72;p8"/>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73" name="Google Shape;73;p8"/>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74" name="Google Shape;74;p8"/>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8" name="Google Shape;7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82" name="Google Shape;82;p9"/>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83" name="Google Shape;83;p9"/>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84" name="Google Shape;84;p9"/>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0"/>
          <p:cNvSpPr/>
          <p:nvPr>
            <p:ph idx="2" type="pic"/>
          </p:nvPr>
        </p:nvSpPr>
        <p:spPr>
          <a:xfrm>
            <a:off x="5183188" y="987425"/>
            <a:ext cx="6172200" cy="4873625"/>
          </a:xfrm>
          <a:prstGeom prst="rect">
            <a:avLst/>
          </a:prstGeom>
          <a:noFill/>
          <a:ln>
            <a:noFill/>
          </a:ln>
        </p:spPr>
      </p:sp>
      <p:sp>
        <p:nvSpPr>
          <p:cNvPr id="88" name="Google Shape;8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92" name="Google Shape;92;p10"/>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93" name="Google Shape;93;p10"/>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94" name="Google Shape;94;p10"/>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01" name="Google Shape;101;p11"/>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02" name="Google Shape;102;p11"/>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03" name="Google Shape;103;p11"/>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10" name="Google Shape;110;p1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11" name="Google Shape;111;p1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12" name="Google Shape;112;p1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1100"/>
              <a:buFont typeface="Arial"/>
              <a:buNone/>
            </a:pPr>
            <a:r>
              <a:rPr lang="en-US" sz="4700">
                <a:latin typeface="Arial"/>
                <a:ea typeface="Arial"/>
                <a:cs typeface="Arial"/>
                <a:sym typeface="Arial"/>
              </a:rPr>
              <a:t>CSE470: Software Engineering</a:t>
            </a:r>
            <a:endParaRPr/>
          </a:p>
        </p:txBody>
      </p:sp>
      <p:sp>
        <p:nvSpPr>
          <p:cNvPr id="118" name="Google Shape;118;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b="1" lang="en-US" sz="3500"/>
              <a:t>Class Diagram</a:t>
            </a:r>
            <a:endParaRPr b="1" sz="3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What is a Class</a:t>
            </a:r>
            <a:endParaRPr b="1" sz="3300">
              <a:latin typeface="Lexend"/>
              <a:ea typeface="Lexend"/>
              <a:cs typeface="Lexend"/>
              <a:sym typeface="Lexend"/>
            </a:endParaRPr>
          </a:p>
        </p:txBody>
      </p:sp>
      <p:sp>
        <p:nvSpPr>
          <p:cNvPr id="124" name="Google Shape;124;p1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406400" lvl="0" marL="457200" rtl="0" algn="l">
              <a:spcBef>
                <a:spcPts val="1000"/>
              </a:spcBef>
              <a:spcAft>
                <a:spcPts val="0"/>
              </a:spcAft>
              <a:buSzPts val="2800"/>
              <a:buFont typeface="Calibri"/>
              <a:buChar char="•"/>
            </a:pPr>
            <a:r>
              <a:rPr lang="en-US"/>
              <a:t>A general template that we use to create specific instances or objects in the application domain</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Represents a kind of person, place, or thing about which </a:t>
            </a:r>
            <a:r>
              <a:rPr lang="en-US" u="sng"/>
              <a:t>the system will need to capture and store information</a:t>
            </a:r>
            <a:endParaRPr u="sng"/>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Abstractions that specify the attributes and behaviors of a set of objects</a:t>
            </a:r>
            <a:endParaRPr/>
          </a:p>
          <a:p>
            <a:pPr indent="0" lvl="0" marL="0" rtl="0" algn="l">
              <a:spcBef>
                <a:spcPts val="10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What is an Object</a:t>
            </a:r>
            <a:endParaRPr b="1" sz="3300">
              <a:latin typeface="Lexend"/>
              <a:ea typeface="Lexend"/>
              <a:cs typeface="Lexend"/>
              <a:sym typeface="Lexend"/>
            </a:endParaRPr>
          </a:p>
        </p:txBody>
      </p:sp>
      <p:sp>
        <p:nvSpPr>
          <p:cNvPr id="130" name="Google Shape;130;p1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406400" lvl="0" marL="457200" rtl="0" algn="l">
              <a:spcBef>
                <a:spcPts val="1000"/>
              </a:spcBef>
              <a:spcAft>
                <a:spcPts val="0"/>
              </a:spcAft>
              <a:buSzPts val="2800"/>
              <a:buFont typeface="Calibri"/>
              <a:buChar char="●"/>
            </a:pPr>
            <a:r>
              <a:rPr lang="en-US"/>
              <a:t>Entities that encapsulate state(attributes) and behavior(methods)</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Each object has an identity</a:t>
            </a:r>
            <a:endParaRPr/>
          </a:p>
          <a:p>
            <a:pPr indent="-406400" lvl="1" marL="914400" rtl="0" algn="l">
              <a:spcBef>
                <a:spcPts val="0"/>
              </a:spcBef>
              <a:spcAft>
                <a:spcPts val="0"/>
              </a:spcAft>
              <a:buSzPts val="2800"/>
              <a:buChar char="○"/>
            </a:pPr>
            <a:r>
              <a:rPr lang="en-US" sz="2800"/>
              <a:t>It can be referred individually </a:t>
            </a:r>
            <a:endParaRPr sz="2800"/>
          </a:p>
          <a:p>
            <a:pPr indent="-406400" lvl="1" marL="914400" rtl="0" algn="l">
              <a:spcBef>
                <a:spcPts val="0"/>
              </a:spcBef>
              <a:spcAft>
                <a:spcPts val="0"/>
              </a:spcAft>
              <a:buSzPts val="2800"/>
              <a:buChar char="○"/>
            </a:pPr>
            <a:r>
              <a:rPr lang="en-US" sz="2800"/>
              <a:t>It is distinguishable from other objects (separate memory location for each object)</a:t>
            </a:r>
            <a:endParaRPr sz="2800"/>
          </a:p>
          <a:p>
            <a:pPr indent="0" lvl="0" marL="0" rtl="0" algn="l">
              <a:spcBef>
                <a:spcPts val="10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Potential Classes</a:t>
            </a:r>
            <a:endParaRPr b="1" sz="3300">
              <a:latin typeface="Lexend"/>
              <a:ea typeface="Lexend"/>
              <a:cs typeface="Lexend"/>
              <a:sym typeface="Lexend"/>
            </a:endParaRPr>
          </a:p>
        </p:txBody>
      </p:sp>
      <p:sp>
        <p:nvSpPr>
          <p:cNvPr id="136" name="Google Shape;136;p16"/>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342900" lvl="0" marL="457200" rtl="0" algn="l">
              <a:spcBef>
                <a:spcPts val="0"/>
              </a:spcBef>
              <a:spcAft>
                <a:spcPts val="0"/>
              </a:spcAft>
              <a:buSzPts val="1800"/>
              <a:buFont typeface="Calibri"/>
              <a:buChar char="•"/>
            </a:pPr>
            <a:r>
              <a:rPr lang="en-US" sz="1800"/>
              <a:t>External entities (e.g., other systems, devices, people) that produce or consume information to be used by a computer-based system.</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Font typeface="Calibri"/>
              <a:buChar char="•"/>
            </a:pPr>
            <a:r>
              <a:rPr lang="en-US" sz="1800"/>
              <a:t>Things (e.g., reports, displays, letters, signals) that are part of the information domain for the problem.</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Font typeface="Calibri"/>
              <a:buChar char="•"/>
            </a:pPr>
            <a:r>
              <a:rPr lang="en-US" sz="1800"/>
              <a:t>Occurrences or events (e.g., a property transfer or the completion of a series of robot movements) that occur within the context of system operation.</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Font typeface="Calibri"/>
              <a:buChar char="•"/>
            </a:pPr>
            <a:r>
              <a:rPr lang="en-US" sz="1800"/>
              <a:t>Roles (e.g., manager, engineer, salesperson) played by people who interact with the system.</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Font typeface="Calibri"/>
              <a:buChar char="•"/>
            </a:pPr>
            <a:r>
              <a:rPr lang="en-US" sz="1800"/>
              <a:t>Organizational units (e.g., division, group, team) that are relevant to an application.</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Font typeface="Calibri"/>
              <a:buChar char="•"/>
            </a:pPr>
            <a:r>
              <a:rPr lang="en-US" sz="1800"/>
              <a:t>Places (e.g., manufacturing floor or loading dock) that establish the context of the problem and the overall function of the system.</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Font typeface="Calibri"/>
              <a:buChar char="•"/>
            </a:pPr>
            <a:r>
              <a:rPr lang="en-US" sz="1800"/>
              <a:t>Structures (e.g., sensors, four-wheeled vehicles, or computers) that define a class of objects or related classes of objects.</a:t>
            </a:r>
            <a:endParaRPr sz="1800"/>
          </a:p>
          <a:p>
            <a:pPr indent="0" lvl="0" marL="0" rtl="0" algn="l">
              <a:spcBef>
                <a:spcPts val="0"/>
              </a:spcBef>
              <a:spcAft>
                <a:spcPts val="0"/>
              </a:spcAft>
              <a:buNone/>
            </a:pPr>
            <a:r>
              <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Potential Classes</a:t>
            </a:r>
            <a:endParaRPr b="1" sz="3300">
              <a:latin typeface="Lexend"/>
              <a:ea typeface="Lexend"/>
              <a:cs typeface="Lexend"/>
              <a:sym typeface="Lexend"/>
            </a:endParaRPr>
          </a:p>
        </p:txBody>
      </p:sp>
      <p:sp>
        <p:nvSpPr>
          <p:cNvPr id="142" name="Google Shape;142;p17"/>
          <p:cNvSpPr txBox="1"/>
          <p:nvPr>
            <p:ph idx="1" type="body"/>
          </p:nvPr>
        </p:nvSpPr>
        <p:spPr>
          <a:xfrm>
            <a:off x="838200" y="1825625"/>
            <a:ext cx="9403500" cy="44352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2900"/>
              <a:t>Look for:</a:t>
            </a:r>
            <a:endParaRPr sz="2900"/>
          </a:p>
          <a:p>
            <a:pPr indent="-368300" lvl="0" marL="457200" rtl="0" algn="l">
              <a:lnSpc>
                <a:spcPct val="115000"/>
              </a:lnSpc>
              <a:spcBef>
                <a:spcPts val="1200"/>
              </a:spcBef>
              <a:spcAft>
                <a:spcPts val="0"/>
              </a:spcAft>
              <a:buSzPts val="2200"/>
              <a:buChar char="●"/>
            </a:pPr>
            <a:r>
              <a:rPr lang="en-US" sz="2900"/>
              <a:t>External entities </a:t>
            </a:r>
            <a:r>
              <a:rPr lang="en-US" sz="2900"/>
              <a:t>(User, </a:t>
            </a:r>
            <a:r>
              <a:rPr lang="en-US" sz="2900"/>
              <a:t>PaymentSystem)</a:t>
            </a:r>
            <a:endParaRPr sz="2900"/>
          </a:p>
          <a:p>
            <a:pPr indent="-368300" lvl="0" marL="457200" rtl="0" algn="l">
              <a:lnSpc>
                <a:spcPct val="115000"/>
              </a:lnSpc>
              <a:spcBef>
                <a:spcPts val="0"/>
              </a:spcBef>
              <a:spcAft>
                <a:spcPts val="0"/>
              </a:spcAft>
              <a:buSzPts val="2200"/>
              <a:buChar char="●"/>
            </a:pPr>
            <a:r>
              <a:rPr lang="en-US" sz="2900"/>
              <a:t>Things (Report, Invoice)</a:t>
            </a:r>
            <a:endParaRPr sz="2900"/>
          </a:p>
          <a:p>
            <a:pPr indent="-368300" lvl="0" marL="457200" rtl="0" algn="l">
              <a:lnSpc>
                <a:spcPct val="115000"/>
              </a:lnSpc>
              <a:spcBef>
                <a:spcPts val="0"/>
              </a:spcBef>
              <a:spcAft>
                <a:spcPts val="0"/>
              </a:spcAft>
              <a:buSzPts val="2200"/>
              <a:buChar char="●"/>
            </a:pPr>
            <a:r>
              <a:rPr lang="en-US" sz="2900"/>
              <a:t>Events (Transaction, Registration)</a:t>
            </a:r>
            <a:endParaRPr sz="2900"/>
          </a:p>
          <a:p>
            <a:pPr indent="-368300" lvl="0" marL="457200" rtl="0" algn="l">
              <a:lnSpc>
                <a:spcPct val="115000"/>
              </a:lnSpc>
              <a:spcBef>
                <a:spcPts val="0"/>
              </a:spcBef>
              <a:spcAft>
                <a:spcPts val="0"/>
              </a:spcAft>
              <a:buSzPts val="2200"/>
              <a:buChar char="●"/>
            </a:pPr>
            <a:r>
              <a:rPr lang="en-US" sz="2900"/>
              <a:t>Roles (Manager, Engineer)</a:t>
            </a:r>
            <a:endParaRPr sz="2900"/>
          </a:p>
          <a:p>
            <a:pPr indent="-368300" lvl="0" marL="457200" rtl="0" algn="l">
              <a:lnSpc>
                <a:spcPct val="115000"/>
              </a:lnSpc>
              <a:spcBef>
                <a:spcPts val="0"/>
              </a:spcBef>
              <a:spcAft>
                <a:spcPts val="0"/>
              </a:spcAft>
              <a:buSzPts val="2200"/>
              <a:buChar char="●"/>
            </a:pPr>
            <a:r>
              <a:rPr lang="en-US" sz="2900"/>
              <a:t>Organizational Units (Department)</a:t>
            </a:r>
            <a:endParaRPr sz="2900"/>
          </a:p>
          <a:p>
            <a:pPr indent="-368300" lvl="0" marL="457200" rtl="0" algn="l">
              <a:lnSpc>
                <a:spcPct val="115000"/>
              </a:lnSpc>
              <a:spcBef>
                <a:spcPts val="0"/>
              </a:spcBef>
              <a:spcAft>
                <a:spcPts val="0"/>
              </a:spcAft>
              <a:buSzPts val="2200"/>
              <a:buChar char="●"/>
            </a:pPr>
            <a:r>
              <a:rPr lang="en-US" sz="2900"/>
              <a:t>Places (Office, Branch)</a:t>
            </a:r>
            <a:endParaRPr sz="2900"/>
          </a:p>
          <a:p>
            <a:pPr indent="-368300" lvl="0" marL="457200" rtl="0" algn="l">
              <a:lnSpc>
                <a:spcPct val="115000"/>
              </a:lnSpc>
              <a:spcBef>
                <a:spcPts val="0"/>
              </a:spcBef>
              <a:spcAft>
                <a:spcPts val="0"/>
              </a:spcAft>
              <a:buSzPts val="2200"/>
              <a:buChar char="●"/>
            </a:pPr>
            <a:r>
              <a:rPr lang="en-US" sz="2900"/>
              <a:t>Structures (Computer, Sensor)</a:t>
            </a:r>
            <a:endParaRPr sz="2900"/>
          </a:p>
          <a:p>
            <a:pPr indent="0" lvl="0" marL="0" rtl="0" algn="l">
              <a:spcBef>
                <a:spcPts val="1200"/>
              </a:spcBef>
              <a:spcAft>
                <a:spcPts val="0"/>
              </a:spcAft>
              <a:buNone/>
            </a:pPr>
            <a:r>
              <a:t/>
            </a:r>
            <a:endParaRPr sz="29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Types of Classes during Analysis</a:t>
            </a:r>
            <a:endParaRPr b="1" sz="3300">
              <a:latin typeface="Lexend"/>
              <a:ea typeface="Lexend"/>
              <a:cs typeface="Lexend"/>
              <a:sym typeface="Lexend"/>
            </a:endParaRPr>
          </a:p>
        </p:txBody>
      </p:sp>
      <p:sp>
        <p:nvSpPr>
          <p:cNvPr id="148" name="Google Shape;148;p18"/>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t>Concrete</a:t>
            </a:r>
            <a:endParaRPr b="1"/>
          </a:p>
          <a:p>
            <a:pPr indent="-342900" lvl="0" marL="457200" rtl="0" algn="l">
              <a:spcBef>
                <a:spcPts val="0"/>
              </a:spcBef>
              <a:spcAft>
                <a:spcPts val="0"/>
              </a:spcAft>
              <a:buSzPts val="1800"/>
              <a:buChar char="•"/>
            </a:pPr>
            <a:r>
              <a:rPr lang="en-US"/>
              <a:t>Class from application domain</a:t>
            </a:r>
            <a:endParaRPr/>
          </a:p>
          <a:p>
            <a:pPr indent="-342900" lvl="0" marL="457200" rtl="0" algn="l">
              <a:spcBef>
                <a:spcPts val="0"/>
              </a:spcBef>
              <a:spcAft>
                <a:spcPts val="0"/>
              </a:spcAft>
              <a:buSzPts val="1800"/>
              <a:buChar char="•"/>
            </a:pPr>
            <a:r>
              <a:rPr lang="en-US"/>
              <a:t>Example:  Customer class and Employee class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Abstract</a:t>
            </a:r>
            <a:endParaRPr b="1"/>
          </a:p>
          <a:p>
            <a:pPr indent="-342900" lvl="0" marL="457200" rtl="0" algn="l">
              <a:spcBef>
                <a:spcPts val="0"/>
              </a:spcBef>
              <a:spcAft>
                <a:spcPts val="0"/>
              </a:spcAft>
              <a:buSzPts val="1800"/>
              <a:buChar char="•"/>
            </a:pPr>
            <a:r>
              <a:rPr lang="en-US"/>
              <a:t>Useful abstractions</a:t>
            </a:r>
            <a:endParaRPr/>
          </a:p>
          <a:p>
            <a:pPr indent="-342900" lvl="0" marL="457200" rtl="0" algn="l">
              <a:spcBef>
                <a:spcPts val="0"/>
              </a:spcBef>
              <a:spcAft>
                <a:spcPts val="0"/>
              </a:spcAft>
              <a:buSzPts val="1800"/>
              <a:buChar char="•"/>
            </a:pPr>
            <a:r>
              <a:rPr lang="en-US"/>
              <a:t>Example:  Person class</a:t>
            </a:r>
            <a:endParaRPr/>
          </a:p>
          <a:p>
            <a:pPr indent="0" lvl="0" marL="0" rtl="0" algn="l">
              <a:spcBef>
                <a:spcPts val="0"/>
              </a:spcBef>
              <a:spcAft>
                <a:spcPts val="0"/>
              </a:spcAft>
              <a:buNone/>
            </a:pPr>
            <a:r>
              <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Classes</a:t>
            </a:r>
            <a:endParaRPr b="1" sz="3300">
              <a:latin typeface="Lexend"/>
              <a:ea typeface="Lexend"/>
              <a:cs typeface="Lexend"/>
              <a:sym typeface="Lexend"/>
            </a:endParaRPr>
          </a:p>
        </p:txBody>
      </p:sp>
      <p:sp>
        <p:nvSpPr>
          <p:cNvPr id="154" name="Google Shape;154;p19"/>
          <p:cNvSpPr txBox="1"/>
          <p:nvPr>
            <p:ph idx="1" type="body"/>
          </p:nvPr>
        </p:nvSpPr>
        <p:spPr>
          <a:xfrm>
            <a:off x="838200" y="1825625"/>
            <a:ext cx="60591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 class is a description of a set of </a:t>
            </a:r>
            <a:endParaRPr/>
          </a:p>
          <a:p>
            <a:pPr indent="0" lvl="0" marL="0" rtl="0" algn="l">
              <a:spcBef>
                <a:spcPts val="0"/>
              </a:spcBef>
              <a:spcAft>
                <a:spcPts val="0"/>
              </a:spcAft>
              <a:buNone/>
            </a:pPr>
            <a:r>
              <a:rPr lang="en-US"/>
              <a:t>objects that share the same attributes,</a:t>
            </a:r>
            <a:endParaRPr/>
          </a:p>
          <a:p>
            <a:pPr indent="0" lvl="0" marL="0" rtl="0" algn="l">
              <a:spcBef>
                <a:spcPts val="0"/>
              </a:spcBef>
              <a:spcAft>
                <a:spcPts val="0"/>
              </a:spcAft>
              <a:buNone/>
            </a:pPr>
            <a:r>
              <a:rPr lang="en-US"/>
              <a:t>operations, relationships, and semantics.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Graphically, a class is rendered as a </a:t>
            </a:r>
            <a:endParaRPr/>
          </a:p>
          <a:p>
            <a:pPr indent="0" lvl="0" marL="0" rtl="0" algn="l">
              <a:spcBef>
                <a:spcPts val="0"/>
              </a:spcBef>
              <a:spcAft>
                <a:spcPts val="0"/>
              </a:spcAft>
              <a:buNone/>
            </a:pPr>
            <a:r>
              <a:rPr lang="en-US"/>
              <a:t>rectangle, usually including its name,</a:t>
            </a:r>
            <a:endParaRPr/>
          </a:p>
          <a:p>
            <a:pPr indent="0" lvl="0" marL="0" rtl="0" algn="l">
              <a:spcBef>
                <a:spcPts val="0"/>
              </a:spcBef>
              <a:spcAft>
                <a:spcPts val="0"/>
              </a:spcAft>
              <a:buNone/>
            </a:pPr>
            <a:r>
              <a:rPr lang="en-US"/>
              <a:t>attributes, and operations in separate,</a:t>
            </a:r>
            <a:endParaRPr/>
          </a:p>
          <a:p>
            <a:pPr indent="0" lvl="0" marL="0" rtl="0" algn="l">
              <a:spcBef>
                <a:spcPts val="0"/>
              </a:spcBef>
              <a:spcAft>
                <a:spcPts val="0"/>
              </a:spcAft>
              <a:buNone/>
            </a:pPr>
            <a:r>
              <a:rPr lang="en-US"/>
              <a:t>designated compartments. </a:t>
            </a:r>
            <a:endParaRPr/>
          </a:p>
          <a:p>
            <a:pPr indent="0" lvl="0" marL="0" rtl="0" algn="l">
              <a:spcBef>
                <a:spcPts val="0"/>
              </a:spcBef>
              <a:spcAft>
                <a:spcPts val="0"/>
              </a:spcAft>
              <a:buNone/>
            </a:pPr>
            <a:r>
              <a:t/>
            </a:r>
            <a:endParaRPr b="1"/>
          </a:p>
        </p:txBody>
      </p:sp>
      <p:grpSp>
        <p:nvGrpSpPr>
          <p:cNvPr id="155" name="Google Shape;155;p19"/>
          <p:cNvGrpSpPr/>
          <p:nvPr/>
        </p:nvGrpSpPr>
        <p:grpSpPr>
          <a:xfrm>
            <a:off x="8243400" y="2238375"/>
            <a:ext cx="1905000" cy="2381250"/>
            <a:chOff x="576" y="1236"/>
            <a:chExt cx="1200" cy="1500"/>
          </a:xfrm>
        </p:grpSpPr>
        <p:sp>
          <p:nvSpPr>
            <p:cNvPr id="156" name="Google Shape;156;p19"/>
            <p:cNvSpPr/>
            <p:nvPr/>
          </p:nvSpPr>
          <p:spPr>
            <a:xfrm>
              <a:off x="576" y="1236"/>
              <a:ext cx="1200" cy="3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i="0" lang="en-US" sz="2800" u="none" cap="none" strike="noStrike">
                  <a:solidFill>
                    <a:srgbClr val="000000"/>
                  </a:solidFill>
                  <a:latin typeface="Calibri"/>
                  <a:ea typeface="Calibri"/>
                  <a:cs typeface="Calibri"/>
                  <a:sym typeface="Calibri"/>
                </a:rPr>
                <a:t>ClassName</a:t>
              </a:r>
              <a:endParaRPr i="0" sz="2800" u="none" cap="none" strike="noStrike">
                <a:solidFill>
                  <a:srgbClr val="000000"/>
                </a:solidFill>
                <a:latin typeface="Calibri"/>
                <a:ea typeface="Calibri"/>
                <a:cs typeface="Calibri"/>
                <a:sym typeface="Calibri"/>
              </a:endParaRPr>
            </a:p>
          </p:txBody>
        </p:sp>
        <p:sp>
          <p:nvSpPr>
            <p:cNvPr id="157" name="Google Shape;157;p19"/>
            <p:cNvSpPr/>
            <p:nvPr/>
          </p:nvSpPr>
          <p:spPr>
            <a:xfrm>
              <a:off x="576" y="1536"/>
              <a:ext cx="1200" cy="6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800">
                  <a:latin typeface="Calibri"/>
                  <a:ea typeface="Calibri"/>
                  <a:cs typeface="Calibri"/>
                  <a:sym typeface="Calibri"/>
                </a:rPr>
                <a:t>A</a:t>
              </a:r>
              <a:r>
                <a:rPr i="0" lang="en-US" sz="2800" u="none" cap="none" strike="noStrike">
                  <a:solidFill>
                    <a:srgbClr val="000000"/>
                  </a:solidFill>
                  <a:latin typeface="Calibri"/>
                  <a:ea typeface="Calibri"/>
                  <a:cs typeface="Calibri"/>
                  <a:sym typeface="Calibri"/>
                </a:rPr>
                <a:t>ttributes</a:t>
              </a:r>
              <a:endParaRPr i="0" sz="2800" u="none" cap="none" strike="noStrike">
                <a:solidFill>
                  <a:srgbClr val="000000"/>
                </a:solidFill>
                <a:latin typeface="Calibri"/>
                <a:ea typeface="Calibri"/>
                <a:cs typeface="Calibri"/>
                <a:sym typeface="Calibri"/>
              </a:endParaRPr>
            </a:p>
          </p:txBody>
        </p:sp>
        <p:sp>
          <p:nvSpPr>
            <p:cNvPr id="158" name="Google Shape;158;p19"/>
            <p:cNvSpPr/>
            <p:nvPr/>
          </p:nvSpPr>
          <p:spPr>
            <a:xfrm>
              <a:off x="576" y="2136"/>
              <a:ext cx="1200" cy="6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800">
                  <a:latin typeface="Calibri"/>
                  <a:ea typeface="Calibri"/>
                  <a:cs typeface="Calibri"/>
                  <a:sym typeface="Calibri"/>
                </a:rPr>
                <a:t>Operations</a:t>
              </a:r>
              <a:endParaRPr i="0" sz="2800" u="none" cap="none" strike="noStrike">
                <a:solidFill>
                  <a:srgbClr val="000000"/>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Name</a:t>
            </a:r>
            <a:endParaRPr b="1" sz="3300">
              <a:latin typeface="Lexend"/>
              <a:ea typeface="Lexend"/>
              <a:cs typeface="Lexend"/>
              <a:sym typeface="Lexend"/>
            </a:endParaRPr>
          </a:p>
        </p:txBody>
      </p:sp>
      <p:sp>
        <p:nvSpPr>
          <p:cNvPr id="164" name="Google Shape;164;p20"/>
          <p:cNvSpPr txBox="1"/>
          <p:nvPr>
            <p:ph idx="1" type="body"/>
          </p:nvPr>
        </p:nvSpPr>
        <p:spPr>
          <a:xfrm>
            <a:off x="838200" y="1825625"/>
            <a:ext cx="60591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name of the class is the only required tag in the graphical representation of a class.  It always appears in the top-most compartment.</a:t>
            </a:r>
            <a:endParaRPr/>
          </a:p>
          <a:p>
            <a:pPr indent="0" lvl="0" marL="0" rtl="0" algn="l">
              <a:spcBef>
                <a:spcPts val="0"/>
              </a:spcBef>
              <a:spcAft>
                <a:spcPts val="0"/>
              </a:spcAft>
              <a:buNone/>
            </a:pPr>
            <a:r>
              <a:t/>
            </a:r>
            <a:endParaRPr/>
          </a:p>
        </p:txBody>
      </p:sp>
      <p:grpSp>
        <p:nvGrpSpPr>
          <p:cNvPr id="165" name="Google Shape;165;p20"/>
          <p:cNvGrpSpPr/>
          <p:nvPr/>
        </p:nvGrpSpPr>
        <p:grpSpPr>
          <a:xfrm>
            <a:off x="8243400" y="2238375"/>
            <a:ext cx="1905000" cy="2381250"/>
            <a:chOff x="576" y="1236"/>
            <a:chExt cx="1200" cy="1500"/>
          </a:xfrm>
        </p:grpSpPr>
        <p:sp>
          <p:nvSpPr>
            <p:cNvPr id="166" name="Google Shape;166;p20"/>
            <p:cNvSpPr/>
            <p:nvPr/>
          </p:nvSpPr>
          <p:spPr>
            <a:xfrm>
              <a:off x="576" y="1236"/>
              <a:ext cx="1200" cy="300"/>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i="0" lang="en-US" sz="2800" u="none" cap="none" strike="noStrike">
                  <a:solidFill>
                    <a:srgbClr val="000000"/>
                  </a:solidFill>
                  <a:latin typeface="Calibri"/>
                  <a:ea typeface="Calibri"/>
                  <a:cs typeface="Calibri"/>
                  <a:sym typeface="Calibri"/>
                </a:rPr>
                <a:t>ClassName</a:t>
              </a:r>
              <a:endParaRPr i="0" sz="2800" u="none" cap="none" strike="noStrike">
                <a:solidFill>
                  <a:srgbClr val="000000"/>
                </a:solidFill>
                <a:latin typeface="Calibri"/>
                <a:ea typeface="Calibri"/>
                <a:cs typeface="Calibri"/>
                <a:sym typeface="Calibri"/>
              </a:endParaRPr>
            </a:p>
          </p:txBody>
        </p:sp>
        <p:sp>
          <p:nvSpPr>
            <p:cNvPr id="167" name="Google Shape;167;p20"/>
            <p:cNvSpPr/>
            <p:nvPr/>
          </p:nvSpPr>
          <p:spPr>
            <a:xfrm>
              <a:off x="576" y="1536"/>
              <a:ext cx="1200" cy="6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800">
                  <a:latin typeface="Calibri"/>
                  <a:ea typeface="Calibri"/>
                  <a:cs typeface="Calibri"/>
                  <a:sym typeface="Calibri"/>
                </a:rPr>
                <a:t>A</a:t>
              </a:r>
              <a:r>
                <a:rPr i="0" lang="en-US" sz="2800" u="none" cap="none" strike="noStrike">
                  <a:solidFill>
                    <a:srgbClr val="000000"/>
                  </a:solidFill>
                  <a:latin typeface="Calibri"/>
                  <a:ea typeface="Calibri"/>
                  <a:cs typeface="Calibri"/>
                  <a:sym typeface="Calibri"/>
                </a:rPr>
                <a:t>ttributes</a:t>
              </a:r>
              <a:endParaRPr i="0" sz="2800" u="none" cap="none" strike="noStrike">
                <a:solidFill>
                  <a:srgbClr val="000000"/>
                </a:solidFill>
                <a:latin typeface="Calibri"/>
                <a:ea typeface="Calibri"/>
                <a:cs typeface="Calibri"/>
                <a:sym typeface="Calibri"/>
              </a:endParaRPr>
            </a:p>
          </p:txBody>
        </p:sp>
        <p:sp>
          <p:nvSpPr>
            <p:cNvPr id="168" name="Google Shape;168;p20"/>
            <p:cNvSpPr/>
            <p:nvPr/>
          </p:nvSpPr>
          <p:spPr>
            <a:xfrm>
              <a:off x="576" y="2136"/>
              <a:ext cx="1200" cy="6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800">
                  <a:latin typeface="Calibri"/>
                  <a:ea typeface="Calibri"/>
                  <a:cs typeface="Calibri"/>
                  <a:sym typeface="Calibri"/>
                </a:rPr>
                <a:t>Operations</a:t>
              </a:r>
              <a:endParaRPr i="0" sz="2800" u="none" cap="none" strike="noStrike">
                <a:solidFill>
                  <a:srgbClr val="000000"/>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Attributes in a Class</a:t>
            </a:r>
            <a:endParaRPr b="1" sz="3300">
              <a:latin typeface="Lexend"/>
              <a:ea typeface="Lexend"/>
              <a:cs typeface="Lexend"/>
              <a:sym typeface="Lexend"/>
            </a:endParaRPr>
          </a:p>
        </p:txBody>
      </p:sp>
      <p:sp>
        <p:nvSpPr>
          <p:cNvPr id="174" name="Google Shape;174;p21"/>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0"/>
              </a:spcBef>
              <a:spcAft>
                <a:spcPts val="0"/>
              </a:spcAft>
              <a:buSzPts val="2800"/>
              <a:buFont typeface="Calibri"/>
              <a:buChar char="•"/>
            </a:pPr>
            <a:r>
              <a:rPr lang="en-US"/>
              <a:t>Properties of the class about which we want to capture information</a:t>
            </a:r>
            <a:endParaRPr/>
          </a:p>
          <a:p>
            <a:pPr indent="0" lvl="0" marL="457200" rtl="0" algn="l">
              <a:spcBef>
                <a:spcPts val="0"/>
              </a:spcBef>
              <a:spcAft>
                <a:spcPts val="0"/>
              </a:spcAft>
              <a:buNone/>
            </a:pPr>
            <a:r>
              <a:t/>
            </a:r>
            <a:endParaRPr/>
          </a:p>
          <a:p>
            <a:pPr indent="-406400" lvl="0" marL="457200" rtl="0" algn="l">
              <a:spcBef>
                <a:spcPts val="0"/>
              </a:spcBef>
              <a:spcAft>
                <a:spcPts val="0"/>
              </a:spcAft>
              <a:buSzPts val="2800"/>
              <a:buFont typeface="Calibri"/>
              <a:buChar char="•"/>
            </a:pPr>
            <a:r>
              <a:rPr lang="en-US"/>
              <a:t>Represents a piece of information that is relevant to the description of the class within the application domain</a:t>
            </a:r>
            <a:endParaRPr/>
          </a:p>
          <a:p>
            <a:pPr indent="0" lvl="0" marL="457200" rtl="0" algn="l">
              <a:spcBef>
                <a:spcPts val="0"/>
              </a:spcBef>
              <a:spcAft>
                <a:spcPts val="0"/>
              </a:spcAft>
              <a:buNone/>
            </a:pPr>
            <a:r>
              <a:t/>
            </a:r>
            <a:endParaRPr/>
          </a:p>
          <a:p>
            <a:pPr indent="-406400" lvl="0" marL="457200" rtl="0" algn="l">
              <a:spcBef>
                <a:spcPts val="0"/>
              </a:spcBef>
              <a:spcAft>
                <a:spcPts val="0"/>
              </a:spcAft>
              <a:buSzPts val="2800"/>
              <a:buFont typeface="Calibri"/>
              <a:buChar char="•"/>
            </a:pPr>
            <a:r>
              <a:rPr lang="en-US"/>
              <a:t>Only add attributes that are primitive or atomic types like Boolean, string, char, integer, float, double, date etc.</a:t>
            </a:r>
            <a:endParaRPr/>
          </a:p>
          <a:p>
            <a:pPr indent="0" lvl="0" marL="0" rtl="0" algn="l">
              <a:spcBef>
                <a:spcPts val="0"/>
              </a:spcBef>
              <a:spcAft>
                <a:spcPts val="0"/>
              </a:spcAft>
              <a:buNone/>
            </a:pPr>
            <a:r>
              <a:t/>
            </a:r>
            <a:endParaRPr/>
          </a:p>
          <a:p>
            <a:pPr indent="-406400" lvl="0" marL="457200" rtl="0" algn="l">
              <a:spcBef>
                <a:spcPts val="0"/>
              </a:spcBef>
              <a:spcAft>
                <a:spcPts val="0"/>
              </a:spcAft>
              <a:buSzPts val="2800"/>
              <a:buFont typeface="Calibri"/>
              <a:buChar char="•"/>
            </a:pPr>
            <a:r>
              <a:rPr lang="en-US"/>
              <a:t>Derived attribute</a:t>
            </a:r>
            <a:endParaRPr/>
          </a:p>
          <a:p>
            <a:pPr indent="-381000" lvl="1" marL="914400" rtl="0" algn="l">
              <a:spcBef>
                <a:spcPts val="0"/>
              </a:spcBef>
              <a:spcAft>
                <a:spcPts val="0"/>
              </a:spcAft>
              <a:buSzPts val="2400"/>
              <a:buFont typeface="Calibri"/>
              <a:buChar char="•"/>
            </a:pPr>
            <a:r>
              <a:rPr lang="en-US"/>
              <a:t>Attributes that are calculated or derived from other attributes</a:t>
            </a:r>
            <a:endParaRPr/>
          </a:p>
          <a:p>
            <a:pPr indent="-381000" lvl="1" marL="914400" rtl="0" algn="l">
              <a:spcBef>
                <a:spcPts val="0"/>
              </a:spcBef>
              <a:spcAft>
                <a:spcPts val="0"/>
              </a:spcAft>
              <a:buSzPts val="2400"/>
              <a:buFont typeface="Calibri"/>
              <a:buChar char="•"/>
            </a:pPr>
            <a:r>
              <a:rPr lang="en-US"/>
              <a:t>Denoted by placing slash (/) before name</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b="1"/>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Attributes</a:t>
            </a:r>
            <a:endParaRPr b="1" sz="3300">
              <a:latin typeface="Lexend"/>
              <a:ea typeface="Lexend"/>
              <a:cs typeface="Lexend"/>
              <a:sym typeface="Lexend"/>
            </a:endParaRPr>
          </a:p>
        </p:txBody>
      </p:sp>
      <p:sp>
        <p:nvSpPr>
          <p:cNvPr id="180" name="Google Shape;180;p22"/>
          <p:cNvSpPr txBox="1"/>
          <p:nvPr>
            <p:ph idx="1" type="body"/>
          </p:nvPr>
        </p:nvSpPr>
        <p:spPr>
          <a:xfrm>
            <a:off x="838200" y="1825625"/>
            <a:ext cx="60591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An attribute is a named property of a </a:t>
            </a:r>
            <a:endParaRPr/>
          </a:p>
          <a:p>
            <a:pPr indent="0" lvl="0" marL="0" rtl="0" algn="l">
              <a:spcBef>
                <a:spcPts val="0"/>
              </a:spcBef>
              <a:spcAft>
                <a:spcPts val="0"/>
              </a:spcAft>
              <a:buNone/>
            </a:pPr>
            <a:r>
              <a:rPr lang="en-US"/>
              <a:t>class that describes the object being modeled.</a:t>
            </a:r>
            <a:endParaRPr/>
          </a:p>
          <a:p>
            <a:pPr indent="0" lvl="0" marL="0" rtl="0" algn="l">
              <a:spcBef>
                <a:spcPts val="0"/>
              </a:spcBef>
              <a:spcAft>
                <a:spcPts val="0"/>
              </a:spcAft>
              <a:buNone/>
            </a:pPr>
            <a:r>
              <a:rPr lang="en-US"/>
              <a:t>In the class diagram, attributes appear in </a:t>
            </a:r>
            <a:endParaRPr/>
          </a:p>
          <a:p>
            <a:pPr indent="0" lvl="0" marL="0" rtl="0" algn="l">
              <a:spcBef>
                <a:spcPts val="0"/>
              </a:spcBef>
              <a:spcAft>
                <a:spcPts val="0"/>
              </a:spcAft>
              <a:buNone/>
            </a:pPr>
            <a:r>
              <a:rPr lang="en-US"/>
              <a:t>the second compartment just below the </a:t>
            </a:r>
            <a:endParaRPr/>
          </a:p>
          <a:p>
            <a:pPr indent="0" lvl="0" marL="0" rtl="0" algn="l">
              <a:spcBef>
                <a:spcPts val="0"/>
              </a:spcBef>
              <a:spcAft>
                <a:spcPts val="0"/>
              </a:spcAft>
              <a:buNone/>
            </a:pPr>
            <a:r>
              <a:rPr lang="en-US"/>
              <a:t>name-compartment.</a:t>
            </a:r>
            <a:endParaRPr/>
          </a:p>
          <a:p>
            <a:pPr indent="0" lvl="0" marL="0" rtl="0" algn="l">
              <a:spcBef>
                <a:spcPts val="0"/>
              </a:spcBef>
              <a:spcAft>
                <a:spcPts val="0"/>
              </a:spcAft>
              <a:buNone/>
            </a:pPr>
            <a:r>
              <a:t/>
            </a:r>
            <a:endParaRPr/>
          </a:p>
        </p:txBody>
      </p:sp>
      <p:grpSp>
        <p:nvGrpSpPr>
          <p:cNvPr id="181" name="Google Shape;181;p22"/>
          <p:cNvGrpSpPr/>
          <p:nvPr/>
        </p:nvGrpSpPr>
        <p:grpSpPr>
          <a:xfrm>
            <a:off x="8312348" y="1563398"/>
            <a:ext cx="2530078" cy="3386300"/>
            <a:chOff x="313" y="945"/>
            <a:chExt cx="1500" cy="2133"/>
          </a:xfrm>
        </p:grpSpPr>
        <p:sp>
          <p:nvSpPr>
            <p:cNvPr id="182" name="Google Shape;182;p22"/>
            <p:cNvSpPr/>
            <p:nvPr/>
          </p:nvSpPr>
          <p:spPr>
            <a:xfrm>
              <a:off x="313" y="945"/>
              <a:ext cx="1500" cy="6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Person</a:t>
              </a:r>
              <a:endParaRPr b="0" i="0" sz="1400" u="none" cap="none" strike="noStrike">
                <a:solidFill>
                  <a:srgbClr val="000000"/>
                </a:solidFill>
                <a:latin typeface="Arial"/>
                <a:ea typeface="Arial"/>
                <a:cs typeface="Arial"/>
                <a:sym typeface="Arial"/>
              </a:endParaRPr>
            </a:p>
          </p:txBody>
        </p:sp>
        <p:sp>
          <p:nvSpPr>
            <p:cNvPr id="183" name="Google Shape;183;p22"/>
            <p:cNvSpPr/>
            <p:nvPr/>
          </p:nvSpPr>
          <p:spPr>
            <a:xfrm>
              <a:off x="313" y="1545"/>
              <a:ext cx="1500" cy="1200"/>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name      :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address   : </a:t>
              </a:r>
              <a:r>
                <a:rPr lang="en-US" sz="1800">
                  <a:latin typeface="Gill Sans"/>
                  <a:ea typeface="Gill Sans"/>
                  <a:cs typeface="Gill Sans"/>
                  <a:sym typeface="Gill Sans"/>
                </a:rPr>
                <a:t>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birthdate : Date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ssn          : </a:t>
              </a:r>
              <a:r>
                <a:rPr lang="en-US" sz="1800">
                  <a:latin typeface="Gill Sans"/>
                  <a:ea typeface="Gill Sans"/>
                  <a:cs typeface="Gill Sans"/>
                  <a:sym typeface="Gill Sans"/>
                </a:rPr>
                <a:t>int</a:t>
              </a:r>
              <a:endParaRPr b="0" i="0" sz="1400" u="none" cap="none" strike="noStrike">
                <a:solidFill>
                  <a:srgbClr val="000000"/>
                </a:solidFill>
                <a:latin typeface="Arial"/>
                <a:ea typeface="Arial"/>
                <a:cs typeface="Arial"/>
                <a:sym typeface="Arial"/>
              </a:endParaRPr>
            </a:p>
          </p:txBody>
        </p:sp>
        <p:sp>
          <p:nvSpPr>
            <p:cNvPr id="184" name="Google Shape;184;p22"/>
            <p:cNvSpPr/>
            <p:nvPr/>
          </p:nvSpPr>
          <p:spPr>
            <a:xfrm>
              <a:off x="313" y="2778"/>
              <a:ext cx="1500" cy="3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Attributes</a:t>
            </a:r>
            <a:endParaRPr b="1" sz="3300">
              <a:latin typeface="Lexend"/>
              <a:ea typeface="Lexend"/>
              <a:cs typeface="Lexend"/>
              <a:sym typeface="Lexend"/>
            </a:endParaRPr>
          </a:p>
        </p:txBody>
      </p:sp>
      <p:sp>
        <p:nvSpPr>
          <p:cNvPr id="190" name="Google Shape;190;p23"/>
          <p:cNvSpPr txBox="1"/>
          <p:nvPr>
            <p:ph idx="1" type="body"/>
          </p:nvPr>
        </p:nvSpPr>
        <p:spPr>
          <a:xfrm>
            <a:off x="838200" y="1825625"/>
            <a:ext cx="60591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600"/>
              <a:t>Attributes are usually listed in the form:</a:t>
            </a:r>
            <a:endParaRPr sz="2600"/>
          </a:p>
          <a:p>
            <a:pPr indent="-393700" lvl="0" marL="457200" rtl="0" algn="l">
              <a:spcBef>
                <a:spcPts val="0"/>
              </a:spcBef>
              <a:spcAft>
                <a:spcPts val="0"/>
              </a:spcAft>
              <a:buSzPts val="2600"/>
              <a:buFont typeface="Calibri"/>
              <a:buChar char="•"/>
            </a:pPr>
            <a:r>
              <a:rPr lang="en-US" sz="2600"/>
              <a:t>attributeName : Type</a:t>
            </a:r>
            <a:endParaRPr sz="2600"/>
          </a:p>
          <a:p>
            <a:pPr indent="0" lvl="0" marL="0" rtl="0" algn="l">
              <a:spcBef>
                <a:spcPts val="0"/>
              </a:spcBef>
              <a:spcAft>
                <a:spcPts val="0"/>
              </a:spcAft>
              <a:buNone/>
            </a:pPr>
            <a:r>
              <a:t/>
            </a:r>
            <a:endParaRPr sz="2600"/>
          </a:p>
          <a:p>
            <a:pPr indent="0" lvl="0" marL="0" rtl="0" algn="l">
              <a:spcBef>
                <a:spcPts val="0"/>
              </a:spcBef>
              <a:spcAft>
                <a:spcPts val="0"/>
              </a:spcAft>
              <a:buNone/>
            </a:pPr>
            <a:r>
              <a:rPr lang="en-US" sz="2600"/>
              <a:t>A derived attribute is one that can be</a:t>
            </a:r>
            <a:endParaRPr sz="2600"/>
          </a:p>
          <a:p>
            <a:pPr indent="0" lvl="0" marL="0" rtl="0" algn="l">
              <a:spcBef>
                <a:spcPts val="0"/>
              </a:spcBef>
              <a:spcAft>
                <a:spcPts val="0"/>
              </a:spcAft>
              <a:buNone/>
            </a:pPr>
            <a:r>
              <a:rPr lang="en-US" sz="2600"/>
              <a:t>computed from other attributes, but</a:t>
            </a:r>
            <a:endParaRPr sz="2600"/>
          </a:p>
          <a:p>
            <a:pPr indent="0" lvl="0" marL="0" rtl="0" algn="l">
              <a:spcBef>
                <a:spcPts val="0"/>
              </a:spcBef>
              <a:spcAft>
                <a:spcPts val="0"/>
              </a:spcAft>
              <a:buNone/>
            </a:pPr>
            <a:r>
              <a:rPr lang="en-US" sz="2600"/>
              <a:t>doesn’t actually exist. For example,</a:t>
            </a:r>
            <a:endParaRPr sz="2600"/>
          </a:p>
          <a:p>
            <a:pPr indent="0" lvl="0" marL="0" rtl="0" algn="l">
              <a:spcBef>
                <a:spcPts val="0"/>
              </a:spcBef>
              <a:spcAft>
                <a:spcPts val="0"/>
              </a:spcAft>
              <a:buNone/>
            </a:pPr>
            <a:r>
              <a:rPr lang="en-US" sz="2600"/>
              <a:t>a Person’s age can be computed from </a:t>
            </a:r>
            <a:endParaRPr sz="2600"/>
          </a:p>
          <a:p>
            <a:pPr indent="0" lvl="0" marL="0" rtl="0" algn="l">
              <a:spcBef>
                <a:spcPts val="0"/>
              </a:spcBef>
              <a:spcAft>
                <a:spcPts val="0"/>
              </a:spcAft>
              <a:buNone/>
            </a:pPr>
            <a:r>
              <a:rPr lang="en-US" sz="2600"/>
              <a:t>his birth date. </a:t>
            </a:r>
            <a:endParaRPr sz="2600"/>
          </a:p>
          <a:p>
            <a:pPr indent="0" lvl="0" marL="0" rtl="0" algn="l">
              <a:spcBef>
                <a:spcPts val="0"/>
              </a:spcBef>
              <a:spcAft>
                <a:spcPts val="0"/>
              </a:spcAft>
              <a:buNone/>
            </a:pPr>
            <a:r>
              <a:t/>
            </a:r>
            <a:endParaRPr sz="2600"/>
          </a:p>
          <a:p>
            <a:pPr indent="0" lvl="0" marL="0" rtl="0" algn="l">
              <a:spcBef>
                <a:spcPts val="0"/>
              </a:spcBef>
              <a:spcAft>
                <a:spcPts val="0"/>
              </a:spcAft>
              <a:buNone/>
            </a:pPr>
            <a:r>
              <a:rPr lang="en-US" sz="2600"/>
              <a:t>A derived attribute is designated by a preceding ‘/’ as in:</a:t>
            </a:r>
            <a:endParaRPr sz="2600"/>
          </a:p>
          <a:p>
            <a:pPr indent="-393700" lvl="0" marL="457200" rtl="0" algn="l">
              <a:spcBef>
                <a:spcPts val="0"/>
              </a:spcBef>
              <a:spcAft>
                <a:spcPts val="0"/>
              </a:spcAft>
              <a:buSzPts val="2600"/>
              <a:buFont typeface="Calibri"/>
              <a:buChar char="•"/>
            </a:pPr>
            <a:r>
              <a:rPr lang="en-US" sz="2600"/>
              <a:t>/ age : Date</a:t>
            </a:r>
            <a:endParaRPr sz="2600"/>
          </a:p>
          <a:p>
            <a:pPr indent="0" lvl="0" marL="0" rtl="0" algn="l">
              <a:spcBef>
                <a:spcPts val="0"/>
              </a:spcBef>
              <a:spcAft>
                <a:spcPts val="0"/>
              </a:spcAft>
              <a:buNone/>
            </a:pPr>
            <a:r>
              <a:t/>
            </a:r>
            <a:endParaRPr/>
          </a:p>
        </p:txBody>
      </p:sp>
      <p:grpSp>
        <p:nvGrpSpPr>
          <p:cNvPr id="191" name="Google Shape;191;p23"/>
          <p:cNvGrpSpPr/>
          <p:nvPr/>
        </p:nvGrpSpPr>
        <p:grpSpPr>
          <a:xfrm>
            <a:off x="8312348" y="1563398"/>
            <a:ext cx="2530078" cy="3386300"/>
            <a:chOff x="313" y="945"/>
            <a:chExt cx="1500" cy="2133"/>
          </a:xfrm>
        </p:grpSpPr>
        <p:sp>
          <p:nvSpPr>
            <p:cNvPr id="192" name="Google Shape;192;p23"/>
            <p:cNvSpPr/>
            <p:nvPr/>
          </p:nvSpPr>
          <p:spPr>
            <a:xfrm>
              <a:off x="313" y="945"/>
              <a:ext cx="1500" cy="6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i="0" lang="en-US" sz="2200" u="none" cap="none" strike="noStrike">
                  <a:solidFill>
                    <a:srgbClr val="000000"/>
                  </a:solidFill>
                  <a:latin typeface="Calibri"/>
                  <a:ea typeface="Calibri"/>
                  <a:cs typeface="Calibri"/>
                  <a:sym typeface="Calibri"/>
                </a:rPr>
                <a:t>Person</a:t>
              </a:r>
              <a:endParaRPr i="0" sz="2200" u="none" cap="none" strike="noStrike">
                <a:solidFill>
                  <a:srgbClr val="000000"/>
                </a:solidFill>
                <a:latin typeface="Calibri"/>
                <a:ea typeface="Calibri"/>
                <a:cs typeface="Calibri"/>
                <a:sym typeface="Calibri"/>
              </a:endParaRPr>
            </a:p>
          </p:txBody>
        </p:sp>
        <p:sp>
          <p:nvSpPr>
            <p:cNvPr id="193" name="Google Shape;193;p23"/>
            <p:cNvSpPr/>
            <p:nvPr/>
          </p:nvSpPr>
          <p:spPr>
            <a:xfrm>
              <a:off x="313" y="1545"/>
              <a:ext cx="1500" cy="1200"/>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name      : String</a:t>
              </a:r>
              <a:endParaRPr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address   : </a:t>
              </a:r>
              <a:r>
                <a:rPr lang="en-US" sz="2000">
                  <a:latin typeface="Calibri"/>
                  <a:ea typeface="Calibri"/>
                  <a:cs typeface="Calibri"/>
                  <a:sym typeface="Calibri"/>
                </a:rPr>
                <a:t>Stirng</a:t>
              </a:r>
              <a:endParaRPr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birthdate : Date</a:t>
              </a:r>
              <a:endParaRPr i="0" sz="2000" u="none" cap="none" strike="noStrike">
                <a:solidFill>
                  <a:srgbClr val="000000"/>
                </a:solidFill>
                <a:latin typeface="Calibri"/>
                <a:ea typeface="Calibri"/>
                <a:cs typeface="Calibri"/>
                <a:sym typeface="Calibri"/>
              </a:endParaRPr>
            </a:p>
            <a:p>
              <a:pPr indent="0" lvl="0" marL="0" rtl="0" algn="l">
                <a:spcBef>
                  <a:spcPts val="0"/>
                </a:spcBef>
                <a:spcAft>
                  <a:spcPts val="0"/>
                </a:spcAft>
                <a:buClr>
                  <a:schemeClr val="dk1"/>
                </a:buClr>
                <a:buSzPts val="1800"/>
                <a:buFont typeface="Arial"/>
                <a:buNone/>
              </a:pPr>
              <a:r>
                <a:rPr lang="en-US" sz="2000">
                  <a:solidFill>
                    <a:schemeClr val="dk1"/>
                  </a:solidFill>
                  <a:latin typeface="Calibri"/>
                  <a:ea typeface="Calibri"/>
                  <a:cs typeface="Calibri"/>
                  <a:sym typeface="Calibri"/>
                </a:rPr>
                <a:t>/ age        : Date</a:t>
              </a:r>
              <a:endParaRPr sz="20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ssn          : </a:t>
              </a:r>
              <a:r>
                <a:rPr lang="en-US" sz="2000">
                  <a:latin typeface="Calibri"/>
                  <a:ea typeface="Calibri"/>
                  <a:cs typeface="Calibri"/>
                  <a:sym typeface="Calibri"/>
                </a:rPr>
                <a:t>int</a:t>
              </a:r>
              <a:endParaRPr i="0" sz="2000" u="none" cap="none" strike="noStrike">
                <a:solidFill>
                  <a:srgbClr val="000000"/>
                </a:solidFill>
                <a:latin typeface="Calibri"/>
                <a:ea typeface="Calibri"/>
                <a:cs typeface="Calibri"/>
                <a:sym typeface="Calibri"/>
              </a:endParaRPr>
            </a:p>
          </p:txBody>
        </p:sp>
        <p:sp>
          <p:nvSpPr>
            <p:cNvPr id="194" name="Google Shape;194;p23"/>
            <p:cNvSpPr/>
            <p:nvPr/>
          </p:nvSpPr>
          <p:spPr>
            <a:xfrm>
              <a:off x="313" y="2778"/>
              <a:ext cx="1500" cy="3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a:t>
            </a:r>
            <a:r>
              <a:rPr b="1" lang="en-US" sz="3300">
                <a:latin typeface="Lexend"/>
                <a:ea typeface="Lexend"/>
                <a:cs typeface="Lexend"/>
                <a:sym typeface="Lexend"/>
              </a:rPr>
              <a:t>Operations</a:t>
            </a:r>
            <a:endParaRPr b="1" sz="3300">
              <a:latin typeface="Lexend"/>
              <a:ea typeface="Lexend"/>
              <a:cs typeface="Lexend"/>
              <a:sym typeface="Lexend"/>
            </a:endParaRPr>
          </a:p>
        </p:txBody>
      </p:sp>
      <p:sp>
        <p:nvSpPr>
          <p:cNvPr id="200" name="Google Shape;200;p24"/>
          <p:cNvSpPr txBox="1"/>
          <p:nvPr>
            <p:ph idx="1" type="body"/>
          </p:nvPr>
        </p:nvSpPr>
        <p:spPr>
          <a:xfrm>
            <a:off x="838200" y="1825625"/>
            <a:ext cx="5773500" cy="4351200"/>
          </a:xfrm>
          <a:prstGeom prst="rect">
            <a:avLst/>
          </a:prstGeom>
        </p:spPr>
        <p:txBody>
          <a:bodyPr anchorCtr="0" anchor="t" bIns="45700" lIns="91425" spcFirstLastPara="1" rIns="91425" wrap="square" tIns="45700">
            <a:noAutofit/>
          </a:bodyPr>
          <a:lstStyle/>
          <a:p>
            <a:pPr indent="-406400" lvl="0" marL="457200" rtl="0" algn="l">
              <a:spcBef>
                <a:spcPts val="0"/>
              </a:spcBef>
              <a:spcAft>
                <a:spcPts val="0"/>
              </a:spcAft>
              <a:buSzPts val="2800"/>
              <a:buFont typeface="Calibri"/>
              <a:buChar char="•"/>
            </a:pPr>
            <a:r>
              <a:rPr lang="en-US"/>
              <a:t>Represents the actions or functions that a class can perform</a:t>
            </a:r>
            <a:endParaRPr/>
          </a:p>
          <a:p>
            <a:pPr indent="-406400" lvl="0" marL="457200" rtl="0" algn="l">
              <a:spcBef>
                <a:spcPts val="0"/>
              </a:spcBef>
              <a:spcAft>
                <a:spcPts val="0"/>
              </a:spcAft>
              <a:buSzPts val="2800"/>
              <a:buFont typeface="Calibri"/>
              <a:buChar char="•"/>
            </a:pPr>
            <a:r>
              <a:rPr lang="en-US"/>
              <a:t>Describes the actions to which the instances of the class will be capable of responding</a:t>
            </a:r>
            <a:endParaRPr/>
          </a:p>
          <a:p>
            <a:pPr indent="-406400" lvl="0" marL="457200" rtl="0" algn="l">
              <a:spcBef>
                <a:spcPts val="0"/>
              </a:spcBef>
              <a:spcAft>
                <a:spcPts val="0"/>
              </a:spcAft>
              <a:buSzPts val="2800"/>
              <a:buFont typeface="Calibri"/>
              <a:buChar char="•"/>
            </a:pPr>
            <a:r>
              <a:rPr lang="en-US"/>
              <a:t>Can be classified as a constructor, query, or update operation</a:t>
            </a:r>
            <a:endParaRPr/>
          </a:p>
          <a:p>
            <a:pPr indent="-406400" lvl="0" marL="457200" rtl="0" algn="l">
              <a:spcBef>
                <a:spcPts val="0"/>
              </a:spcBef>
              <a:spcAft>
                <a:spcPts val="0"/>
              </a:spcAft>
              <a:buSzPts val="2800"/>
              <a:buFont typeface="Calibri"/>
              <a:buChar char="•"/>
            </a:pPr>
            <a:r>
              <a:rPr lang="en-US"/>
              <a:t>Operations describe the class behavior and appear in the third compartment.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grpSp>
        <p:nvGrpSpPr>
          <p:cNvPr id="201" name="Google Shape;201;p24"/>
          <p:cNvGrpSpPr/>
          <p:nvPr/>
        </p:nvGrpSpPr>
        <p:grpSpPr>
          <a:xfrm>
            <a:off x="8312348" y="1563398"/>
            <a:ext cx="2530078" cy="3862554"/>
            <a:chOff x="313" y="945"/>
            <a:chExt cx="1500" cy="2433"/>
          </a:xfrm>
        </p:grpSpPr>
        <p:sp>
          <p:nvSpPr>
            <p:cNvPr id="202" name="Google Shape;202;p24"/>
            <p:cNvSpPr/>
            <p:nvPr/>
          </p:nvSpPr>
          <p:spPr>
            <a:xfrm>
              <a:off x="313" y="945"/>
              <a:ext cx="1500" cy="6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i="0" lang="en-US" sz="2200" u="none" cap="none" strike="noStrike">
                  <a:solidFill>
                    <a:srgbClr val="000000"/>
                  </a:solidFill>
                  <a:latin typeface="Calibri"/>
                  <a:ea typeface="Calibri"/>
                  <a:cs typeface="Calibri"/>
                  <a:sym typeface="Calibri"/>
                </a:rPr>
                <a:t>Person</a:t>
              </a:r>
              <a:endParaRPr i="0" sz="2200" u="none" cap="none" strike="noStrike">
                <a:solidFill>
                  <a:srgbClr val="000000"/>
                </a:solidFill>
                <a:latin typeface="Calibri"/>
                <a:ea typeface="Calibri"/>
                <a:cs typeface="Calibri"/>
                <a:sym typeface="Calibri"/>
              </a:endParaRPr>
            </a:p>
          </p:txBody>
        </p:sp>
        <p:sp>
          <p:nvSpPr>
            <p:cNvPr id="203" name="Google Shape;203;p24"/>
            <p:cNvSpPr/>
            <p:nvPr/>
          </p:nvSpPr>
          <p:spPr>
            <a:xfrm>
              <a:off x="313" y="1545"/>
              <a:ext cx="1500" cy="12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name      : String</a:t>
              </a:r>
              <a:endParaRPr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address   : </a:t>
              </a:r>
              <a:r>
                <a:rPr lang="en-US" sz="2000">
                  <a:latin typeface="Calibri"/>
                  <a:ea typeface="Calibri"/>
                  <a:cs typeface="Calibri"/>
                  <a:sym typeface="Calibri"/>
                </a:rPr>
                <a:t>String</a:t>
              </a:r>
              <a:endParaRPr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birthdate : Date</a:t>
              </a:r>
              <a:endParaRPr i="0" sz="2000" u="none" cap="none" strike="noStrike">
                <a:solidFill>
                  <a:srgbClr val="000000"/>
                </a:solidFill>
                <a:latin typeface="Calibri"/>
                <a:ea typeface="Calibri"/>
                <a:cs typeface="Calibri"/>
                <a:sym typeface="Calibri"/>
              </a:endParaRPr>
            </a:p>
            <a:p>
              <a:pPr indent="0" lvl="0" marL="0" rtl="0" algn="l">
                <a:spcBef>
                  <a:spcPts val="0"/>
                </a:spcBef>
                <a:spcAft>
                  <a:spcPts val="0"/>
                </a:spcAft>
                <a:buClr>
                  <a:schemeClr val="dk1"/>
                </a:buClr>
                <a:buSzPts val="1800"/>
                <a:buFont typeface="Arial"/>
                <a:buNone/>
              </a:pPr>
              <a:r>
                <a:rPr lang="en-US" sz="2000">
                  <a:solidFill>
                    <a:schemeClr val="dk1"/>
                  </a:solidFill>
                  <a:latin typeface="Calibri"/>
                  <a:ea typeface="Calibri"/>
                  <a:cs typeface="Calibri"/>
                  <a:sym typeface="Calibri"/>
                </a:rPr>
                <a:t>/ age        : Date</a:t>
              </a:r>
              <a:endParaRPr sz="20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ssn          : </a:t>
              </a:r>
              <a:r>
                <a:rPr lang="en-US" sz="2000">
                  <a:latin typeface="Calibri"/>
                  <a:ea typeface="Calibri"/>
                  <a:cs typeface="Calibri"/>
                  <a:sym typeface="Calibri"/>
                </a:rPr>
                <a:t>int</a:t>
              </a:r>
              <a:endParaRPr i="0" sz="2000" u="none" cap="none" strike="noStrike">
                <a:solidFill>
                  <a:srgbClr val="000000"/>
                </a:solidFill>
                <a:latin typeface="Calibri"/>
                <a:ea typeface="Calibri"/>
                <a:cs typeface="Calibri"/>
                <a:sym typeface="Calibri"/>
              </a:endParaRPr>
            </a:p>
          </p:txBody>
        </p:sp>
        <p:sp>
          <p:nvSpPr>
            <p:cNvPr id="204" name="Google Shape;204;p24"/>
            <p:cNvSpPr/>
            <p:nvPr/>
          </p:nvSpPr>
          <p:spPr>
            <a:xfrm>
              <a:off x="313" y="2778"/>
              <a:ext cx="1500" cy="600"/>
            </a:xfrm>
            <a:prstGeom prst="rect">
              <a:avLst/>
            </a:prstGeom>
            <a:solidFill>
              <a:srgbClr val="FFFFFF"/>
            </a:solid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lang="en-US" sz="1800">
                  <a:latin typeface="Gill Sans"/>
                  <a:ea typeface="Gill Sans"/>
                  <a:cs typeface="Gill Sans"/>
                  <a:sym typeface="Gill Sans"/>
                </a:rPr>
                <a:t>eat()</a:t>
              </a:r>
              <a:endParaRPr sz="1800">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rPr lang="en-US" sz="1800">
                  <a:latin typeface="Gill Sans"/>
                  <a:ea typeface="Gill Sans"/>
                  <a:cs typeface="Gill Sans"/>
                  <a:sym typeface="Gill Sans"/>
                </a:rPr>
                <a:t>sleep()</a:t>
              </a:r>
              <a:endParaRPr sz="1800">
                <a:latin typeface="Gill Sans"/>
                <a:ea typeface="Gill Sans"/>
                <a:cs typeface="Gill Sans"/>
                <a:sym typeface="Gill San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Operations</a:t>
            </a:r>
            <a:endParaRPr b="1" sz="3300">
              <a:latin typeface="Lexend"/>
              <a:ea typeface="Lexend"/>
              <a:cs typeface="Lexend"/>
              <a:sym typeface="Lexend"/>
            </a:endParaRPr>
          </a:p>
        </p:txBody>
      </p:sp>
      <p:sp>
        <p:nvSpPr>
          <p:cNvPr id="210" name="Google Shape;210;p25"/>
          <p:cNvSpPr txBox="1"/>
          <p:nvPr>
            <p:ph idx="1" type="body"/>
          </p:nvPr>
        </p:nvSpPr>
        <p:spPr>
          <a:xfrm>
            <a:off x="838200" y="1825625"/>
            <a:ext cx="10515600" cy="2103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You can specify an operation by stating its signature: listing the name, type, and default value of all parameters, and, in the case of functions, a return type. </a:t>
            </a:r>
            <a:endParaRPr/>
          </a:p>
          <a:p>
            <a:pPr indent="0" lvl="0" marL="0" rtl="0" algn="l">
              <a:spcBef>
                <a:spcPts val="0"/>
              </a:spcBef>
              <a:spcAft>
                <a:spcPts val="0"/>
              </a:spcAft>
              <a:buNone/>
            </a:pPr>
            <a:r>
              <a:t/>
            </a:r>
            <a:endParaRPr/>
          </a:p>
        </p:txBody>
      </p:sp>
      <p:grpSp>
        <p:nvGrpSpPr>
          <p:cNvPr id="211" name="Google Shape;211;p25"/>
          <p:cNvGrpSpPr/>
          <p:nvPr/>
        </p:nvGrpSpPr>
        <p:grpSpPr>
          <a:xfrm>
            <a:off x="1990075" y="3587476"/>
            <a:ext cx="8211845" cy="1901937"/>
            <a:chOff x="288" y="1370"/>
            <a:chExt cx="4800" cy="1198"/>
          </a:xfrm>
        </p:grpSpPr>
        <p:sp>
          <p:nvSpPr>
            <p:cNvPr id="212" name="Google Shape;212;p25"/>
            <p:cNvSpPr/>
            <p:nvPr/>
          </p:nvSpPr>
          <p:spPr>
            <a:xfrm>
              <a:off x="288" y="1370"/>
              <a:ext cx="4800" cy="3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PhoneBook</a:t>
              </a:r>
              <a:endParaRPr b="0" i="0" sz="1400" u="none" cap="none" strike="noStrike">
                <a:solidFill>
                  <a:srgbClr val="000000"/>
                </a:solidFill>
                <a:latin typeface="Arial"/>
                <a:ea typeface="Arial"/>
                <a:cs typeface="Arial"/>
                <a:sym typeface="Arial"/>
              </a:endParaRPr>
            </a:p>
          </p:txBody>
        </p:sp>
        <p:sp>
          <p:nvSpPr>
            <p:cNvPr id="213" name="Google Shape;213;p25"/>
            <p:cNvSpPr/>
            <p:nvPr/>
          </p:nvSpPr>
          <p:spPr>
            <a:xfrm>
              <a:off x="288" y="1670"/>
              <a:ext cx="4800" cy="3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sp>
          <p:nvSpPr>
            <p:cNvPr id="214" name="Google Shape;214;p25"/>
            <p:cNvSpPr/>
            <p:nvPr/>
          </p:nvSpPr>
          <p:spPr>
            <a:xfrm>
              <a:off x="288" y="1968"/>
              <a:ext cx="4800" cy="600"/>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newEntry (n : Name, a : Address, p : PhoneNumber, d : Description)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getPhone ( n : Name, a : Address) : PhoneNumber</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Drawing Classes</a:t>
            </a:r>
            <a:endParaRPr b="1" sz="3300">
              <a:latin typeface="Lexend"/>
              <a:ea typeface="Lexend"/>
              <a:cs typeface="Lexend"/>
              <a:sym typeface="Lexend"/>
            </a:endParaRPr>
          </a:p>
        </p:txBody>
      </p:sp>
      <p:grpSp>
        <p:nvGrpSpPr>
          <p:cNvPr id="220" name="Google Shape;220;p26"/>
          <p:cNvGrpSpPr/>
          <p:nvPr/>
        </p:nvGrpSpPr>
        <p:grpSpPr>
          <a:xfrm>
            <a:off x="7565492" y="2929047"/>
            <a:ext cx="2081433" cy="2747900"/>
            <a:chOff x="3936" y="1296"/>
            <a:chExt cx="1500" cy="2400"/>
          </a:xfrm>
        </p:grpSpPr>
        <p:sp>
          <p:nvSpPr>
            <p:cNvPr id="221" name="Google Shape;221;p26"/>
            <p:cNvSpPr/>
            <p:nvPr/>
          </p:nvSpPr>
          <p:spPr>
            <a:xfrm>
              <a:off x="3936" y="1296"/>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Person</a:t>
              </a:r>
              <a:endParaRPr b="0" i="0" sz="1224" u="none" cap="none" strike="noStrike">
                <a:solidFill>
                  <a:srgbClr val="000000"/>
                </a:solidFill>
                <a:latin typeface="Arial"/>
                <a:ea typeface="Arial"/>
                <a:cs typeface="Arial"/>
                <a:sym typeface="Arial"/>
              </a:endParaRPr>
            </a:p>
          </p:txBody>
        </p:sp>
        <p:sp>
          <p:nvSpPr>
            <p:cNvPr id="222" name="Google Shape;222;p26"/>
            <p:cNvSpPr/>
            <p:nvPr/>
          </p:nvSpPr>
          <p:spPr>
            <a:xfrm>
              <a:off x="3936" y="1596"/>
              <a:ext cx="1500" cy="9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l">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name      : String</a:t>
              </a:r>
              <a:endParaRPr b="0" i="0" sz="122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birthdate : Date</a:t>
              </a:r>
              <a:endParaRPr b="0" i="0" sz="122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ssn          : Id</a:t>
              </a:r>
              <a:endParaRPr b="0" i="0" sz="1224" u="none" cap="none" strike="noStrike">
                <a:solidFill>
                  <a:srgbClr val="000000"/>
                </a:solidFill>
                <a:latin typeface="Arial"/>
                <a:ea typeface="Arial"/>
                <a:cs typeface="Arial"/>
                <a:sym typeface="Arial"/>
              </a:endParaRPr>
            </a:p>
          </p:txBody>
        </p:sp>
        <p:sp>
          <p:nvSpPr>
            <p:cNvPr id="223" name="Google Shape;223;p26"/>
            <p:cNvSpPr/>
            <p:nvPr/>
          </p:nvSpPr>
          <p:spPr>
            <a:xfrm>
              <a:off x="3936" y="2496"/>
              <a:ext cx="1500" cy="12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eat()</a:t>
              </a:r>
              <a:endParaRPr b="0" i="0" sz="1224"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sleep()</a:t>
              </a:r>
              <a:endParaRPr b="0" i="0" sz="1224"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work()</a:t>
              </a:r>
              <a:endParaRPr b="0" i="0" sz="1224"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play()</a:t>
              </a:r>
              <a:endParaRPr b="0" i="0" sz="1224" u="none" cap="none" strike="noStrike">
                <a:solidFill>
                  <a:srgbClr val="000000"/>
                </a:solidFill>
                <a:latin typeface="Arial"/>
                <a:ea typeface="Arial"/>
                <a:cs typeface="Arial"/>
                <a:sym typeface="Arial"/>
              </a:endParaRPr>
            </a:p>
          </p:txBody>
        </p:sp>
      </p:grpSp>
      <p:sp>
        <p:nvSpPr>
          <p:cNvPr id="224" name="Google Shape;224;p26"/>
          <p:cNvSpPr/>
          <p:nvPr/>
        </p:nvSpPr>
        <p:spPr>
          <a:xfrm>
            <a:off x="2545075" y="2902048"/>
            <a:ext cx="2131500" cy="6660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Person</a:t>
            </a:r>
            <a:endParaRPr b="0" i="0" sz="1224" u="none" cap="none" strike="noStrike">
              <a:solidFill>
                <a:srgbClr val="000000"/>
              </a:solidFill>
              <a:latin typeface="Arial"/>
              <a:ea typeface="Arial"/>
              <a:cs typeface="Arial"/>
              <a:sym typeface="Arial"/>
            </a:endParaRPr>
          </a:p>
        </p:txBody>
      </p:sp>
      <p:grpSp>
        <p:nvGrpSpPr>
          <p:cNvPr id="225" name="Google Shape;225;p26"/>
          <p:cNvGrpSpPr/>
          <p:nvPr/>
        </p:nvGrpSpPr>
        <p:grpSpPr>
          <a:xfrm>
            <a:off x="2570052" y="3928129"/>
            <a:ext cx="2081433" cy="2081420"/>
            <a:chOff x="288" y="2400"/>
            <a:chExt cx="1500" cy="1500"/>
          </a:xfrm>
        </p:grpSpPr>
        <p:sp>
          <p:nvSpPr>
            <p:cNvPr id="226" name="Google Shape;226;p26"/>
            <p:cNvSpPr/>
            <p:nvPr/>
          </p:nvSpPr>
          <p:spPr>
            <a:xfrm>
              <a:off x="288" y="2400"/>
              <a:ext cx="1500" cy="6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Person</a:t>
              </a:r>
              <a:endParaRPr b="0" i="0" sz="1224" u="none" cap="none" strike="noStrike">
                <a:solidFill>
                  <a:srgbClr val="000000"/>
                </a:solidFill>
                <a:latin typeface="Arial"/>
                <a:ea typeface="Arial"/>
                <a:cs typeface="Arial"/>
                <a:sym typeface="Arial"/>
              </a:endParaRPr>
            </a:p>
          </p:txBody>
        </p:sp>
        <p:sp>
          <p:nvSpPr>
            <p:cNvPr id="227" name="Google Shape;227;p26"/>
            <p:cNvSpPr/>
            <p:nvPr/>
          </p:nvSpPr>
          <p:spPr>
            <a:xfrm>
              <a:off x="288" y="3000"/>
              <a:ext cx="1500" cy="6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name</a:t>
              </a:r>
              <a:endParaRPr b="0" i="0" sz="1224"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address</a:t>
              </a:r>
              <a:endParaRPr b="0" i="0" sz="1224"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birthdate</a:t>
              </a:r>
              <a:endParaRPr b="0" i="0" sz="1224" u="none" cap="none" strike="noStrike">
                <a:solidFill>
                  <a:srgbClr val="000000"/>
                </a:solidFill>
                <a:latin typeface="Arial"/>
                <a:ea typeface="Arial"/>
                <a:cs typeface="Arial"/>
                <a:sym typeface="Arial"/>
              </a:endParaRPr>
            </a:p>
          </p:txBody>
        </p:sp>
        <p:sp>
          <p:nvSpPr>
            <p:cNvPr id="228" name="Google Shape;228;p26"/>
            <p:cNvSpPr/>
            <p:nvPr/>
          </p:nvSpPr>
          <p:spPr>
            <a:xfrm>
              <a:off x="288" y="3600"/>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l">
                <a:lnSpc>
                  <a:spcPct val="100000"/>
                </a:lnSpc>
                <a:spcBef>
                  <a:spcPts val="0"/>
                </a:spcBef>
                <a:spcAft>
                  <a:spcPts val="0"/>
                </a:spcAft>
                <a:buClr>
                  <a:srgbClr val="000000"/>
                </a:buClr>
                <a:buSzPts val="1573"/>
                <a:buFont typeface="Arial"/>
                <a:buNone/>
              </a:pPr>
              <a:r>
                <a:t/>
              </a:r>
              <a:endParaRPr b="0" i="0" sz="1573" u="none" cap="none" strike="noStrike">
                <a:solidFill>
                  <a:srgbClr val="000000"/>
                </a:solidFill>
                <a:latin typeface="Gill Sans"/>
                <a:ea typeface="Gill Sans"/>
                <a:cs typeface="Gill Sans"/>
                <a:sym typeface="Gill Sans"/>
              </a:endParaRPr>
            </a:p>
          </p:txBody>
        </p:sp>
      </p:grpSp>
      <p:grpSp>
        <p:nvGrpSpPr>
          <p:cNvPr id="229" name="Google Shape;229;p26"/>
          <p:cNvGrpSpPr/>
          <p:nvPr/>
        </p:nvGrpSpPr>
        <p:grpSpPr>
          <a:xfrm>
            <a:off x="5101075" y="4660789"/>
            <a:ext cx="2081433" cy="1648485"/>
            <a:chOff x="2208" y="2592"/>
            <a:chExt cx="1500" cy="1188"/>
          </a:xfrm>
        </p:grpSpPr>
        <p:sp>
          <p:nvSpPr>
            <p:cNvPr id="230" name="Google Shape;230;p26"/>
            <p:cNvSpPr/>
            <p:nvPr/>
          </p:nvSpPr>
          <p:spPr>
            <a:xfrm>
              <a:off x="2208" y="2592"/>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Person</a:t>
              </a:r>
              <a:endParaRPr b="0" i="0" sz="1224" u="none" cap="none" strike="noStrike">
                <a:solidFill>
                  <a:srgbClr val="000000"/>
                </a:solidFill>
                <a:latin typeface="Arial"/>
                <a:ea typeface="Arial"/>
                <a:cs typeface="Arial"/>
                <a:sym typeface="Arial"/>
              </a:endParaRPr>
            </a:p>
          </p:txBody>
        </p:sp>
        <p:sp>
          <p:nvSpPr>
            <p:cNvPr id="231" name="Google Shape;231;p26"/>
            <p:cNvSpPr/>
            <p:nvPr/>
          </p:nvSpPr>
          <p:spPr>
            <a:xfrm>
              <a:off x="2208" y="2880"/>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t/>
              </a:r>
              <a:endParaRPr b="0" i="0" sz="1573" u="none" cap="none" strike="noStrike">
                <a:solidFill>
                  <a:srgbClr val="000000"/>
                </a:solidFill>
                <a:latin typeface="Gill Sans"/>
                <a:ea typeface="Gill Sans"/>
                <a:cs typeface="Gill Sans"/>
                <a:sym typeface="Gill Sans"/>
              </a:endParaRPr>
            </a:p>
          </p:txBody>
        </p:sp>
        <p:sp>
          <p:nvSpPr>
            <p:cNvPr id="232" name="Google Shape;232;p26"/>
            <p:cNvSpPr/>
            <p:nvPr/>
          </p:nvSpPr>
          <p:spPr>
            <a:xfrm>
              <a:off x="2208" y="3180"/>
              <a:ext cx="1500" cy="6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eat ()</a:t>
              </a:r>
              <a:endParaRPr b="0" i="0" sz="1573" u="none" cap="none" strike="noStrike">
                <a:solidFill>
                  <a:srgbClr val="000000"/>
                </a:solidFill>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play ()</a:t>
              </a:r>
              <a:endParaRPr b="0" i="0" sz="1573" u="none" cap="none" strike="noStrike">
                <a:solidFill>
                  <a:srgbClr val="000000"/>
                </a:solidFill>
                <a:latin typeface="Gill Sans"/>
                <a:ea typeface="Gill Sans"/>
                <a:cs typeface="Gill Sans"/>
                <a:sym typeface="Gill Sans"/>
              </a:endParaRPr>
            </a:p>
          </p:txBody>
        </p:sp>
      </p:grpSp>
      <p:grpSp>
        <p:nvGrpSpPr>
          <p:cNvPr id="233" name="Google Shape;233;p26"/>
          <p:cNvGrpSpPr/>
          <p:nvPr/>
        </p:nvGrpSpPr>
        <p:grpSpPr>
          <a:xfrm>
            <a:off x="5111466" y="2968161"/>
            <a:ext cx="2081444" cy="1258687"/>
            <a:chOff x="2160" y="1505"/>
            <a:chExt cx="1500" cy="907"/>
          </a:xfrm>
        </p:grpSpPr>
        <p:sp>
          <p:nvSpPr>
            <p:cNvPr id="234" name="Google Shape;234;p26"/>
            <p:cNvSpPr/>
            <p:nvPr/>
          </p:nvSpPr>
          <p:spPr>
            <a:xfrm>
              <a:off x="2160" y="1505"/>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Person</a:t>
              </a:r>
              <a:endParaRPr b="0" i="0" sz="1224" u="none" cap="none" strike="noStrike">
                <a:solidFill>
                  <a:srgbClr val="000000"/>
                </a:solidFill>
                <a:latin typeface="Arial"/>
                <a:ea typeface="Arial"/>
                <a:cs typeface="Arial"/>
                <a:sym typeface="Arial"/>
              </a:endParaRPr>
            </a:p>
          </p:txBody>
        </p:sp>
        <p:sp>
          <p:nvSpPr>
            <p:cNvPr id="235" name="Google Shape;235;p26"/>
            <p:cNvSpPr/>
            <p:nvPr/>
          </p:nvSpPr>
          <p:spPr>
            <a:xfrm>
              <a:off x="2160" y="1824"/>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l">
                <a:lnSpc>
                  <a:spcPct val="100000"/>
                </a:lnSpc>
                <a:spcBef>
                  <a:spcPts val="0"/>
                </a:spcBef>
                <a:spcAft>
                  <a:spcPts val="0"/>
                </a:spcAft>
                <a:buClr>
                  <a:srgbClr val="000000"/>
                </a:buClr>
                <a:buSzPts val="1573"/>
                <a:buFont typeface="Arial"/>
                <a:buNone/>
              </a:pPr>
              <a:r>
                <a:t/>
              </a:r>
              <a:endParaRPr b="0" i="0" sz="1573" u="none" cap="none" strike="noStrike">
                <a:solidFill>
                  <a:srgbClr val="000000"/>
                </a:solidFill>
                <a:latin typeface="Gill Sans"/>
                <a:ea typeface="Gill Sans"/>
                <a:cs typeface="Gill Sans"/>
                <a:sym typeface="Gill Sans"/>
              </a:endParaRPr>
            </a:p>
          </p:txBody>
        </p:sp>
        <p:sp>
          <p:nvSpPr>
            <p:cNvPr id="236" name="Google Shape;236;p26"/>
            <p:cNvSpPr/>
            <p:nvPr/>
          </p:nvSpPr>
          <p:spPr>
            <a:xfrm>
              <a:off x="2160" y="2112"/>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l">
                <a:lnSpc>
                  <a:spcPct val="100000"/>
                </a:lnSpc>
                <a:spcBef>
                  <a:spcPts val="0"/>
                </a:spcBef>
                <a:spcAft>
                  <a:spcPts val="0"/>
                </a:spcAft>
                <a:buClr>
                  <a:srgbClr val="000000"/>
                </a:buClr>
                <a:buSzPts val="1573"/>
                <a:buFont typeface="Arial"/>
                <a:buNone/>
              </a:pPr>
              <a:r>
                <a:t/>
              </a:r>
              <a:endParaRPr b="0" i="0" sz="1573" u="none" cap="none" strike="noStrike">
                <a:solidFill>
                  <a:srgbClr val="000000"/>
                </a:solidFill>
                <a:latin typeface="Gill Sans"/>
                <a:ea typeface="Gill Sans"/>
                <a:cs typeface="Gill Sans"/>
                <a:sym typeface="Gill Sans"/>
              </a:endParaRPr>
            </a:p>
          </p:txBody>
        </p:sp>
      </p:grpSp>
      <p:sp>
        <p:nvSpPr>
          <p:cNvPr id="237" name="Google Shape;237;p26"/>
          <p:cNvSpPr txBox="1"/>
          <p:nvPr/>
        </p:nvSpPr>
        <p:spPr>
          <a:xfrm>
            <a:off x="838200" y="1690825"/>
            <a:ext cx="10515600" cy="104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When drawing a class, you need not show attributes and operation in every diagram.</a:t>
            </a:r>
            <a:endParaRPr sz="28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Visibility of Attributes and Operations</a:t>
            </a:r>
            <a:endParaRPr b="1" sz="3300">
              <a:latin typeface="Lexend"/>
              <a:ea typeface="Lexend"/>
              <a:cs typeface="Lexend"/>
              <a:sym typeface="Lexend"/>
            </a:endParaRPr>
          </a:p>
        </p:txBody>
      </p:sp>
      <p:sp>
        <p:nvSpPr>
          <p:cNvPr id="243" name="Google Shape;243;p27"/>
          <p:cNvSpPr txBox="1"/>
          <p:nvPr>
            <p:ph idx="1" type="body"/>
          </p:nvPr>
        </p:nvSpPr>
        <p:spPr>
          <a:xfrm>
            <a:off x="838200" y="1825625"/>
            <a:ext cx="10515600" cy="1199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You can specify an operation by stating its signature: listing the name, type, and default value of all parameters, and, in the case of functions, a return type. </a:t>
            </a:r>
            <a:endParaRPr/>
          </a:p>
          <a:p>
            <a:pPr indent="0" lvl="0" marL="0" rtl="0" algn="l">
              <a:spcBef>
                <a:spcPts val="0"/>
              </a:spcBef>
              <a:spcAft>
                <a:spcPts val="0"/>
              </a:spcAft>
              <a:buNone/>
            </a:pPr>
            <a:r>
              <a:t/>
            </a:r>
            <a:endParaRPr/>
          </a:p>
        </p:txBody>
      </p:sp>
      <p:graphicFrame>
        <p:nvGraphicFramePr>
          <p:cNvPr id="244" name="Google Shape;244;p27"/>
          <p:cNvGraphicFramePr/>
          <p:nvPr/>
        </p:nvGraphicFramePr>
        <p:xfrm>
          <a:off x="952500" y="3274625"/>
          <a:ext cx="3000000" cy="3000000"/>
        </p:xfrm>
        <a:graphic>
          <a:graphicData uri="http://schemas.openxmlformats.org/drawingml/2006/table">
            <a:tbl>
              <a:tblPr>
                <a:noFill/>
                <a:tableStyleId>{6183713C-6D4A-4973-A80B-47882B9FE88B}</a:tableStyleId>
              </a:tblPr>
              <a:tblGrid>
                <a:gridCol w="1625800"/>
                <a:gridCol w="1734225"/>
                <a:gridCol w="6926975"/>
              </a:tblGrid>
              <a:tr h="381000">
                <a:tc>
                  <a:txBody>
                    <a:bodyPr/>
                    <a:lstStyle/>
                    <a:p>
                      <a:pPr indent="0" lvl="0" marL="0" rtl="0" algn="ctr">
                        <a:spcBef>
                          <a:spcPts val="0"/>
                        </a:spcBef>
                        <a:spcAft>
                          <a:spcPts val="0"/>
                        </a:spcAft>
                        <a:buNone/>
                      </a:pPr>
                      <a:r>
                        <a:rPr b="1" lang="en-US" sz="2100"/>
                        <a:t>Visibility</a:t>
                      </a:r>
                      <a:endParaRPr b="1" sz="2100"/>
                    </a:p>
                  </a:txBody>
                  <a:tcPr marT="91425" marB="91425" marR="91425" marL="91425"/>
                </a:tc>
                <a:tc>
                  <a:txBody>
                    <a:bodyPr/>
                    <a:lstStyle/>
                    <a:p>
                      <a:pPr indent="0" lvl="0" marL="0" rtl="0" algn="ctr">
                        <a:spcBef>
                          <a:spcPts val="0"/>
                        </a:spcBef>
                        <a:spcAft>
                          <a:spcPts val="0"/>
                        </a:spcAft>
                        <a:buNone/>
                      </a:pPr>
                      <a:r>
                        <a:rPr b="1" lang="en-US" sz="2100"/>
                        <a:t>Symbol</a:t>
                      </a:r>
                      <a:endParaRPr b="1" sz="2100"/>
                    </a:p>
                  </a:txBody>
                  <a:tcPr marT="91425" marB="91425" marR="91425" marL="91425"/>
                </a:tc>
                <a:tc>
                  <a:txBody>
                    <a:bodyPr/>
                    <a:lstStyle/>
                    <a:p>
                      <a:pPr indent="0" lvl="0" marL="0" rtl="0" algn="ctr">
                        <a:spcBef>
                          <a:spcPts val="0"/>
                        </a:spcBef>
                        <a:spcAft>
                          <a:spcPts val="0"/>
                        </a:spcAft>
                        <a:buNone/>
                      </a:pPr>
                      <a:r>
                        <a:rPr b="1" lang="en-US" sz="2100"/>
                        <a:t>Accessible to</a:t>
                      </a:r>
                      <a:endParaRPr b="1" sz="2100"/>
                    </a:p>
                  </a:txBody>
                  <a:tcPr marT="91425" marB="91425" marR="91425" marL="91425"/>
                </a:tc>
              </a:tr>
              <a:tr h="381000">
                <a:tc>
                  <a:txBody>
                    <a:bodyPr/>
                    <a:lstStyle/>
                    <a:p>
                      <a:pPr indent="0" lvl="0" marL="0" rtl="0" algn="l">
                        <a:spcBef>
                          <a:spcPts val="0"/>
                        </a:spcBef>
                        <a:spcAft>
                          <a:spcPts val="0"/>
                        </a:spcAft>
                        <a:buNone/>
                      </a:pPr>
                      <a:r>
                        <a:rPr lang="en-US" sz="2300"/>
                        <a:t>Public</a:t>
                      </a:r>
                      <a:endParaRPr sz="2300"/>
                    </a:p>
                  </a:txBody>
                  <a:tcPr marT="91425" marB="91425" marR="91425" marL="91425"/>
                </a:tc>
                <a:tc>
                  <a:txBody>
                    <a:bodyPr/>
                    <a:lstStyle/>
                    <a:p>
                      <a:pPr indent="0" lvl="0" marL="0" rtl="0" algn="ctr">
                        <a:spcBef>
                          <a:spcPts val="0"/>
                        </a:spcBef>
                        <a:spcAft>
                          <a:spcPts val="0"/>
                        </a:spcAft>
                        <a:buNone/>
                      </a:pPr>
                      <a:r>
                        <a:rPr lang="en-US" sz="2300"/>
                        <a:t>+</a:t>
                      </a:r>
                      <a:endParaRPr sz="2300"/>
                    </a:p>
                  </a:txBody>
                  <a:tcPr marT="91425" marB="91425" marR="91425" marL="91425"/>
                </a:tc>
                <a:tc>
                  <a:txBody>
                    <a:bodyPr/>
                    <a:lstStyle/>
                    <a:p>
                      <a:pPr indent="0" lvl="0" marL="0" rtl="0" algn="l">
                        <a:spcBef>
                          <a:spcPts val="0"/>
                        </a:spcBef>
                        <a:spcAft>
                          <a:spcPts val="0"/>
                        </a:spcAft>
                        <a:buNone/>
                      </a:pPr>
                      <a:r>
                        <a:rPr lang="en-US" sz="2000"/>
                        <a:t>All objects within your system</a:t>
                      </a:r>
                      <a:endParaRPr sz="2000"/>
                    </a:p>
                  </a:txBody>
                  <a:tcPr marT="91425" marB="91425" marR="91425" marL="91425"/>
                </a:tc>
              </a:tr>
              <a:tr h="381000">
                <a:tc>
                  <a:txBody>
                    <a:bodyPr/>
                    <a:lstStyle/>
                    <a:p>
                      <a:pPr indent="0" lvl="0" marL="0" rtl="0" algn="l">
                        <a:spcBef>
                          <a:spcPts val="0"/>
                        </a:spcBef>
                        <a:spcAft>
                          <a:spcPts val="0"/>
                        </a:spcAft>
                        <a:buNone/>
                      </a:pPr>
                      <a:r>
                        <a:rPr lang="en-US" sz="2300"/>
                        <a:t>Protected</a:t>
                      </a:r>
                      <a:endParaRPr sz="2300"/>
                    </a:p>
                  </a:txBody>
                  <a:tcPr marT="91425" marB="91425" marR="91425" marL="91425"/>
                </a:tc>
                <a:tc>
                  <a:txBody>
                    <a:bodyPr/>
                    <a:lstStyle/>
                    <a:p>
                      <a:pPr indent="0" lvl="0" marL="0" rtl="0" algn="ctr">
                        <a:spcBef>
                          <a:spcPts val="0"/>
                        </a:spcBef>
                        <a:spcAft>
                          <a:spcPts val="0"/>
                        </a:spcAft>
                        <a:buNone/>
                      </a:pPr>
                      <a:r>
                        <a:rPr lang="en-US" sz="2300"/>
                        <a:t>#</a:t>
                      </a:r>
                      <a:endParaRPr sz="2300"/>
                    </a:p>
                  </a:txBody>
                  <a:tcPr marT="91425" marB="91425" marR="91425" marL="91425"/>
                </a:tc>
                <a:tc>
                  <a:txBody>
                    <a:bodyPr/>
                    <a:lstStyle/>
                    <a:p>
                      <a:pPr indent="0" lvl="0" marL="0" rtl="0" algn="l">
                        <a:spcBef>
                          <a:spcPts val="0"/>
                        </a:spcBef>
                        <a:spcAft>
                          <a:spcPts val="0"/>
                        </a:spcAft>
                        <a:buNone/>
                      </a:pPr>
                      <a:r>
                        <a:rPr lang="en-US" sz="2000"/>
                        <a:t>Instances of the implementing class and its subclasses</a:t>
                      </a:r>
                      <a:endParaRPr sz="2000"/>
                    </a:p>
                  </a:txBody>
                  <a:tcPr marT="91425" marB="91425" marR="91425" marL="91425"/>
                </a:tc>
              </a:tr>
              <a:tr h="381000">
                <a:tc>
                  <a:txBody>
                    <a:bodyPr/>
                    <a:lstStyle/>
                    <a:p>
                      <a:pPr indent="0" lvl="0" marL="0" rtl="0" algn="l">
                        <a:spcBef>
                          <a:spcPts val="0"/>
                        </a:spcBef>
                        <a:spcAft>
                          <a:spcPts val="0"/>
                        </a:spcAft>
                        <a:buNone/>
                      </a:pPr>
                      <a:r>
                        <a:rPr lang="en-US" sz="2300"/>
                        <a:t>Private</a:t>
                      </a:r>
                      <a:endParaRPr sz="2300"/>
                    </a:p>
                  </a:txBody>
                  <a:tcPr marT="91425" marB="91425" marR="91425" marL="91425"/>
                </a:tc>
                <a:tc>
                  <a:txBody>
                    <a:bodyPr/>
                    <a:lstStyle/>
                    <a:p>
                      <a:pPr indent="0" lvl="0" marL="0" rtl="0" algn="ctr">
                        <a:spcBef>
                          <a:spcPts val="0"/>
                        </a:spcBef>
                        <a:spcAft>
                          <a:spcPts val="0"/>
                        </a:spcAft>
                        <a:buNone/>
                      </a:pPr>
                      <a:r>
                        <a:rPr lang="en-US" sz="2300"/>
                        <a:t>-</a:t>
                      </a:r>
                      <a:endParaRPr sz="2300"/>
                    </a:p>
                  </a:txBody>
                  <a:tcPr marT="91425" marB="91425" marR="91425" marL="91425"/>
                </a:tc>
                <a:tc>
                  <a:txBody>
                    <a:bodyPr/>
                    <a:lstStyle/>
                    <a:p>
                      <a:pPr indent="0" lvl="0" marL="0" rtl="0" algn="l">
                        <a:spcBef>
                          <a:spcPts val="0"/>
                        </a:spcBef>
                        <a:spcAft>
                          <a:spcPts val="0"/>
                        </a:spcAft>
                        <a:buNone/>
                      </a:pPr>
                      <a:r>
                        <a:rPr lang="en-US" sz="2000"/>
                        <a:t>Instances of the </a:t>
                      </a:r>
                      <a:r>
                        <a:rPr lang="en-US" sz="2000"/>
                        <a:t>implementing</a:t>
                      </a:r>
                      <a:r>
                        <a:rPr lang="en-US" sz="2000"/>
                        <a:t> class</a:t>
                      </a:r>
                      <a:endParaRPr sz="2000"/>
                    </a:p>
                  </a:txBody>
                  <a:tcPr marT="91425" marB="91425" marR="91425" marL="91425"/>
                </a:tc>
              </a:tr>
              <a:tr h="381000">
                <a:tc>
                  <a:txBody>
                    <a:bodyPr/>
                    <a:lstStyle/>
                    <a:p>
                      <a:pPr indent="0" lvl="0" marL="0" rtl="0" algn="l">
                        <a:spcBef>
                          <a:spcPts val="0"/>
                        </a:spcBef>
                        <a:spcAft>
                          <a:spcPts val="0"/>
                        </a:spcAft>
                        <a:buNone/>
                      </a:pPr>
                      <a:r>
                        <a:rPr lang="en-US" sz="2300"/>
                        <a:t>Package</a:t>
                      </a:r>
                      <a:endParaRPr sz="2300"/>
                    </a:p>
                  </a:txBody>
                  <a:tcPr marT="91425" marB="91425" marR="91425" marL="91425"/>
                </a:tc>
                <a:tc>
                  <a:txBody>
                    <a:bodyPr/>
                    <a:lstStyle/>
                    <a:p>
                      <a:pPr indent="0" lvl="0" marL="0" rtl="0" algn="ctr">
                        <a:spcBef>
                          <a:spcPts val="0"/>
                        </a:spcBef>
                        <a:spcAft>
                          <a:spcPts val="0"/>
                        </a:spcAft>
                        <a:buNone/>
                      </a:pPr>
                      <a:r>
                        <a:rPr lang="en-US" sz="2300"/>
                        <a:t>~</a:t>
                      </a:r>
                      <a:endParaRPr sz="2300"/>
                    </a:p>
                  </a:txBody>
                  <a:tcPr marT="91425" marB="91425" marR="91425" marL="91425"/>
                </a:tc>
                <a:tc>
                  <a:txBody>
                    <a:bodyPr/>
                    <a:lstStyle/>
                    <a:p>
                      <a:pPr indent="0" lvl="0" marL="0" rtl="0" algn="l">
                        <a:spcBef>
                          <a:spcPts val="0"/>
                        </a:spcBef>
                        <a:spcAft>
                          <a:spcPts val="0"/>
                        </a:spcAft>
                        <a:buNone/>
                      </a:pPr>
                      <a:r>
                        <a:rPr lang="en-US" sz="2000"/>
                        <a:t>Instances within the same package</a:t>
                      </a:r>
                      <a:endParaRPr sz="2000"/>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Visibility of Attributes and Operations</a:t>
            </a:r>
            <a:endParaRPr b="1" sz="3300">
              <a:latin typeface="Lexend"/>
              <a:ea typeface="Lexend"/>
              <a:cs typeface="Lexend"/>
              <a:sym typeface="Lexend"/>
            </a:endParaRPr>
          </a:p>
        </p:txBody>
      </p:sp>
      <p:sp>
        <p:nvSpPr>
          <p:cNvPr id="250" name="Google Shape;250;p28"/>
          <p:cNvSpPr/>
          <p:nvPr/>
        </p:nvSpPr>
        <p:spPr>
          <a:xfrm>
            <a:off x="4528650" y="1690825"/>
            <a:ext cx="2590800" cy="762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Person</a:t>
            </a:r>
            <a:endParaRPr b="0" i="0" sz="1400" u="none" cap="none" strike="noStrike">
              <a:solidFill>
                <a:srgbClr val="000000"/>
              </a:solidFill>
              <a:latin typeface="Arial"/>
              <a:ea typeface="Arial"/>
              <a:cs typeface="Arial"/>
              <a:sym typeface="Arial"/>
            </a:endParaRPr>
          </a:p>
        </p:txBody>
      </p:sp>
      <p:sp>
        <p:nvSpPr>
          <p:cNvPr id="251" name="Google Shape;251;p28"/>
          <p:cNvSpPr/>
          <p:nvPr/>
        </p:nvSpPr>
        <p:spPr>
          <a:xfrm>
            <a:off x="4528650" y="2452825"/>
            <a:ext cx="2590800" cy="22860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name      :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address   : Address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birthdate : Date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age           : Date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ssn           : Id</a:t>
            </a:r>
            <a:endParaRPr b="0" i="0" sz="1400" u="none" cap="none" strike="noStrike">
              <a:solidFill>
                <a:srgbClr val="000000"/>
              </a:solidFill>
              <a:latin typeface="Arial"/>
              <a:ea typeface="Arial"/>
              <a:cs typeface="Arial"/>
              <a:sym typeface="Arial"/>
            </a:endParaRPr>
          </a:p>
        </p:txBody>
      </p:sp>
      <p:sp>
        <p:nvSpPr>
          <p:cNvPr id="252" name="Google Shape;252;p28"/>
          <p:cNvSpPr/>
          <p:nvPr/>
        </p:nvSpPr>
        <p:spPr>
          <a:xfrm>
            <a:off x="4528650" y="4738825"/>
            <a:ext cx="2590800" cy="6096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eat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sleep ()</a:t>
            </a:r>
            <a:endParaRPr b="0" i="0" sz="1800" u="none" cap="none" strike="noStrike">
              <a:solidFill>
                <a:srgbClr val="000000"/>
              </a:solidFill>
              <a:latin typeface="Gill Sans"/>
              <a:ea typeface="Gill Sans"/>
              <a:cs typeface="Gill Sans"/>
              <a:sym typeface="Gill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Relationships among Classes</a:t>
            </a:r>
            <a:endParaRPr b="1" sz="3300">
              <a:latin typeface="Lexend"/>
              <a:ea typeface="Lexend"/>
              <a:cs typeface="Lexend"/>
              <a:sym typeface="Lexend"/>
            </a:endParaRPr>
          </a:p>
        </p:txBody>
      </p:sp>
      <p:sp>
        <p:nvSpPr>
          <p:cNvPr id="258" name="Google Shape;258;p29"/>
          <p:cNvSpPr txBox="1"/>
          <p:nvPr>
            <p:ph idx="1" type="body"/>
          </p:nvPr>
        </p:nvSpPr>
        <p:spPr>
          <a:xfrm>
            <a:off x="838200" y="1825625"/>
            <a:ext cx="10515600" cy="447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Represents a connection between multiple classes or a class and itself</a:t>
            </a:r>
            <a:endParaRPr/>
          </a:p>
          <a:p>
            <a:pPr indent="0" lvl="0" marL="0" rtl="0" algn="l">
              <a:spcBef>
                <a:spcPts val="0"/>
              </a:spcBef>
              <a:spcAft>
                <a:spcPts val="0"/>
              </a:spcAft>
              <a:buNone/>
            </a:pPr>
            <a:r>
              <a:rPr lang="en-US"/>
              <a:t>2 basic categories:</a:t>
            </a:r>
            <a:endParaRPr/>
          </a:p>
          <a:p>
            <a:pPr indent="-342900" lvl="0" marL="457200" rtl="0" algn="l">
              <a:spcBef>
                <a:spcPts val="0"/>
              </a:spcBef>
              <a:spcAft>
                <a:spcPts val="0"/>
              </a:spcAft>
              <a:buSzPts val="1800"/>
              <a:buFont typeface="Calibri"/>
              <a:buChar char="●"/>
            </a:pPr>
            <a:r>
              <a:rPr lang="en-US"/>
              <a:t>Association relationships</a:t>
            </a:r>
            <a:endParaRPr/>
          </a:p>
          <a:p>
            <a:pPr indent="-342900" lvl="1" marL="914400" rtl="0" algn="l">
              <a:spcBef>
                <a:spcPts val="0"/>
              </a:spcBef>
              <a:spcAft>
                <a:spcPts val="0"/>
              </a:spcAft>
              <a:buSzPts val="1800"/>
              <a:buFont typeface="Calibri"/>
              <a:buChar char="○"/>
            </a:pPr>
            <a:r>
              <a:rPr lang="en-US"/>
              <a:t>Aggregation</a:t>
            </a:r>
            <a:endParaRPr/>
          </a:p>
          <a:p>
            <a:pPr indent="-342900" lvl="1" marL="914400" rtl="0" algn="l">
              <a:spcBef>
                <a:spcPts val="0"/>
              </a:spcBef>
              <a:spcAft>
                <a:spcPts val="0"/>
              </a:spcAft>
              <a:buSzPts val="1800"/>
              <a:buFont typeface="Calibri"/>
              <a:buChar char="○"/>
            </a:pPr>
            <a:r>
              <a:rPr lang="en-US"/>
              <a:t>Composition</a:t>
            </a:r>
            <a:endParaRPr/>
          </a:p>
          <a:p>
            <a:pPr indent="-342900" lvl="1" marL="914400" rtl="0" algn="l">
              <a:spcBef>
                <a:spcPts val="0"/>
              </a:spcBef>
              <a:spcAft>
                <a:spcPts val="0"/>
              </a:spcAft>
              <a:buSzPts val="1800"/>
              <a:buFont typeface="Calibri"/>
              <a:buChar char="○"/>
            </a:pPr>
            <a:r>
              <a:rPr lang="en-US"/>
              <a:t>Reflexive (Not Included)</a:t>
            </a:r>
            <a:endParaRPr/>
          </a:p>
          <a:p>
            <a:pPr indent="-342900" lvl="1" marL="914400" rtl="0" algn="l">
              <a:spcBef>
                <a:spcPts val="0"/>
              </a:spcBef>
              <a:spcAft>
                <a:spcPts val="0"/>
              </a:spcAft>
              <a:buSzPts val="1800"/>
              <a:buFont typeface="Calibri"/>
              <a:buChar char="○"/>
            </a:pPr>
            <a:r>
              <a:rPr lang="en-US"/>
              <a:t>Dependency </a:t>
            </a:r>
            <a:r>
              <a:rPr lang="en-US"/>
              <a:t>(Not Included)</a:t>
            </a:r>
            <a:endParaRPr/>
          </a:p>
          <a:p>
            <a:pPr indent="-342900" lvl="0" marL="457200" rtl="0" algn="l">
              <a:spcBef>
                <a:spcPts val="0"/>
              </a:spcBef>
              <a:spcAft>
                <a:spcPts val="0"/>
              </a:spcAft>
              <a:buSzPts val="1800"/>
              <a:buFont typeface="Calibri"/>
              <a:buChar char="●"/>
            </a:pPr>
            <a:r>
              <a:rPr lang="en-US"/>
              <a:t>Generalization relationships</a:t>
            </a:r>
            <a:endParaRPr/>
          </a:p>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Association Relationship</a:t>
            </a:r>
            <a:endParaRPr b="1" sz="3300">
              <a:latin typeface="Lexend"/>
              <a:ea typeface="Lexend"/>
              <a:cs typeface="Lexend"/>
              <a:sym typeface="Lexend"/>
            </a:endParaRPr>
          </a:p>
        </p:txBody>
      </p:sp>
      <p:sp>
        <p:nvSpPr>
          <p:cNvPr id="264" name="Google Shape;264;p30"/>
          <p:cNvSpPr txBox="1"/>
          <p:nvPr>
            <p:ph idx="1" type="body"/>
          </p:nvPr>
        </p:nvSpPr>
        <p:spPr>
          <a:xfrm>
            <a:off x="838200" y="1825625"/>
            <a:ext cx="10515600" cy="3808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300"/>
              <a:t>If two classes in a model need to communicate with each other, there must be link between them. An association denotes that link.</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b="1" lang="en-US" sz="2300"/>
              <a:t>Name of relationship type shown by:</a:t>
            </a:r>
            <a:endParaRPr b="1" sz="2300"/>
          </a:p>
          <a:p>
            <a:pPr indent="-374650" lvl="0" marL="457200" rtl="0" algn="l">
              <a:spcBef>
                <a:spcPts val="0"/>
              </a:spcBef>
              <a:spcAft>
                <a:spcPts val="0"/>
              </a:spcAft>
              <a:buSzPts val="2300"/>
              <a:buFont typeface="Calibri"/>
              <a:buChar char="•"/>
            </a:pPr>
            <a:r>
              <a:rPr lang="en-US" sz="2300"/>
              <a:t>drawing line between classes</a:t>
            </a:r>
            <a:endParaRPr sz="2300"/>
          </a:p>
          <a:p>
            <a:pPr indent="-374650" lvl="0" marL="457200" rtl="0" algn="l">
              <a:spcBef>
                <a:spcPts val="0"/>
              </a:spcBef>
              <a:spcAft>
                <a:spcPts val="0"/>
              </a:spcAft>
              <a:buSzPts val="2300"/>
              <a:buFont typeface="Calibri"/>
              <a:buChar char="•"/>
            </a:pPr>
            <a:r>
              <a:rPr lang="en-US" sz="2300"/>
              <a:t>labeling with the name of the relationship</a:t>
            </a:r>
            <a:endParaRPr sz="2300"/>
          </a:p>
          <a:p>
            <a:pPr indent="-374650" lvl="0" marL="457200" rtl="0" algn="l">
              <a:spcBef>
                <a:spcPts val="0"/>
              </a:spcBef>
              <a:spcAft>
                <a:spcPts val="0"/>
              </a:spcAft>
              <a:buSzPts val="2300"/>
              <a:buFont typeface="Calibri"/>
              <a:buChar char="•"/>
            </a:pPr>
            <a:r>
              <a:rPr lang="en-US" sz="2300"/>
              <a:t>indicating with a small solid triangle beside the name of the relationship the direction of the association</a:t>
            </a:r>
            <a:endParaRPr sz="2300"/>
          </a:p>
          <a:p>
            <a:pPr indent="0" lvl="0" marL="0" rtl="0" algn="l">
              <a:spcBef>
                <a:spcPts val="0"/>
              </a:spcBef>
              <a:spcAft>
                <a:spcPts val="0"/>
              </a:spcAft>
              <a:buNone/>
            </a:pPr>
            <a:r>
              <a:t/>
            </a:r>
            <a:endParaRPr/>
          </a:p>
        </p:txBody>
      </p:sp>
      <p:sp>
        <p:nvSpPr>
          <p:cNvPr id="265" name="Google Shape;265;p30"/>
          <p:cNvSpPr/>
          <p:nvPr/>
        </p:nvSpPr>
        <p:spPr>
          <a:xfrm>
            <a:off x="2409450" y="5348425"/>
            <a:ext cx="1752600" cy="5334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300">
                <a:latin typeface="Calibri"/>
                <a:ea typeface="Calibri"/>
                <a:cs typeface="Calibri"/>
                <a:sym typeface="Calibri"/>
              </a:rPr>
              <a:t>Patient</a:t>
            </a:r>
            <a:endParaRPr i="0" sz="2300" u="none" cap="none" strike="noStrike">
              <a:solidFill>
                <a:srgbClr val="000000"/>
              </a:solidFill>
              <a:latin typeface="Calibri"/>
              <a:ea typeface="Calibri"/>
              <a:cs typeface="Calibri"/>
              <a:sym typeface="Calibri"/>
            </a:endParaRPr>
          </a:p>
        </p:txBody>
      </p:sp>
      <p:sp>
        <p:nvSpPr>
          <p:cNvPr id="266" name="Google Shape;266;p30"/>
          <p:cNvSpPr/>
          <p:nvPr/>
        </p:nvSpPr>
        <p:spPr>
          <a:xfrm>
            <a:off x="7438650" y="5348425"/>
            <a:ext cx="2343900" cy="5334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400"/>
              <a:buFont typeface="Arial"/>
              <a:buNone/>
            </a:pPr>
            <a:r>
              <a:rPr lang="en-US" sz="2300">
                <a:solidFill>
                  <a:schemeClr val="dk1"/>
                </a:solidFill>
                <a:latin typeface="Calibri"/>
                <a:ea typeface="Calibri"/>
                <a:cs typeface="Calibri"/>
                <a:sym typeface="Calibri"/>
              </a:rPr>
              <a:t>Medical History</a:t>
            </a:r>
            <a:endParaRPr sz="2300">
              <a:latin typeface="Calibri"/>
              <a:ea typeface="Calibri"/>
              <a:cs typeface="Calibri"/>
              <a:sym typeface="Calibri"/>
            </a:endParaRPr>
          </a:p>
        </p:txBody>
      </p:sp>
      <p:cxnSp>
        <p:nvCxnSpPr>
          <p:cNvPr id="267" name="Google Shape;267;p30"/>
          <p:cNvCxnSpPr/>
          <p:nvPr/>
        </p:nvCxnSpPr>
        <p:spPr>
          <a:xfrm>
            <a:off x="4162050" y="5653225"/>
            <a:ext cx="3276600" cy="0"/>
          </a:xfrm>
          <a:prstGeom prst="straightConnector1">
            <a:avLst/>
          </a:prstGeom>
          <a:noFill/>
          <a:ln cap="flat" cmpd="sng" w="9525">
            <a:solidFill>
              <a:srgbClr val="000000"/>
            </a:solidFill>
            <a:prstDash val="solid"/>
            <a:round/>
            <a:headEnd len="sm" w="sm" type="none"/>
            <a:tailEnd len="sm" w="sm" type="none"/>
          </a:ln>
        </p:spPr>
      </p:cxnSp>
      <p:sp>
        <p:nvSpPr>
          <p:cNvPr id="268" name="Google Shape;268;p30"/>
          <p:cNvSpPr txBox="1"/>
          <p:nvPr/>
        </p:nvSpPr>
        <p:spPr>
          <a:xfrm>
            <a:off x="4695450" y="5272225"/>
            <a:ext cx="22860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US" sz="2000" u="none" cap="none" strike="noStrike">
                <a:solidFill>
                  <a:srgbClr val="000000"/>
                </a:solidFill>
                <a:latin typeface="Calibri"/>
                <a:ea typeface="Calibri"/>
                <a:cs typeface="Calibri"/>
                <a:sym typeface="Calibri"/>
              </a:rPr>
              <a:t>Provides </a:t>
            </a:r>
            <a:endParaRPr i="0" sz="2000" u="none" cap="none" strike="noStrike">
              <a:solidFill>
                <a:srgbClr val="000000"/>
              </a:solidFill>
              <a:latin typeface="Calibri"/>
              <a:ea typeface="Calibri"/>
              <a:cs typeface="Calibri"/>
              <a:sym typeface="Calibri"/>
            </a:endParaRPr>
          </a:p>
        </p:txBody>
      </p:sp>
      <p:cxnSp>
        <p:nvCxnSpPr>
          <p:cNvPr id="269" name="Google Shape;269;p30"/>
          <p:cNvCxnSpPr>
            <a:endCxn id="268" idx="3"/>
          </p:cNvCxnSpPr>
          <p:nvPr/>
        </p:nvCxnSpPr>
        <p:spPr>
          <a:xfrm flipH="1" rot="10800000">
            <a:off x="6295650" y="5472325"/>
            <a:ext cx="685800" cy="28500"/>
          </a:xfrm>
          <a:prstGeom prst="straightConnector1">
            <a:avLst/>
          </a:prstGeom>
          <a:noFill/>
          <a:ln cap="flat" cmpd="sng" w="9525">
            <a:solidFill>
              <a:srgbClr val="000000"/>
            </a:solidFill>
            <a:prstDash val="solid"/>
            <a:round/>
            <a:headEnd len="sm" w="sm"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Aggregation </a:t>
            </a:r>
            <a:r>
              <a:rPr b="1" lang="en-US" sz="3300">
                <a:latin typeface="Lexend"/>
                <a:ea typeface="Lexend"/>
                <a:cs typeface="Lexend"/>
                <a:sym typeface="Lexend"/>
              </a:rPr>
              <a:t>Relationship</a:t>
            </a:r>
            <a:endParaRPr b="1" sz="3300">
              <a:latin typeface="Lexend"/>
              <a:ea typeface="Lexend"/>
              <a:cs typeface="Lexend"/>
              <a:sym typeface="Lexend"/>
            </a:endParaRPr>
          </a:p>
        </p:txBody>
      </p:sp>
      <p:sp>
        <p:nvSpPr>
          <p:cNvPr id="275" name="Google Shape;275;p31"/>
          <p:cNvSpPr txBox="1"/>
          <p:nvPr>
            <p:ph idx="1" type="body"/>
          </p:nvPr>
        </p:nvSpPr>
        <p:spPr>
          <a:xfrm>
            <a:off x="838200" y="1825625"/>
            <a:ext cx="10515600" cy="2928300"/>
          </a:xfrm>
          <a:prstGeom prst="rect">
            <a:avLst/>
          </a:prstGeom>
        </p:spPr>
        <p:txBody>
          <a:bodyPr anchorCtr="0" anchor="t" bIns="45700" lIns="91425" spcFirstLastPara="1" rIns="91425" wrap="square" tIns="45700">
            <a:noAutofit/>
          </a:bodyPr>
          <a:lstStyle/>
          <a:p>
            <a:pPr indent="-374650" lvl="0" marL="457200" rtl="0" algn="l">
              <a:spcBef>
                <a:spcPts val="0"/>
              </a:spcBef>
              <a:spcAft>
                <a:spcPts val="0"/>
              </a:spcAft>
              <a:buSzPts val="2300"/>
              <a:buChar char="•"/>
            </a:pPr>
            <a:r>
              <a:rPr lang="en-US" sz="2300"/>
              <a:t>Specialized form of association in which a whole is related to its part(s)</a:t>
            </a:r>
            <a:endParaRPr sz="2300"/>
          </a:p>
          <a:p>
            <a:pPr indent="0" lvl="0" marL="457200" rtl="0" algn="l">
              <a:spcBef>
                <a:spcPts val="0"/>
              </a:spcBef>
              <a:spcAft>
                <a:spcPts val="0"/>
              </a:spcAft>
              <a:buNone/>
            </a:pPr>
            <a:r>
              <a:t/>
            </a:r>
            <a:endParaRPr sz="2300"/>
          </a:p>
          <a:p>
            <a:pPr indent="-374650" lvl="0" marL="457200" rtl="0" algn="l">
              <a:spcBef>
                <a:spcPts val="0"/>
              </a:spcBef>
              <a:spcAft>
                <a:spcPts val="0"/>
              </a:spcAft>
              <a:buSzPts val="2300"/>
              <a:buChar char="•"/>
            </a:pPr>
            <a:r>
              <a:rPr lang="en-US" sz="2300"/>
              <a:t>Represented by </a:t>
            </a:r>
            <a:r>
              <a:rPr lang="en-US" sz="2300" u="sng"/>
              <a:t>a-part-of</a:t>
            </a:r>
            <a:r>
              <a:rPr lang="en-US" sz="2300"/>
              <a:t> relationship</a:t>
            </a:r>
            <a:endParaRPr sz="2300"/>
          </a:p>
          <a:p>
            <a:pPr indent="0" lvl="0" marL="457200" rtl="0" algn="l">
              <a:spcBef>
                <a:spcPts val="0"/>
              </a:spcBef>
              <a:spcAft>
                <a:spcPts val="0"/>
              </a:spcAft>
              <a:buNone/>
            </a:pPr>
            <a:r>
              <a:t/>
            </a:r>
            <a:endParaRPr sz="2300"/>
          </a:p>
          <a:p>
            <a:pPr indent="-374650" lvl="0" marL="457200" rtl="0" algn="l">
              <a:spcBef>
                <a:spcPts val="0"/>
              </a:spcBef>
              <a:spcAft>
                <a:spcPts val="0"/>
              </a:spcAft>
              <a:buSzPts val="2300"/>
              <a:buChar char="•"/>
            </a:pPr>
            <a:r>
              <a:rPr lang="en-US" sz="2300"/>
              <a:t>Specifies a whole-part relationship between an aggregate (a whole) and a constituent part, where the part can exist </a:t>
            </a:r>
            <a:r>
              <a:rPr lang="en-US" sz="2300" u="sng"/>
              <a:t>independently </a:t>
            </a:r>
            <a:r>
              <a:rPr lang="en-US" sz="2300"/>
              <a:t>from the aggregate.</a:t>
            </a:r>
            <a:endParaRPr sz="2300"/>
          </a:p>
          <a:p>
            <a:pPr indent="-374650" lvl="0" marL="457200" rtl="0" algn="l">
              <a:spcBef>
                <a:spcPts val="0"/>
              </a:spcBef>
              <a:spcAft>
                <a:spcPts val="0"/>
              </a:spcAft>
              <a:buSzPts val="2300"/>
              <a:buChar char="•"/>
            </a:pPr>
            <a:r>
              <a:rPr lang="en-US" sz="2300"/>
              <a:t>Denoted </a:t>
            </a:r>
            <a:r>
              <a:rPr lang="en-US" sz="2300"/>
              <a:t>by a hollow diamond on the association</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t/>
            </a:r>
            <a:endParaRPr/>
          </a:p>
        </p:txBody>
      </p:sp>
      <p:grpSp>
        <p:nvGrpSpPr>
          <p:cNvPr id="276" name="Google Shape;276;p31"/>
          <p:cNvGrpSpPr/>
          <p:nvPr/>
        </p:nvGrpSpPr>
        <p:grpSpPr>
          <a:xfrm>
            <a:off x="3565012" y="4802575"/>
            <a:ext cx="952500" cy="476250"/>
            <a:chOff x="4253" y="96"/>
            <a:chExt cx="600" cy="300"/>
          </a:xfrm>
        </p:grpSpPr>
        <p:sp>
          <p:nvSpPr>
            <p:cNvPr id="277" name="Google Shape;277;p31"/>
            <p:cNvSpPr txBox="1"/>
            <p:nvPr/>
          </p:nvSpPr>
          <p:spPr>
            <a:xfrm>
              <a:off x="4253" y="96"/>
              <a:ext cx="600" cy="300"/>
            </a:xfrm>
            <a:prstGeom prst="rect">
              <a:avLst/>
            </a:prstGeom>
            <a:noFill/>
            <a:ln cap="flat" cmpd="sng" w="19050">
              <a:solidFill>
                <a:srgbClr val="000000"/>
              </a:solidFill>
              <a:prstDash val="solid"/>
              <a:miter lim="800000"/>
              <a:headEnd len="sm" w="sm" type="none"/>
              <a:tailEnd len="sm" w="sm" type="none"/>
            </a:ln>
          </p:spPr>
          <p:txBody>
            <a:bodyPr anchorCtr="0" anchor="t" bIns="44450" lIns="90475" spcFirstLastPara="1" rIns="90475" wrap="square" tIns="44450">
              <a:noAutofit/>
            </a:bodyPr>
            <a:lstStyle/>
            <a:p>
              <a:pPr indent="-342900" lvl="0" marL="34290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Car</a:t>
              </a:r>
              <a:endParaRPr b="0" i="0" sz="1400" u="none" cap="none" strike="noStrike">
                <a:solidFill>
                  <a:srgbClr val="000000"/>
                </a:solidFill>
                <a:latin typeface="Arial"/>
                <a:ea typeface="Arial"/>
                <a:cs typeface="Arial"/>
                <a:sym typeface="Arial"/>
              </a:endParaRPr>
            </a:p>
          </p:txBody>
        </p:sp>
        <p:cxnSp>
          <p:nvCxnSpPr>
            <p:cNvPr id="278" name="Google Shape;278;p31"/>
            <p:cNvCxnSpPr/>
            <p:nvPr/>
          </p:nvCxnSpPr>
          <p:spPr>
            <a:xfrm>
              <a:off x="4253" y="393"/>
              <a:ext cx="600" cy="0"/>
            </a:xfrm>
            <a:prstGeom prst="straightConnector1">
              <a:avLst/>
            </a:prstGeom>
            <a:noFill/>
            <a:ln cap="flat" cmpd="sng" w="19050">
              <a:solidFill>
                <a:srgbClr val="000000"/>
              </a:solidFill>
              <a:prstDash val="solid"/>
              <a:miter lim="800000"/>
              <a:headEnd len="sm" w="sm" type="none"/>
              <a:tailEnd len="sm" w="sm" type="none"/>
            </a:ln>
          </p:spPr>
        </p:cxnSp>
      </p:grpSp>
      <p:grpSp>
        <p:nvGrpSpPr>
          <p:cNvPr id="279" name="Google Shape;279;p31"/>
          <p:cNvGrpSpPr/>
          <p:nvPr/>
        </p:nvGrpSpPr>
        <p:grpSpPr>
          <a:xfrm>
            <a:off x="4517512" y="4906761"/>
            <a:ext cx="3135312" cy="267890"/>
            <a:chOff x="3840" y="1826"/>
            <a:chExt cx="2400" cy="300"/>
          </a:xfrm>
        </p:grpSpPr>
        <p:cxnSp>
          <p:nvCxnSpPr>
            <p:cNvPr id="280" name="Google Shape;280;p31"/>
            <p:cNvCxnSpPr>
              <a:stCxn id="281" idx="3"/>
              <a:endCxn id="282" idx="1"/>
            </p:cNvCxnSpPr>
            <p:nvPr/>
          </p:nvCxnSpPr>
          <p:spPr>
            <a:xfrm>
              <a:off x="4140" y="1976"/>
              <a:ext cx="2100" cy="0"/>
            </a:xfrm>
            <a:prstGeom prst="straightConnector1">
              <a:avLst/>
            </a:prstGeom>
            <a:noFill/>
            <a:ln cap="flat" cmpd="sng" w="19050">
              <a:solidFill>
                <a:srgbClr val="000000"/>
              </a:solidFill>
              <a:prstDash val="solid"/>
              <a:miter lim="800000"/>
              <a:headEnd len="sm" w="sm" type="none"/>
              <a:tailEnd len="sm" w="sm" type="none"/>
            </a:ln>
          </p:spPr>
        </p:cxnSp>
        <p:sp>
          <p:nvSpPr>
            <p:cNvPr id="281" name="Google Shape;281;p31"/>
            <p:cNvSpPr/>
            <p:nvPr/>
          </p:nvSpPr>
          <p:spPr>
            <a:xfrm>
              <a:off x="3840" y="1826"/>
              <a:ext cx="300" cy="300"/>
            </a:xfrm>
            <a:prstGeom prst="diamond">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ahoma"/>
                <a:ea typeface="Tahoma"/>
                <a:cs typeface="Tahoma"/>
                <a:sym typeface="Tahoma"/>
              </a:endParaRPr>
            </a:p>
          </p:txBody>
        </p:sp>
      </p:grpSp>
      <p:sp>
        <p:nvSpPr>
          <p:cNvPr id="282" name="Google Shape;282;p31"/>
          <p:cNvSpPr txBox="1"/>
          <p:nvPr/>
        </p:nvSpPr>
        <p:spPr>
          <a:xfrm>
            <a:off x="7674499" y="4802576"/>
            <a:ext cx="952500" cy="476100"/>
          </a:xfrm>
          <a:prstGeom prst="rect">
            <a:avLst/>
          </a:prstGeom>
          <a:noFill/>
          <a:ln cap="flat" cmpd="sng" w="19050">
            <a:solidFill>
              <a:srgbClr val="000000"/>
            </a:solidFill>
            <a:prstDash val="solid"/>
            <a:miter lim="800000"/>
            <a:headEnd len="sm" w="sm" type="none"/>
            <a:tailEnd len="sm" w="sm" type="none"/>
          </a:ln>
        </p:spPr>
        <p:txBody>
          <a:bodyPr anchorCtr="0" anchor="t" bIns="44450" lIns="90475" spcFirstLastPara="1" rIns="90475" wrap="square" tIns="44450">
            <a:noAutofit/>
          </a:bodyPr>
          <a:lstStyle/>
          <a:p>
            <a:pPr indent="-342900" lvl="0" marL="34290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Engine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Aggregation Relationship</a:t>
            </a:r>
            <a:endParaRPr b="1" sz="3300">
              <a:latin typeface="Lexend"/>
              <a:ea typeface="Lexend"/>
              <a:cs typeface="Lexend"/>
              <a:sym typeface="Lexend"/>
            </a:endParaRPr>
          </a:p>
        </p:txBody>
      </p:sp>
      <p:pic>
        <p:nvPicPr>
          <p:cNvPr id="288" name="Google Shape;288;p32"/>
          <p:cNvPicPr preferRelativeResize="0"/>
          <p:nvPr/>
        </p:nvPicPr>
        <p:blipFill rotWithShape="1">
          <a:blip r:embed="rId3">
            <a:alphaModFix/>
          </a:blip>
          <a:srcRect b="0" l="0" r="0" t="0"/>
          <a:stretch/>
        </p:blipFill>
        <p:spPr>
          <a:xfrm>
            <a:off x="1032500" y="1690829"/>
            <a:ext cx="9144002" cy="450384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Composition </a:t>
            </a:r>
            <a:r>
              <a:rPr b="1" lang="en-US" sz="3300">
                <a:latin typeface="Lexend"/>
                <a:ea typeface="Lexend"/>
                <a:cs typeface="Lexend"/>
                <a:sym typeface="Lexend"/>
              </a:rPr>
              <a:t>Relationship</a:t>
            </a:r>
            <a:endParaRPr b="1" sz="3300">
              <a:latin typeface="Lexend"/>
              <a:ea typeface="Lexend"/>
              <a:cs typeface="Lexend"/>
              <a:sym typeface="Lexend"/>
            </a:endParaRPr>
          </a:p>
        </p:txBody>
      </p:sp>
      <p:sp>
        <p:nvSpPr>
          <p:cNvPr id="294" name="Google Shape;294;p33"/>
          <p:cNvSpPr txBox="1"/>
          <p:nvPr>
            <p:ph idx="1" type="body"/>
          </p:nvPr>
        </p:nvSpPr>
        <p:spPr>
          <a:xfrm>
            <a:off x="838200" y="1825625"/>
            <a:ext cx="10515600" cy="2928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300"/>
              <a:t>A composition indicates a strong ownership and coincident lifetime of parts by the whole. </a:t>
            </a:r>
            <a:endParaRPr sz="2300"/>
          </a:p>
          <a:p>
            <a:pPr indent="0" lvl="0" marL="0" rtl="0" algn="l">
              <a:spcBef>
                <a:spcPts val="0"/>
              </a:spcBef>
              <a:spcAft>
                <a:spcPts val="0"/>
              </a:spcAft>
              <a:buNone/>
            </a:pPr>
            <a:r>
              <a:t/>
            </a:r>
            <a:endParaRPr sz="2300"/>
          </a:p>
          <a:p>
            <a:pPr indent="-374650" lvl="0" marL="457200" rtl="0" algn="l">
              <a:spcBef>
                <a:spcPts val="0"/>
              </a:spcBef>
              <a:spcAft>
                <a:spcPts val="0"/>
              </a:spcAft>
              <a:buSzPts val="2300"/>
              <a:buChar char="•"/>
            </a:pPr>
            <a:r>
              <a:rPr lang="en-US" sz="2300"/>
              <a:t>Represented  by a </a:t>
            </a:r>
            <a:r>
              <a:rPr lang="en-US" sz="2300"/>
              <a:t>"is entirely made of" relationship</a:t>
            </a:r>
            <a:endParaRPr sz="2300"/>
          </a:p>
          <a:p>
            <a:pPr indent="-374650" lvl="0" marL="457200" rtl="0" algn="l">
              <a:spcBef>
                <a:spcPts val="0"/>
              </a:spcBef>
              <a:spcAft>
                <a:spcPts val="0"/>
              </a:spcAft>
              <a:buSzPts val="2300"/>
              <a:buChar char="•"/>
            </a:pPr>
            <a:r>
              <a:rPr lang="en-US" sz="2300"/>
              <a:t>stronger version of aggregation</a:t>
            </a:r>
            <a:endParaRPr sz="2300"/>
          </a:p>
          <a:p>
            <a:pPr indent="-374650" lvl="0" marL="457200" rtl="0" algn="l">
              <a:spcBef>
                <a:spcPts val="0"/>
              </a:spcBef>
              <a:spcAft>
                <a:spcPts val="0"/>
              </a:spcAft>
              <a:buSzPts val="2300"/>
              <a:buChar char="•"/>
            </a:pPr>
            <a:r>
              <a:rPr lang="en-US" sz="2300"/>
              <a:t>the parts live and die with the whole</a:t>
            </a:r>
            <a:endParaRPr sz="2300"/>
          </a:p>
          <a:p>
            <a:pPr indent="-374650" lvl="0" marL="457200" rtl="0" algn="l">
              <a:spcBef>
                <a:spcPts val="0"/>
              </a:spcBef>
              <a:spcAft>
                <a:spcPts val="0"/>
              </a:spcAft>
              <a:buSzPts val="2300"/>
              <a:buChar char="•"/>
            </a:pPr>
            <a:r>
              <a:rPr lang="en-US" sz="2300"/>
              <a:t>symbolized by a black diamond</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t/>
            </a:r>
            <a:endParaRPr/>
          </a:p>
        </p:txBody>
      </p:sp>
      <p:sp>
        <p:nvSpPr>
          <p:cNvPr id="295" name="Google Shape;295;p33"/>
          <p:cNvSpPr/>
          <p:nvPr/>
        </p:nvSpPr>
        <p:spPr>
          <a:xfrm>
            <a:off x="3145225" y="4331875"/>
            <a:ext cx="1137900" cy="23622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Window</a:t>
            </a:r>
            <a:endParaRPr b="0" i="0" sz="1400" u="none" cap="none" strike="noStrike">
              <a:solidFill>
                <a:srgbClr val="000000"/>
              </a:solidFill>
              <a:latin typeface="Arial"/>
              <a:ea typeface="Arial"/>
              <a:cs typeface="Arial"/>
              <a:sym typeface="Arial"/>
            </a:endParaRPr>
          </a:p>
        </p:txBody>
      </p:sp>
      <p:grpSp>
        <p:nvGrpSpPr>
          <p:cNvPr id="296" name="Google Shape;296;p33"/>
          <p:cNvGrpSpPr/>
          <p:nvPr/>
        </p:nvGrpSpPr>
        <p:grpSpPr>
          <a:xfrm>
            <a:off x="4339175" y="4217250"/>
            <a:ext cx="4707601" cy="476250"/>
            <a:chOff x="1824" y="2760"/>
            <a:chExt cx="3528" cy="300"/>
          </a:xfrm>
        </p:grpSpPr>
        <p:grpSp>
          <p:nvGrpSpPr>
            <p:cNvPr id="297" name="Google Shape;297;p33"/>
            <p:cNvGrpSpPr/>
            <p:nvPr/>
          </p:nvGrpSpPr>
          <p:grpSpPr>
            <a:xfrm>
              <a:off x="1824" y="2930"/>
              <a:ext cx="1875" cy="110"/>
              <a:chOff x="1920" y="2736"/>
              <a:chExt cx="1692" cy="96"/>
            </a:xfrm>
          </p:grpSpPr>
          <p:cxnSp>
            <p:nvCxnSpPr>
              <p:cNvPr id="298" name="Google Shape;298;p33"/>
              <p:cNvCxnSpPr/>
              <p:nvPr/>
            </p:nvCxnSpPr>
            <p:spPr>
              <a:xfrm>
                <a:off x="2112" y="2784"/>
                <a:ext cx="1500" cy="0"/>
              </a:xfrm>
              <a:prstGeom prst="straightConnector1">
                <a:avLst/>
              </a:prstGeom>
              <a:noFill/>
              <a:ln cap="flat" cmpd="sng" w="28575">
                <a:solidFill>
                  <a:srgbClr val="000000"/>
                </a:solidFill>
                <a:prstDash val="solid"/>
                <a:round/>
                <a:headEnd len="sm" w="sm" type="none"/>
                <a:tailEnd len="sm" w="sm" type="none"/>
              </a:ln>
            </p:spPr>
          </p:cxnSp>
          <p:sp>
            <p:nvSpPr>
              <p:cNvPr id="299" name="Google Shape;299;p33"/>
              <p:cNvSpPr/>
              <p:nvPr/>
            </p:nvSpPr>
            <p:spPr>
              <a:xfrm>
                <a:off x="1920" y="2736"/>
                <a:ext cx="192" cy="96"/>
              </a:xfrm>
              <a:custGeom>
                <a:rect b="b" l="l" r="r" t="t"/>
                <a:pathLst>
                  <a:path extrusionOk="0" h="96" w="192">
                    <a:moveTo>
                      <a:pt x="0" y="48"/>
                    </a:moveTo>
                    <a:lnTo>
                      <a:pt x="96" y="0"/>
                    </a:lnTo>
                    <a:lnTo>
                      <a:pt x="192" y="48"/>
                    </a:lnTo>
                    <a:lnTo>
                      <a:pt x="96" y="96"/>
                    </a:lnTo>
                    <a:lnTo>
                      <a:pt x="0" y="48"/>
                    </a:lnTo>
                    <a:close/>
                  </a:path>
                </a:pathLst>
              </a:custGeom>
              <a:solidFill>
                <a:srgbClr val="000000"/>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grpSp>
        <p:sp>
          <p:nvSpPr>
            <p:cNvPr id="300" name="Google Shape;300;p33"/>
            <p:cNvSpPr/>
            <p:nvPr/>
          </p:nvSpPr>
          <p:spPr>
            <a:xfrm>
              <a:off x="3552" y="2760"/>
              <a:ext cx="1800" cy="3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Scrollbar</a:t>
              </a:r>
              <a:endParaRPr b="0" i="0" sz="1400" u="none" cap="none" strike="noStrike">
                <a:solidFill>
                  <a:srgbClr val="000000"/>
                </a:solidFill>
                <a:latin typeface="Arial"/>
                <a:ea typeface="Arial"/>
                <a:cs typeface="Arial"/>
                <a:sym typeface="Arial"/>
              </a:endParaRPr>
            </a:p>
          </p:txBody>
        </p:sp>
      </p:grpSp>
      <p:grpSp>
        <p:nvGrpSpPr>
          <p:cNvPr id="301" name="Google Shape;301;p33"/>
          <p:cNvGrpSpPr/>
          <p:nvPr/>
        </p:nvGrpSpPr>
        <p:grpSpPr>
          <a:xfrm>
            <a:off x="4339175" y="5055450"/>
            <a:ext cx="4707601" cy="476250"/>
            <a:chOff x="1824" y="2760"/>
            <a:chExt cx="3528" cy="300"/>
          </a:xfrm>
        </p:grpSpPr>
        <p:grpSp>
          <p:nvGrpSpPr>
            <p:cNvPr id="302" name="Google Shape;302;p33"/>
            <p:cNvGrpSpPr/>
            <p:nvPr/>
          </p:nvGrpSpPr>
          <p:grpSpPr>
            <a:xfrm>
              <a:off x="1824" y="2930"/>
              <a:ext cx="1875" cy="110"/>
              <a:chOff x="1920" y="2736"/>
              <a:chExt cx="1692" cy="96"/>
            </a:xfrm>
          </p:grpSpPr>
          <p:cxnSp>
            <p:nvCxnSpPr>
              <p:cNvPr id="303" name="Google Shape;303;p33"/>
              <p:cNvCxnSpPr/>
              <p:nvPr/>
            </p:nvCxnSpPr>
            <p:spPr>
              <a:xfrm>
                <a:off x="2112" y="2784"/>
                <a:ext cx="1500" cy="0"/>
              </a:xfrm>
              <a:prstGeom prst="straightConnector1">
                <a:avLst/>
              </a:prstGeom>
              <a:noFill/>
              <a:ln cap="flat" cmpd="sng" w="28575">
                <a:solidFill>
                  <a:srgbClr val="000000"/>
                </a:solidFill>
                <a:prstDash val="solid"/>
                <a:round/>
                <a:headEnd len="sm" w="sm" type="none"/>
                <a:tailEnd len="sm" w="sm" type="none"/>
              </a:ln>
            </p:spPr>
          </p:cxnSp>
          <p:sp>
            <p:nvSpPr>
              <p:cNvPr id="304" name="Google Shape;304;p33"/>
              <p:cNvSpPr/>
              <p:nvPr/>
            </p:nvSpPr>
            <p:spPr>
              <a:xfrm>
                <a:off x="1920" y="2736"/>
                <a:ext cx="192" cy="96"/>
              </a:xfrm>
              <a:custGeom>
                <a:rect b="b" l="l" r="r" t="t"/>
                <a:pathLst>
                  <a:path extrusionOk="0" h="96" w="192">
                    <a:moveTo>
                      <a:pt x="0" y="48"/>
                    </a:moveTo>
                    <a:lnTo>
                      <a:pt x="96" y="0"/>
                    </a:lnTo>
                    <a:lnTo>
                      <a:pt x="192" y="48"/>
                    </a:lnTo>
                    <a:lnTo>
                      <a:pt x="96" y="96"/>
                    </a:lnTo>
                    <a:lnTo>
                      <a:pt x="0" y="48"/>
                    </a:lnTo>
                    <a:close/>
                  </a:path>
                </a:pathLst>
              </a:custGeom>
              <a:solidFill>
                <a:srgbClr val="000000"/>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grpSp>
        <p:sp>
          <p:nvSpPr>
            <p:cNvPr id="305" name="Google Shape;305;p33"/>
            <p:cNvSpPr/>
            <p:nvPr/>
          </p:nvSpPr>
          <p:spPr>
            <a:xfrm>
              <a:off x="3552" y="2760"/>
              <a:ext cx="1800" cy="3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Titlebar</a:t>
              </a:r>
              <a:endParaRPr b="0" i="0" sz="1400" u="none" cap="none" strike="noStrike">
                <a:solidFill>
                  <a:srgbClr val="000000"/>
                </a:solidFill>
                <a:latin typeface="Arial"/>
                <a:ea typeface="Arial"/>
                <a:cs typeface="Arial"/>
                <a:sym typeface="Arial"/>
              </a:endParaRPr>
            </a:p>
          </p:txBody>
        </p:sp>
      </p:grpSp>
      <p:grpSp>
        <p:nvGrpSpPr>
          <p:cNvPr id="306" name="Google Shape;306;p33"/>
          <p:cNvGrpSpPr/>
          <p:nvPr/>
        </p:nvGrpSpPr>
        <p:grpSpPr>
          <a:xfrm>
            <a:off x="4339175" y="5893650"/>
            <a:ext cx="4707601" cy="476250"/>
            <a:chOff x="1824" y="2760"/>
            <a:chExt cx="3528" cy="300"/>
          </a:xfrm>
        </p:grpSpPr>
        <p:grpSp>
          <p:nvGrpSpPr>
            <p:cNvPr id="307" name="Google Shape;307;p33"/>
            <p:cNvGrpSpPr/>
            <p:nvPr/>
          </p:nvGrpSpPr>
          <p:grpSpPr>
            <a:xfrm>
              <a:off x="1824" y="2930"/>
              <a:ext cx="1875" cy="110"/>
              <a:chOff x="1920" y="2736"/>
              <a:chExt cx="1692" cy="96"/>
            </a:xfrm>
          </p:grpSpPr>
          <p:cxnSp>
            <p:nvCxnSpPr>
              <p:cNvPr id="308" name="Google Shape;308;p33"/>
              <p:cNvCxnSpPr/>
              <p:nvPr/>
            </p:nvCxnSpPr>
            <p:spPr>
              <a:xfrm>
                <a:off x="2112" y="2784"/>
                <a:ext cx="1500" cy="0"/>
              </a:xfrm>
              <a:prstGeom prst="straightConnector1">
                <a:avLst/>
              </a:prstGeom>
              <a:noFill/>
              <a:ln cap="flat" cmpd="sng" w="28575">
                <a:solidFill>
                  <a:srgbClr val="000000"/>
                </a:solidFill>
                <a:prstDash val="solid"/>
                <a:round/>
                <a:headEnd len="sm" w="sm" type="none"/>
                <a:tailEnd len="sm" w="sm" type="none"/>
              </a:ln>
            </p:spPr>
          </p:cxnSp>
          <p:sp>
            <p:nvSpPr>
              <p:cNvPr id="309" name="Google Shape;309;p33"/>
              <p:cNvSpPr/>
              <p:nvPr/>
            </p:nvSpPr>
            <p:spPr>
              <a:xfrm>
                <a:off x="1920" y="2736"/>
                <a:ext cx="192" cy="96"/>
              </a:xfrm>
              <a:custGeom>
                <a:rect b="b" l="l" r="r" t="t"/>
                <a:pathLst>
                  <a:path extrusionOk="0" h="96" w="192">
                    <a:moveTo>
                      <a:pt x="0" y="48"/>
                    </a:moveTo>
                    <a:lnTo>
                      <a:pt x="96" y="0"/>
                    </a:lnTo>
                    <a:lnTo>
                      <a:pt x="192" y="48"/>
                    </a:lnTo>
                    <a:lnTo>
                      <a:pt x="96" y="96"/>
                    </a:lnTo>
                    <a:lnTo>
                      <a:pt x="0" y="48"/>
                    </a:lnTo>
                    <a:close/>
                  </a:path>
                </a:pathLst>
              </a:custGeom>
              <a:solidFill>
                <a:srgbClr val="000000"/>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grpSp>
        <p:sp>
          <p:nvSpPr>
            <p:cNvPr id="310" name="Google Shape;310;p33"/>
            <p:cNvSpPr/>
            <p:nvPr/>
          </p:nvSpPr>
          <p:spPr>
            <a:xfrm>
              <a:off x="3552" y="2760"/>
              <a:ext cx="1800" cy="3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Menu</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Composition Relationship</a:t>
            </a:r>
            <a:endParaRPr b="1" sz="3300">
              <a:latin typeface="Lexend"/>
              <a:ea typeface="Lexend"/>
              <a:cs typeface="Lexend"/>
              <a:sym typeface="Lexend"/>
            </a:endParaRPr>
          </a:p>
        </p:txBody>
      </p:sp>
      <p:pic>
        <p:nvPicPr>
          <p:cNvPr id="316" name="Google Shape;316;p34"/>
          <p:cNvPicPr preferRelativeResize="0"/>
          <p:nvPr/>
        </p:nvPicPr>
        <p:blipFill rotWithShape="1">
          <a:blip r:embed="rId3">
            <a:alphaModFix/>
          </a:blip>
          <a:srcRect b="0" l="0" r="0" t="0"/>
          <a:stretch/>
        </p:blipFill>
        <p:spPr>
          <a:xfrm>
            <a:off x="838200" y="1690825"/>
            <a:ext cx="9143999" cy="447954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Generalization </a:t>
            </a:r>
            <a:r>
              <a:rPr b="1" lang="en-US" sz="3300">
                <a:latin typeface="Lexend"/>
                <a:ea typeface="Lexend"/>
                <a:cs typeface="Lexend"/>
                <a:sym typeface="Lexend"/>
              </a:rPr>
              <a:t>Relationship</a:t>
            </a:r>
            <a:endParaRPr b="1" sz="3300">
              <a:latin typeface="Lexend"/>
              <a:ea typeface="Lexend"/>
              <a:cs typeface="Lexend"/>
              <a:sym typeface="Lexend"/>
            </a:endParaRPr>
          </a:p>
        </p:txBody>
      </p:sp>
      <p:sp>
        <p:nvSpPr>
          <p:cNvPr id="322" name="Google Shape;322;p35"/>
          <p:cNvSpPr txBox="1"/>
          <p:nvPr>
            <p:ph idx="1" type="body"/>
          </p:nvPr>
        </p:nvSpPr>
        <p:spPr>
          <a:xfrm>
            <a:off x="838200" y="1825625"/>
            <a:ext cx="10515600" cy="248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 generalization connects a subclass to its superclass. It denotes an </a:t>
            </a:r>
            <a:endParaRPr/>
          </a:p>
          <a:p>
            <a:pPr indent="0" lvl="0" marL="0" rtl="0" algn="l">
              <a:spcBef>
                <a:spcPts val="0"/>
              </a:spcBef>
              <a:spcAft>
                <a:spcPts val="0"/>
              </a:spcAft>
              <a:buNone/>
            </a:pPr>
            <a:r>
              <a:rPr lang="en-US"/>
              <a:t>inheritance of attributes and behavior from the superclass to the subclass and indicates a specialization in the subclass</a:t>
            </a:r>
            <a:endParaRPr/>
          </a:p>
          <a:p>
            <a:pPr indent="0" lvl="0" marL="0" rtl="0" algn="l">
              <a:spcBef>
                <a:spcPts val="0"/>
              </a:spcBef>
              <a:spcAft>
                <a:spcPts val="0"/>
              </a:spcAft>
              <a:buNone/>
            </a:pPr>
            <a:r>
              <a:rPr lang="en-US"/>
              <a:t>of the more general superclass.</a:t>
            </a:r>
            <a:endParaRPr/>
          </a:p>
          <a:p>
            <a:pPr indent="-406400" lvl="0" marL="457200" rtl="0" algn="l">
              <a:spcBef>
                <a:spcPts val="0"/>
              </a:spcBef>
              <a:spcAft>
                <a:spcPts val="0"/>
              </a:spcAft>
              <a:buSzPts val="2800"/>
              <a:buChar char="•"/>
            </a:pPr>
            <a:r>
              <a:rPr lang="en-US"/>
              <a:t>Represented by a-kind-of relationship</a:t>
            </a:r>
            <a:endParaRPr/>
          </a:p>
          <a:p>
            <a:pPr indent="-406400" lvl="0" marL="457200" rtl="0" algn="l">
              <a:spcBef>
                <a:spcPts val="0"/>
              </a:spcBef>
              <a:spcAft>
                <a:spcPts val="0"/>
              </a:spcAft>
              <a:buSzPts val="2800"/>
              <a:buChar char="•"/>
            </a:pPr>
            <a:r>
              <a:rPr lang="en-US"/>
              <a:t>Dog is a kind of Animal</a:t>
            </a:r>
            <a:endParaRPr/>
          </a:p>
          <a:p>
            <a:pPr indent="0" lvl="0" marL="0" rtl="0" algn="l">
              <a:spcBef>
                <a:spcPts val="0"/>
              </a:spcBef>
              <a:spcAft>
                <a:spcPts val="0"/>
              </a:spcAft>
              <a:buNone/>
            </a:pPr>
            <a:r>
              <a:t/>
            </a:r>
            <a:endParaRPr sz="2300"/>
          </a:p>
        </p:txBody>
      </p:sp>
      <p:sp>
        <p:nvSpPr>
          <p:cNvPr id="323" name="Google Shape;323;p35"/>
          <p:cNvSpPr/>
          <p:nvPr/>
        </p:nvSpPr>
        <p:spPr>
          <a:xfrm>
            <a:off x="1888350" y="5018700"/>
            <a:ext cx="2438400" cy="7620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500">
                <a:latin typeface="Calibri"/>
                <a:ea typeface="Calibri"/>
                <a:cs typeface="Calibri"/>
                <a:sym typeface="Calibri"/>
              </a:rPr>
              <a:t>Animal</a:t>
            </a:r>
            <a:endParaRPr i="0" sz="2100" u="none" cap="none" strike="noStrike">
              <a:solidFill>
                <a:srgbClr val="000000"/>
              </a:solidFill>
              <a:latin typeface="Calibri"/>
              <a:ea typeface="Calibri"/>
              <a:cs typeface="Calibri"/>
              <a:sym typeface="Calibri"/>
            </a:endParaRPr>
          </a:p>
        </p:txBody>
      </p:sp>
      <p:sp>
        <p:nvSpPr>
          <p:cNvPr id="324" name="Google Shape;324;p35"/>
          <p:cNvSpPr/>
          <p:nvPr/>
        </p:nvSpPr>
        <p:spPr>
          <a:xfrm>
            <a:off x="7865225" y="5018700"/>
            <a:ext cx="2438400" cy="7620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500">
                <a:latin typeface="Calibri"/>
                <a:ea typeface="Calibri"/>
                <a:cs typeface="Calibri"/>
                <a:sym typeface="Calibri"/>
              </a:rPr>
              <a:t>Dog</a:t>
            </a:r>
            <a:endParaRPr i="0" sz="2100" u="none" cap="none" strike="noStrike">
              <a:solidFill>
                <a:srgbClr val="000000"/>
              </a:solidFill>
              <a:latin typeface="Calibri"/>
              <a:ea typeface="Calibri"/>
              <a:cs typeface="Calibri"/>
              <a:sym typeface="Calibri"/>
            </a:endParaRPr>
          </a:p>
        </p:txBody>
      </p:sp>
      <p:sp>
        <p:nvSpPr>
          <p:cNvPr id="325" name="Google Shape;325;p35"/>
          <p:cNvSpPr/>
          <p:nvPr/>
        </p:nvSpPr>
        <p:spPr>
          <a:xfrm rot="-5400000">
            <a:off x="4307898" y="5169348"/>
            <a:ext cx="418719" cy="381000"/>
          </a:xfrm>
          <a:custGeom>
            <a:rect b="b" l="l" r="r" t="t"/>
            <a:pathLst>
              <a:path extrusionOk="0" h="240" w="336">
                <a:moveTo>
                  <a:pt x="144" y="0"/>
                </a:moveTo>
                <a:lnTo>
                  <a:pt x="0" y="240"/>
                </a:lnTo>
                <a:lnTo>
                  <a:pt x="336" y="240"/>
                </a:lnTo>
                <a:lnTo>
                  <a:pt x="144" y="0"/>
                </a:lnTo>
                <a:close/>
              </a:path>
            </a:pathLst>
          </a:custGeom>
          <a:solidFill>
            <a:srgbClr val="FFFFFF"/>
          </a:solidFill>
          <a:ln cap="flat" cmpd="sng" w="1905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cxnSp>
        <p:nvCxnSpPr>
          <p:cNvPr id="326" name="Google Shape;326;p35"/>
          <p:cNvCxnSpPr>
            <a:endCxn id="324" idx="1"/>
          </p:cNvCxnSpPr>
          <p:nvPr/>
        </p:nvCxnSpPr>
        <p:spPr>
          <a:xfrm>
            <a:off x="4706225" y="5360400"/>
            <a:ext cx="3159000" cy="393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Generalization Relationship</a:t>
            </a:r>
            <a:endParaRPr b="1" sz="3300">
              <a:latin typeface="Lexend"/>
              <a:ea typeface="Lexend"/>
              <a:cs typeface="Lexend"/>
              <a:sym typeface="Lexend"/>
            </a:endParaRPr>
          </a:p>
        </p:txBody>
      </p:sp>
      <p:sp>
        <p:nvSpPr>
          <p:cNvPr id="332" name="Google Shape;332;p36"/>
          <p:cNvSpPr txBox="1"/>
          <p:nvPr>
            <p:ph idx="1" type="body"/>
          </p:nvPr>
        </p:nvSpPr>
        <p:spPr>
          <a:xfrm>
            <a:off x="838200" y="1825625"/>
            <a:ext cx="10515600" cy="1258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UML permits a class to inherit from multiple superclasses, although some programming languages (e.g., Java) do not permit multiple inheritance. </a:t>
            </a:r>
            <a:endParaRPr/>
          </a:p>
          <a:p>
            <a:pPr indent="0" lvl="0" marL="0" rtl="0" algn="l">
              <a:spcBef>
                <a:spcPts val="0"/>
              </a:spcBef>
              <a:spcAft>
                <a:spcPts val="0"/>
              </a:spcAft>
              <a:buNone/>
            </a:pPr>
            <a:r>
              <a:t/>
            </a:r>
            <a:endParaRPr/>
          </a:p>
        </p:txBody>
      </p:sp>
      <p:sp>
        <p:nvSpPr>
          <p:cNvPr id="333" name="Google Shape;333;p36"/>
          <p:cNvSpPr/>
          <p:nvPr/>
        </p:nvSpPr>
        <p:spPr>
          <a:xfrm>
            <a:off x="940675" y="3417350"/>
            <a:ext cx="1791600" cy="559800"/>
          </a:xfrm>
          <a:prstGeom prst="rect">
            <a:avLst/>
          </a:prstGeom>
          <a:solidFill>
            <a:schemeClr val="lt1"/>
          </a:solidFill>
          <a:ln cap="flat" cmpd="sng" w="7000">
            <a:solidFill>
              <a:srgbClr val="000000"/>
            </a:solidFill>
            <a:prstDash val="solid"/>
            <a:miter lim="800000"/>
            <a:headEnd len="sm" w="sm" type="none"/>
            <a:tailEnd len="sm" w="sm" type="none"/>
          </a:ln>
        </p:spPr>
        <p:txBody>
          <a:bodyPr anchorCtr="0" anchor="ctr" bIns="33575" lIns="67175" spcFirstLastPara="1" rIns="67175" wrap="square" tIns="33575">
            <a:noAutofit/>
          </a:bodyPr>
          <a:lstStyle/>
          <a:p>
            <a:pPr indent="0" lvl="0" marL="0" marR="0" rtl="0" algn="ctr">
              <a:lnSpc>
                <a:spcPct val="100000"/>
              </a:lnSpc>
              <a:spcBef>
                <a:spcPts val="0"/>
              </a:spcBef>
              <a:spcAft>
                <a:spcPts val="0"/>
              </a:spcAft>
              <a:buClr>
                <a:srgbClr val="000000"/>
              </a:buClr>
              <a:buSzPts val="1323"/>
              <a:buFont typeface="Arial"/>
              <a:buNone/>
            </a:pPr>
            <a:r>
              <a:rPr i="0" lang="en-US" sz="2223" u="none" cap="none" strike="noStrike">
                <a:solidFill>
                  <a:srgbClr val="000000"/>
                </a:solidFill>
                <a:latin typeface="Calibri"/>
                <a:ea typeface="Calibri"/>
                <a:cs typeface="Calibri"/>
                <a:sym typeface="Calibri"/>
              </a:rPr>
              <a:t>Student</a:t>
            </a:r>
            <a:endParaRPr i="0" sz="1929" u="none" cap="none" strike="noStrike">
              <a:solidFill>
                <a:srgbClr val="000000"/>
              </a:solidFill>
              <a:latin typeface="Calibri"/>
              <a:ea typeface="Calibri"/>
              <a:cs typeface="Calibri"/>
              <a:sym typeface="Calibri"/>
            </a:endParaRPr>
          </a:p>
        </p:txBody>
      </p:sp>
      <p:sp>
        <p:nvSpPr>
          <p:cNvPr id="334" name="Google Shape;334;p36"/>
          <p:cNvSpPr/>
          <p:nvPr/>
        </p:nvSpPr>
        <p:spPr>
          <a:xfrm>
            <a:off x="1990439" y="5329903"/>
            <a:ext cx="2239500" cy="559800"/>
          </a:xfrm>
          <a:prstGeom prst="rect">
            <a:avLst/>
          </a:prstGeom>
          <a:solidFill>
            <a:schemeClr val="lt1"/>
          </a:solidFill>
          <a:ln cap="flat" cmpd="sng" w="7000">
            <a:solidFill>
              <a:srgbClr val="000000"/>
            </a:solidFill>
            <a:prstDash val="solid"/>
            <a:miter lim="800000"/>
            <a:headEnd len="sm" w="sm" type="none"/>
            <a:tailEnd len="sm" w="sm" type="none"/>
          </a:ln>
        </p:spPr>
        <p:txBody>
          <a:bodyPr anchorCtr="0" anchor="ctr" bIns="33575" lIns="67175" spcFirstLastPara="1" rIns="67175" wrap="square" tIns="33575">
            <a:noAutofit/>
          </a:bodyPr>
          <a:lstStyle/>
          <a:p>
            <a:pPr indent="0" lvl="0" marL="0" marR="0" rtl="0" algn="ctr">
              <a:lnSpc>
                <a:spcPct val="100000"/>
              </a:lnSpc>
              <a:spcBef>
                <a:spcPts val="0"/>
              </a:spcBef>
              <a:spcAft>
                <a:spcPts val="0"/>
              </a:spcAft>
              <a:buClr>
                <a:srgbClr val="000000"/>
              </a:buClr>
              <a:buSzPts val="1323"/>
              <a:buFont typeface="Arial"/>
              <a:buNone/>
            </a:pPr>
            <a:r>
              <a:rPr i="0" lang="en-US" sz="2200" u="none" cap="none" strike="noStrike">
                <a:solidFill>
                  <a:srgbClr val="000000"/>
                </a:solidFill>
                <a:latin typeface="Calibri"/>
                <a:ea typeface="Calibri"/>
                <a:cs typeface="Calibri"/>
                <a:sym typeface="Calibri"/>
              </a:rPr>
              <a:t>Teaching Assistant</a:t>
            </a:r>
            <a:endParaRPr i="0" sz="2200" u="none" cap="none" strike="noStrike">
              <a:solidFill>
                <a:srgbClr val="000000"/>
              </a:solidFill>
              <a:latin typeface="Calibri"/>
              <a:ea typeface="Calibri"/>
              <a:cs typeface="Calibri"/>
              <a:sym typeface="Calibri"/>
            </a:endParaRPr>
          </a:p>
        </p:txBody>
      </p:sp>
      <p:sp>
        <p:nvSpPr>
          <p:cNvPr id="335" name="Google Shape;335;p36"/>
          <p:cNvSpPr/>
          <p:nvPr/>
        </p:nvSpPr>
        <p:spPr>
          <a:xfrm>
            <a:off x="3460222" y="3417340"/>
            <a:ext cx="1791600" cy="559800"/>
          </a:xfrm>
          <a:prstGeom prst="rect">
            <a:avLst/>
          </a:prstGeom>
          <a:solidFill>
            <a:schemeClr val="lt1"/>
          </a:solidFill>
          <a:ln cap="flat" cmpd="sng" w="7000">
            <a:solidFill>
              <a:srgbClr val="000000"/>
            </a:solidFill>
            <a:prstDash val="solid"/>
            <a:miter lim="800000"/>
            <a:headEnd len="sm" w="sm" type="none"/>
            <a:tailEnd len="sm" w="sm" type="none"/>
          </a:ln>
        </p:spPr>
        <p:txBody>
          <a:bodyPr anchorCtr="0" anchor="ctr" bIns="33575" lIns="67175" spcFirstLastPara="1" rIns="67175" wrap="square" tIns="33575">
            <a:noAutofit/>
          </a:bodyPr>
          <a:lstStyle/>
          <a:p>
            <a:pPr indent="0" lvl="0" marL="0" marR="0" rtl="0" algn="ctr">
              <a:lnSpc>
                <a:spcPct val="100000"/>
              </a:lnSpc>
              <a:spcBef>
                <a:spcPts val="0"/>
              </a:spcBef>
              <a:spcAft>
                <a:spcPts val="0"/>
              </a:spcAft>
              <a:buClr>
                <a:srgbClr val="000000"/>
              </a:buClr>
              <a:buSzPts val="1323"/>
              <a:buFont typeface="Arial"/>
              <a:buNone/>
            </a:pPr>
            <a:r>
              <a:rPr i="0" lang="en-US" sz="2200" u="none" cap="none" strike="noStrike">
                <a:solidFill>
                  <a:srgbClr val="000000"/>
                </a:solidFill>
                <a:latin typeface="Calibri"/>
                <a:ea typeface="Calibri"/>
                <a:cs typeface="Calibri"/>
                <a:sym typeface="Calibri"/>
              </a:rPr>
              <a:t>Employee</a:t>
            </a:r>
            <a:endParaRPr i="0" sz="2200" u="none" cap="none" strike="noStrike">
              <a:solidFill>
                <a:srgbClr val="000000"/>
              </a:solidFill>
              <a:latin typeface="Calibri"/>
              <a:ea typeface="Calibri"/>
              <a:cs typeface="Calibri"/>
              <a:sym typeface="Calibri"/>
            </a:endParaRPr>
          </a:p>
        </p:txBody>
      </p:sp>
      <p:sp>
        <p:nvSpPr>
          <p:cNvPr id="336" name="Google Shape;336;p36"/>
          <p:cNvSpPr/>
          <p:nvPr/>
        </p:nvSpPr>
        <p:spPr>
          <a:xfrm>
            <a:off x="4076111" y="3977237"/>
            <a:ext cx="307945" cy="292780"/>
          </a:xfrm>
          <a:custGeom>
            <a:rect b="b" l="l" r="r" t="t"/>
            <a:pathLst>
              <a:path extrusionOk="0" h="240" w="336">
                <a:moveTo>
                  <a:pt x="144" y="0"/>
                </a:moveTo>
                <a:lnTo>
                  <a:pt x="0" y="240"/>
                </a:lnTo>
                <a:lnTo>
                  <a:pt x="336" y="240"/>
                </a:lnTo>
                <a:lnTo>
                  <a:pt x="144" y="0"/>
                </a:lnTo>
                <a:close/>
              </a:path>
            </a:pathLst>
          </a:custGeom>
          <a:solidFill>
            <a:srgbClr val="FFFFFF"/>
          </a:solidFill>
          <a:ln cap="flat" cmpd="sng" w="14000">
            <a:solidFill>
              <a:srgbClr val="000000"/>
            </a:solidFill>
            <a:prstDash val="solid"/>
            <a:round/>
            <a:headEnd len="sm" w="sm" type="none"/>
            <a:tailEnd len="sm" w="sm" type="none"/>
          </a:ln>
        </p:spPr>
        <p:txBody>
          <a:bodyPr anchorCtr="0" anchor="ctr" bIns="33575" lIns="67175" spcFirstLastPara="1" rIns="67175" wrap="square" tIns="33575">
            <a:noAutofit/>
          </a:bodyPr>
          <a:lstStyle/>
          <a:p>
            <a:pPr indent="0" lvl="0" marL="0" marR="0" rtl="0" algn="l">
              <a:lnSpc>
                <a:spcPct val="100000"/>
              </a:lnSpc>
              <a:spcBef>
                <a:spcPts val="0"/>
              </a:spcBef>
              <a:spcAft>
                <a:spcPts val="0"/>
              </a:spcAft>
              <a:buClr>
                <a:srgbClr val="000000"/>
              </a:buClr>
              <a:buSzPts val="1323"/>
              <a:buFont typeface="Arial"/>
              <a:buNone/>
            </a:pPr>
            <a:r>
              <a:t/>
            </a:r>
            <a:endParaRPr b="0" i="0" sz="1323" u="none" cap="none" strike="noStrike">
              <a:solidFill>
                <a:srgbClr val="000000"/>
              </a:solidFill>
              <a:latin typeface="Gill Sans"/>
              <a:ea typeface="Gill Sans"/>
              <a:cs typeface="Gill Sans"/>
              <a:sym typeface="Gill Sans"/>
            </a:endParaRPr>
          </a:p>
        </p:txBody>
      </p:sp>
      <p:sp>
        <p:nvSpPr>
          <p:cNvPr id="337" name="Google Shape;337;p36"/>
          <p:cNvSpPr/>
          <p:nvPr/>
        </p:nvSpPr>
        <p:spPr>
          <a:xfrm>
            <a:off x="1682511" y="3977237"/>
            <a:ext cx="307945" cy="292780"/>
          </a:xfrm>
          <a:custGeom>
            <a:rect b="b" l="l" r="r" t="t"/>
            <a:pathLst>
              <a:path extrusionOk="0" h="240" w="336">
                <a:moveTo>
                  <a:pt x="144" y="0"/>
                </a:moveTo>
                <a:lnTo>
                  <a:pt x="0" y="240"/>
                </a:lnTo>
                <a:lnTo>
                  <a:pt x="336" y="240"/>
                </a:lnTo>
                <a:lnTo>
                  <a:pt x="144" y="0"/>
                </a:lnTo>
                <a:close/>
              </a:path>
            </a:pathLst>
          </a:custGeom>
          <a:solidFill>
            <a:srgbClr val="FFFFFF"/>
          </a:solidFill>
          <a:ln cap="flat" cmpd="sng" w="14000">
            <a:solidFill>
              <a:srgbClr val="000000"/>
            </a:solidFill>
            <a:prstDash val="solid"/>
            <a:round/>
            <a:headEnd len="sm" w="sm" type="none"/>
            <a:tailEnd len="sm" w="sm" type="none"/>
          </a:ln>
        </p:spPr>
        <p:txBody>
          <a:bodyPr anchorCtr="0" anchor="ctr" bIns="33575" lIns="67175" spcFirstLastPara="1" rIns="67175" wrap="square" tIns="33575">
            <a:noAutofit/>
          </a:bodyPr>
          <a:lstStyle/>
          <a:p>
            <a:pPr indent="0" lvl="0" marL="0" marR="0" rtl="0" algn="l">
              <a:lnSpc>
                <a:spcPct val="100000"/>
              </a:lnSpc>
              <a:spcBef>
                <a:spcPts val="0"/>
              </a:spcBef>
              <a:spcAft>
                <a:spcPts val="0"/>
              </a:spcAft>
              <a:buClr>
                <a:srgbClr val="000000"/>
              </a:buClr>
              <a:buSzPts val="1323"/>
              <a:buFont typeface="Arial"/>
              <a:buNone/>
            </a:pPr>
            <a:r>
              <a:t/>
            </a:r>
            <a:endParaRPr b="0" i="0" sz="1323" u="none" cap="none" strike="noStrike">
              <a:solidFill>
                <a:srgbClr val="000000"/>
              </a:solidFill>
              <a:latin typeface="Gill Sans"/>
              <a:ea typeface="Gill Sans"/>
              <a:cs typeface="Gill Sans"/>
              <a:sym typeface="Gill Sans"/>
            </a:endParaRPr>
          </a:p>
        </p:txBody>
      </p:sp>
      <p:sp>
        <p:nvSpPr>
          <p:cNvPr id="338" name="Google Shape;338;p36"/>
          <p:cNvSpPr/>
          <p:nvPr/>
        </p:nvSpPr>
        <p:spPr>
          <a:xfrm>
            <a:off x="1826525" y="4252500"/>
            <a:ext cx="2440025" cy="457450"/>
          </a:xfrm>
          <a:custGeom>
            <a:rect b="b" l="l" r="r" t="t"/>
            <a:pathLst>
              <a:path extrusionOk="0" h="18298" w="97601">
                <a:moveTo>
                  <a:pt x="0" y="0"/>
                </a:moveTo>
                <a:lnTo>
                  <a:pt x="0" y="18288"/>
                </a:lnTo>
                <a:lnTo>
                  <a:pt x="97601" y="18298"/>
                </a:lnTo>
                <a:lnTo>
                  <a:pt x="97207" y="1744"/>
                </a:lnTo>
              </a:path>
            </a:pathLst>
          </a:cu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cxnSp>
        <p:nvCxnSpPr>
          <p:cNvPr id="339" name="Google Shape;339;p36"/>
          <p:cNvCxnSpPr>
            <a:stCxn id="334" idx="0"/>
          </p:cNvCxnSpPr>
          <p:nvPr/>
        </p:nvCxnSpPr>
        <p:spPr>
          <a:xfrm rot="10800000">
            <a:off x="3093989" y="4719703"/>
            <a:ext cx="16200" cy="610200"/>
          </a:xfrm>
          <a:prstGeom prst="straightConnector1">
            <a:avLst/>
          </a:prstGeom>
          <a:noFill/>
          <a:ln cap="flat" cmpd="sng" w="9525">
            <a:solidFill>
              <a:schemeClr val="dk2"/>
            </a:solidFill>
            <a:prstDash val="solid"/>
            <a:round/>
            <a:headEnd len="med" w="med" type="none"/>
            <a:tailEnd len="med" w="med" type="none"/>
          </a:ln>
        </p:spPr>
      </p:cxnSp>
      <p:sp>
        <p:nvSpPr>
          <p:cNvPr id="340" name="Google Shape;340;p36"/>
          <p:cNvSpPr/>
          <p:nvPr/>
        </p:nvSpPr>
        <p:spPr>
          <a:xfrm>
            <a:off x="7665614" y="3417350"/>
            <a:ext cx="1715400" cy="553500"/>
          </a:xfrm>
          <a:prstGeom prst="rect">
            <a:avLst/>
          </a:prstGeom>
          <a:solidFill>
            <a:schemeClr val="lt1"/>
          </a:solidFill>
          <a:ln cap="flat" cmpd="sng" w="6925">
            <a:solidFill>
              <a:srgbClr val="000000"/>
            </a:solidFill>
            <a:prstDash val="solid"/>
            <a:miter lim="800000"/>
            <a:headEnd len="sm" w="sm" type="none"/>
            <a:tailEnd len="sm" w="sm" type="none"/>
          </a:ln>
        </p:spPr>
        <p:txBody>
          <a:bodyPr anchorCtr="0" anchor="ctr" bIns="33200" lIns="66400" spcFirstLastPara="1" rIns="66400" wrap="square" tIns="33200">
            <a:noAutofit/>
          </a:bodyPr>
          <a:lstStyle/>
          <a:p>
            <a:pPr indent="0" lvl="0" marL="0" marR="0" rtl="0" algn="ctr">
              <a:lnSpc>
                <a:spcPct val="100000"/>
              </a:lnSpc>
              <a:spcBef>
                <a:spcPts val="0"/>
              </a:spcBef>
              <a:spcAft>
                <a:spcPts val="0"/>
              </a:spcAft>
              <a:buClr>
                <a:srgbClr val="000000"/>
              </a:buClr>
              <a:buSzPts val="1307"/>
              <a:buFont typeface="Arial"/>
              <a:buNone/>
            </a:pPr>
            <a:r>
              <a:rPr lang="en-US" sz="2200">
                <a:latin typeface="Calibri"/>
                <a:ea typeface="Calibri"/>
                <a:cs typeface="Calibri"/>
                <a:sym typeface="Calibri"/>
              </a:rPr>
              <a:t>Person</a:t>
            </a:r>
            <a:endParaRPr i="0" sz="2200" u="none" cap="none" strike="noStrike">
              <a:solidFill>
                <a:srgbClr val="000000"/>
              </a:solidFill>
              <a:latin typeface="Calibri"/>
              <a:ea typeface="Calibri"/>
              <a:cs typeface="Calibri"/>
              <a:sym typeface="Calibri"/>
            </a:endParaRPr>
          </a:p>
        </p:txBody>
      </p:sp>
      <p:sp>
        <p:nvSpPr>
          <p:cNvPr id="341" name="Google Shape;341;p36"/>
          <p:cNvSpPr/>
          <p:nvPr/>
        </p:nvSpPr>
        <p:spPr>
          <a:xfrm>
            <a:off x="6669527" y="4551776"/>
            <a:ext cx="1715400" cy="553500"/>
          </a:xfrm>
          <a:prstGeom prst="rect">
            <a:avLst/>
          </a:prstGeom>
          <a:solidFill>
            <a:schemeClr val="lt1"/>
          </a:solidFill>
          <a:ln cap="flat" cmpd="sng" w="6925">
            <a:solidFill>
              <a:srgbClr val="000000"/>
            </a:solidFill>
            <a:prstDash val="solid"/>
            <a:miter lim="800000"/>
            <a:headEnd len="sm" w="sm" type="none"/>
            <a:tailEnd len="sm" w="sm" type="none"/>
          </a:ln>
        </p:spPr>
        <p:txBody>
          <a:bodyPr anchorCtr="0" anchor="ctr" bIns="33200" lIns="66400" spcFirstLastPara="1" rIns="66400" wrap="square" tIns="33200">
            <a:noAutofit/>
          </a:bodyPr>
          <a:lstStyle/>
          <a:p>
            <a:pPr indent="0" lvl="0" marL="0" marR="0" rtl="0" algn="ctr">
              <a:lnSpc>
                <a:spcPct val="100000"/>
              </a:lnSpc>
              <a:spcBef>
                <a:spcPts val="0"/>
              </a:spcBef>
              <a:spcAft>
                <a:spcPts val="0"/>
              </a:spcAft>
              <a:buClr>
                <a:srgbClr val="000000"/>
              </a:buClr>
              <a:buSzPts val="1307"/>
              <a:buFont typeface="Arial"/>
              <a:buNone/>
            </a:pPr>
            <a:r>
              <a:rPr lang="en-US" sz="2200">
                <a:latin typeface="Gill Sans"/>
                <a:ea typeface="Gill Sans"/>
                <a:cs typeface="Gill Sans"/>
                <a:sym typeface="Gill Sans"/>
              </a:rPr>
              <a:t>Employee</a:t>
            </a:r>
            <a:endParaRPr b="0" i="0" sz="2200" u="none" cap="none" strike="noStrike">
              <a:solidFill>
                <a:srgbClr val="000000"/>
              </a:solidFill>
              <a:latin typeface="Gill Sans"/>
              <a:ea typeface="Gill Sans"/>
              <a:cs typeface="Gill Sans"/>
              <a:sym typeface="Gill Sans"/>
            </a:endParaRPr>
          </a:p>
        </p:txBody>
      </p:sp>
      <p:sp>
        <p:nvSpPr>
          <p:cNvPr id="342" name="Google Shape;342;p36"/>
          <p:cNvSpPr/>
          <p:nvPr/>
        </p:nvSpPr>
        <p:spPr>
          <a:xfrm>
            <a:off x="8827716" y="4551776"/>
            <a:ext cx="1715400" cy="553500"/>
          </a:xfrm>
          <a:prstGeom prst="rect">
            <a:avLst/>
          </a:prstGeom>
          <a:solidFill>
            <a:schemeClr val="lt1"/>
          </a:solidFill>
          <a:ln cap="flat" cmpd="sng" w="6925">
            <a:solidFill>
              <a:srgbClr val="000000"/>
            </a:solidFill>
            <a:prstDash val="solid"/>
            <a:miter lim="800000"/>
            <a:headEnd len="sm" w="sm" type="none"/>
            <a:tailEnd len="sm" w="sm" type="none"/>
          </a:ln>
        </p:spPr>
        <p:txBody>
          <a:bodyPr anchorCtr="0" anchor="ctr" bIns="33200" lIns="66400" spcFirstLastPara="1" rIns="66400" wrap="square" tIns="33200">
            <a:noAutofit/>
          </a:bodyPr>
          <a:lstStyle/>
          <a:p>
            <a:pPr indent="0" lvl="0" marL="0" marR="0" rtl="0" algn="ctr">
              <a:lnSpc>
                <a:spcPct val="100000"/>
              </a:lnSpc>
              <a:spcBef>
                <a:spcPts val="0"/>
              </a:spcBef>
              <a:spcAft>
                <a:spcPts val="0"/>
              </a:spcAft>
              <a:buClr>
                <a:srgbClr val="000000"/>
              </a:buClr>
              <a:buSzPts val="1307"/>
              <a:buFont typeface="Arial"/>
              <a:buNone/>
            </a:pPr>
            <a:r>
              <a:rPr lang="en-US" sz="2200">
                <a:latin typeface="Gill Sans"/>
                <a:ea typeface="Gill Sans"/>
                <a:cs typeface="Gill Sans"/>
                <a:sym typeface="Gill Sans"/>
              </a:rPr>
              <a:t>Customer</a:t>
            </a:r>
            <a:endParaRPr b="0" i="0" sz="2200" u="none" cap="none" strike="noStrike">
              <a:solidFill>
                <a:srgbClr val="000000"/>
              </a:solidFill>
              <a:latin typeface="Gill Sans"/>
              <a:ea typeface="Gill Sans"/>
              <a:cs typeface="Gill Sans"/>
              <a:sym typeface="Gill Sans"/>
            </a:endParaRPr>
          </a:p>
        </p:txBody>
      </p:sp>
      <p:sp>
        <p:nvSpPr>
          <p:cNvPr id="343" name="Google Shape;343;p36"/>
          <p:cNvSpPr/>
          <p:nvPr/>
        </p:nvSpPr>
        <p:spPr>
          <a:xfrm>
            <a:off x="5931125" y="5686193"/>
            <a:ext cx="1217400" cy="553500"/>
          </a:xfrm>
          <a:prstGeom prst="rect">
            <a:avLst/>
          </a:prstGeom>
          <a:solidFill>
            <a:schemeClr val="lt1"/>
          </a:solidFill>
          <a:ln cap="flat" cmpd="sng" w="6925">
            <a:solidFill>
              <a:srgbClr val="000000"/>
            </a:solidFill>
            <a:prstDash val="solid"/>
            <a:miter lim="800000"/>
            <a:headEnd len="sm" w="sm" type="none"/>
            <a:tailEnd len="sm" w="sm" type="none"/>
          </a:ln>
        </p:spPr>
        <p:txBody>
          <a:bodyPr anchorCtr="0" anchor="ctr" bIns="33200" lIns="66400" spcFirstLastPara="1" rIns="66400" wrap="square" tIns="33200">
            <a:noAutofit/>
          </a:bodyPr>
          <a:lstStyle/>
          <a:p>
            <a:pPr indent="0" lvl="0" marL="0" marR="0" rtl="0" algn="ctr">
              <a:lnSpc>
                <a:spcPct val="100000"/>
              </a:lnSpc>
              <a:spcBef>
                <a:spcPts val="0"/>
              </a:spcBef>
              <a:spcAft>
                <a:spcPts val="0"/>
              </a:spcAft>
              <a:buClr>
                <a:srgbClr val="000000"/>
              </a:buClr>
              <a:buSzPts val="1743"/>
              <a:buFont typeface="Arial"/>
              <a:buNone/>
            </a:pPr>
            <a:r>
              <a:rPr lang="en-US" sz="2200">
                <a:latin typeface="Calibri"/>
                <a:ea typeface="Calibri"/>
                <a:cs typeface="Calibri"/>
                <a:sym typeface="Calibri"/>
              </a:rPr>
              <a:t>Manager</a:t>
            </a:r>
            <a:endParaRPr i="0" sz="2200" u="none" cap="none" strike="noStrike">
              <a:solidFill>
                <a:srgbClr val="000000"/>
              </a:solidFill>
              <a:latin typeface="Calibri"/>
              <a:ea typeface="Calibri"/>
              <a:cs typeface="Calibri"/>
              <a:sym typeface="Calibri"/>
            </a:endParaRPr>
          </a:p>
        </p:txBody>
      </p:sp>
      <p:sp>
        <p:nvSpPr>
          <p:cNvPr id="344" name="Google Shape;344;p36"/>
          <p:cNvSpPr/>
          <p:nvPr/>
        </p:nvSpPr>
        <p:spPr>
          <a:xfrm>
            <a:off x="7914619" y="5686193"/>
            <a:ext cx="1217400" cy="553500"/>
          </a:xfrm>
          <a:prstGeom prst="rect">
            <a:avLst/>
          </a:prstGeom>
          <a:solidFill>
            <a:schemeClr val="lt1"/>
          </a:solidFill>
          <a:ln cap="flat" cmpd="sng" w="6925">
            <a:solidFill>
              <a:srgbClr val="000000"/>
            </a:solidFill>
            <a:prstDash val="solid"/>
            <a:miter lim="800000"/>
            <a:headEnd len="sm" w="sm" type="none"/>
            <a:tailEnd len="sm" w="sm" type="none"/>
          </a:ln>
        </p:spPr>
        <p:txBody>
          <a:bodyPr anchorCtr="0" anchor="ctr" bIns="33200" lIns="66400" spcFirstLastPara="1" rIns="66400" wrap="square" tIns="33200">
            <a:noAutofit/>
          </a:bodyPr>
          <a:lstStyle/>
          <a:p>
            <a:pPr indent="0" lvl="0" marL="0" marR="0" rtl="0" algn="ctr">
              <a:lnSpc>
                <a:spcPct val="100000"/>
              </a:lnSpc>
              <a:spcBef>
                <a:spcPts val="0"/>
              </a:spcBef>
              <a:spcAft>
                <a:spcPts val="0"/>
              </a:spcAft>
              <a:buClr>
                <a:srgbClr val="000000"/>
              </a:buClr>
              <a:buSzPts val="1307"/>
              <a:buFont typeface="Arial"/>
              <a:buNone/>
            </a:pPr>
            <a:r>
              <a:rPr lang="en-US" sz="2200">
                <a:latin typeface="Gill Sans"/>
                <a:ea typeface="Gill Sans"/>
                <a:cs typeface="Gill Sans"/>
                <a:sym typeface="Gill Sans"/>
              </a:rPr>
              <a:t>Engineer</a:t>
            </a:r>
            <a:endParaRPr b="0" i="0" sz="2200" u="none" cap="none" strike="noStrike">
              <a:solidFill>
                <a:srgbClr val="000000"/>
              </a:solidFill>
              <a:latin typeface="Gill Sans"/>
              <a:ea typeface="Gill Sans"/>
              <a:cs typeface="Gill Sans"/>
              <a:sym typeface="Gill Sans"/>
            </a:endParaRPr>
          </a:p>
        </p:txBody>
      </p:sp>
      <p:cxnSp>
        <p:nvCxnSpPr>
          <p:cNvPr id="345" name="Google Shape;345;p36"/>
          <p:cNvCxnSpPr/>
          <p:nvPr/>
        </p:nvCxnSpPr>
        <p:spPr>
          <a:xfrm>
            <a:off x="7409800" y="4256700"/>
            <a:ext cx="2286000" cy="9900"/>
          </a:xfrm>
          <a:prstGeom prst="straightConnector1">
            <a:avLst/>
          </a:prstGeom>
          <a:noFill/>
          <a:ln cap="flat" cmpd="sng" w="9525">
            <a:solidFill>
              <a:srgbClr val="000000"/>
            </a:solidFill>
            <a:prstDash val="solid"/>
            <a:round/>
            <a:headEnd len="sm" w="sm" type="none"/>
            <a:tailEnd len="sm" w="sm" type="none"/>
          </a:ln>
        </p:spPr>
      </p:cxnSp>
      <p:cxnSp>
        <p:nvCxnSpPr>
          <p:cNvPr id="346" name="Google Shape;346;p36"/>
          <p:cNvCxnSpPr>
            <a:stCxn id="341" idx="0"/>
          </p:cNvCxnSpPr>
          <p:nvPr/>
        </p:nvCxnSpPr>
        <p:spPr>
          <a:xfrm rot="10800000">
            <a:off x="7518227" y="4246676"/>
            <a:ext cx="9000" cy="305100"/>
          </a:xfrm>
          <a:prstGeom prst="straightConnector1">
            <a:avLst/>
          </a:prstGeom>
          <a:noFill/>
          <a:ln cap="flat" cmpd="sng" w="9525">
            <a:solidFill>
              <a:schemeClr val="dk2"/>
            </a:solidFill>
            <a:prstDash val="solid"/>
            <a:round/>
            <a:headEnd len="med" w="med" type="none"/>
            <a:tailEnd len="med" w="med" type="none"/>
          </a:ln>
        </p:spPr>
      </p:cxnSp>
      <p:cxnSp>
        <p:nvCxnSpPr>
          <p:cNvPr id="347" name="Google Shape;347;p36"/>
          <p:cNvCxnSpPr>
            <a:stCxn id="342" idx="0"/>
          </p:cNvCxnSpPr>
          <p:nvPr/>
        </p:nvCxnSpPr>
        <p:spPr>
          <a:xfrm rot="10800000">
            <a:off x="9666216" y="4266476"/>
            <a:ext cx="19200" cy="285300"/>
          </a:xfrm>
          <a:prstGeom prst="straightConnector1">
            <a:avLst/>
          </a:prstGeom>
          <a:noFill/>
          <a:ln cap="flat" cmpd="sng" w="9525">
            <a:solidFill>
              <a:schemeClr val="dk2"/>
            </a:solidFill>
            <a:prstDash val="solid"/>
            <a:round/>
            <a:headEnd len="med" w="med" type="none"/>
            <a:tailEnd len="med" w="med" type="none"/>
          </a:ln>
        </p:spPr>
      </p:cxnSp>
      <p:cxnSp>
        <p:nvCxnSpPr>
          <p:cNvPr id="348" name="Google Shape;348;p36"/>
          <p:cNvCxnSpPr/>
          <p:nvPr/>
        </p:nvCxnSpPr>
        <p:spPr>
          <a:xfrm flipH="1" rot="10800000">
            <a:off x="6532825" y="5468625"/>
            <a:ext cx="1990500" cy="9900"/>
          </a:xfrm>
          <a:prstGeom prst="straightConnector1">
            <a:avLst/>
          </a:prstGeom>
          <a:noFill/>
          <a:ln cap="flat" cmpd="sng" w="9525">
            <a:solidFill>
              <a:srgbClr val="000000"/>
            </a:solidFill>
            <a:prstDash val="solid"/>
            <a:round/>
            <a:headEnd len="sm" w="sm" type="none"/>
            <a:tailEnd len="sm" w="sm" type="none"/>
          </a:ln>
        </p:spPr>
      </p:cxnSp>
      <p:cxnSp>
        <p:nvCxnSpPr>
          <p:cNvPr id="349" name="Google Shape;349;p36"/>
          <p:cNvCxnSpPr>
            <a:stCxn id="343" idx="0"/>
          </p:cNvCxnSpPr>
          <p:nvPr/>
        </p:nvCxnSpPr>
        <p:spPr>
          <a:xfrm rot="10800000">
            <a:off x="6532925" y="5438993"/>
            <a:ext cx="6900" cy="247200"/>
          </a:xfrm>
          <a:prstGeom prst="straightConnector1">
            <a:avLst/>
          </a:prstGeom>
          <a:noFill/>
          <a:ln cap="flat" cmpd="sng" w="9525">
            <a:solidFill>
              <a:schemeClr val="dk2"/>
            </a:solidFill>
            <a:prstDash val="solid"/>
            <a:round/>
            <a:headEnd len="med" w="med" type="none"/>
            <a:tailEnd len="med" w="med" type="none"/>
          </a:ln>
        </p:spPr>
      </p:cxnSp>
      <p:cxnSp>
        <p:nvCxnSpPr>
          <p:cNvPr id="350" name="Google Shape;350;p36"/>
          <p:cNvCxnSpPr>
            <a:stCxn id="344" idx="0"/>
          </p:cNvCxnSpPr>
          <p:nvPr/>
        </p:nvCxnSpPr>
        <p:spPr>
          <a:xfrm rot="10800000">
            <a:off x="8513719" y="5458793"/>
            <a:ext cx="9600" cy="227400"/>
          </a:xfrm>
          <a:prstGeom prst="straightConnector1">
            <a:avLst/>
          </a:prstGeom>
          <a:noFill/>
          <a:ln cap="flat" cmpd="sng" w="9525">
            <a:solidFill>
              <a:schemeClr val="dk2"/>
            </a:solidFill>
            <a:prstDash val="solid"/>
            <a:round/>
            <a:headEnd len="med" w="med" type="none"/>
            <a:tailEnd len="med" w="med" type="none"/>
          </a:ln>
        </p:spPr>
      </p:cxnSp>
      <p:cxnSp>
        <p:nvCxnSpPr>
          <p:cNvPr id="351" name="Google Shape;351;p36"/>
          <p:cNvCxnSpPr>
            <a:endCxn id="340" idx="2"/>
          </p:cNvCxnSpPr>
          <p:nvPr/>
        </p:nvCxnSpPr>
        <p:spPr>
          <a:xfrm rot="10800000">
            <a:off x="8523314" y="3970850"/>
            <a:ext cx="9900" cy="335100"/>
          </a:xfrm>
          <a:prstGeom prst="straightConnector1">
            <a:avLst/>
          </a:prstGeom>
          <a:noFill/>
          <a:ln cap="flat" cmpd="sng" w="9525">
            <a:solidFill>
              <a:schemeClr val="dk2"/>
            </a:solidFill>
            <a:prstDash val="solid"/>
            <a:round/>
            <a:headEnd len="med" w="med" type="none"/>
            <a:tailEnd len="med" w="med" type="triangle"/>
          </a:ln>
        </p:spPr>
      </p:cxnSp>
      <p:cxnSp>
        <p:nvCxnSpPr>
          <p:cNvPr id="352" name="Google Shape;352;p36"/>
          <p:cNvCxnSpPr>
            <a:endCxn id="341" idx="2"/>
          </p:cNvCxnSpPr>
          <p:nvPr/>
        </p:nvCxnSpPr>
        <p:spPr>
          <a:xfrm rot="10800000">
            <a:off x="7527227" y="5105276"/>
            <a:ext cx="900" cy="383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Generalization Relationship</a:t>
            </a:r>
            <a:endParaRPr b="1" sz="3300">
              <a:latin typeface="Lexend"/>
              <a:ea typeface="Lexend"/>
              <a:cs typeface="Lexend"/>
              <a:sym typeface="Lexend"/>
            </a:endParaRPr>
          </a:p>
        </p:txBody>
      </p:sp>
      <p:sp>
        <p:nvSpPr>
          <p:cNvPr id="358" name="Google Shape;358;p37"/>
          <p:cNvSpPr/>
          <p:nvPr/>
        </p:nvSpPr>
        <p:spPr>
          <a:xfrm>
            <a:off x="3429000" y="1524000"/>
            <a:ext cx="2438400" cy="22860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sp>
        <p:nvSpPr>
          <p:cNvPr id="359" name="Google Shape;359;p37"/>
          <p:cNvSpPr txBox="1"/>
          <p:nvPr/>
        </p:nvSpPr>
        <p:spPr>
          <a:xfrm>
            <a:off x="3886200" y="1524000"/>
            <a:ext cx="1828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US" sz="2400" u="none" cap="none" strike="noStrike">
                <a:solidFill>
                  <a:srgbClr val="000000"/>
                </a:solidFill>
                <a:latin typeface="Calibri"/>
                <a:ea typeface="Calibri"/>
                <a:cs typeface="Calibri"/>
                <a:sym typeface="Calibri"/>
              </a:rPr>
              <a:t>Employee</a:t>
            </a:r>
            <a:endParaRPr i="0" sz="1400" u="none" cap="none" strike="noStrike">
              <a:solidFill>
                <a:srgbClr val="000000"/>
              </a:solidFill>
              <a:latin typeface="Calibri"/>
              <a:ea typeface="Calibri"/>
              <a:cs typeface="Calibri"/>
              <a:sym typeface="Calibri"/>
            </a:endParaRPr>
          </a:p>
        </p:txBody>
      </p:sp>
      <p:sp>
        <p:nvSpPr>
          <p:cNvPr id="360" name="Google Shape;360;p37"/>
          <p:cNvSpPr txBox="1"/>
          <p:nvPr/>
        </p:nvSpPr>
        <p:spPr>
          <a:xfrm>
            <a:off x="3485675" y="2162100"/>
            <a:ext cx="2286000" cy="4002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hireDate: Date</a:t>
            </a:r>
            <a:endParaRPr i="0" sz="2400" u="none" cap="none" strike="noStrike">
              <a:solidFill>
                <a:srgbClr val="000000"/>
              </a:solidFill>
              <a:latin typeface="Calibri"/>
              <a:ea typeface="Calibri"/>
              <a:cs typeface="Calibri"/>
              <a:sym typeface="Calibri"/>
            </a:endParaRPr>
          </a:p>
        </p:txBody>
      </p:sp>
      <p:sp>
        <p:nvSpPr>
          <p:cNvPr id="361" name="Google Shape;361;p37"/>
          <p:cNvSpPr txBox="1"/>
          <p:nvPr/>
        </p:nvSpPr>
        <p:spPr>
          <a:xfrm>
            <a:off x="3505200" y="2895600"/>
            <a:ext cx="2286000" cy="83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i="0" lang="en-US" sz="2000" u="none" cap="none" strike="noStrike">
                <a:solidFill>
                  <a:srgbClr val="000000"/>
                </a:solidFill>
                <a:latin typeface="Calibri"/>
                <a:ea typeface="Calibri"/>
                <a:cs typeface="Calibri"/>
                <a:sym typeface="Calibri"/>
              </a:rPr>
              <a:t>- receivePay()</a:t>
            </a:r>
            <a:endParaRPr i="0" sz="2000" u="none" cap="none" strike="noStrike">
              <a:solidFill>
                <a:srgbClr val="000000"/>
              </a:solidFill>
              <a:latin typeface="Calibri"/>
              <a:ea typeface="Calibri"/>
              <a:cs typeface="Calibri"/>
              <a:sym typeface="Calibri"/>
            </a:endParaRPr>
          </a:p>
          <a:p>
            <a:pPr indent="0" lvl="0" marL="0" marR="0" rtl="0" algn="l">
              <a:lnSpc>
                <a:spcPct val="100000"/>
              </a:lnSpc>
              <a:spcBef>
                <a:spcPts val="1000"/>
              </a:spcBef>
              <a:spcAft>
                <a:spcPts val="0"/>
              </a:spcAft>
              <a:buClr>
                <a:srgbClr val="000000"/>
              </a:buClr>
              <a:buSzPts val="2000"/>
              <a:buFont typeface="Arial"/>
              <a:buNone/>
            </a:pPr>
            <a:r>
              <a:rPr i="0" lang="en-US" sz="2000" u="none" cap="none" strike="noStrike">
                <a:solidFill>
                  <a:srgbClr val="000000"/>
                </a:solidFill>
                <a:latin typeface="Calibri"/>
                <a:ea typeface="Calibri"/>
                <a:cs typeface="Calibri"/>
                <a:sym typeface="Calibri"/>
              </a:rPr>
              <a:t>- performWork()</a:t>
            </a:r>
            <a:endParaRPr i="0" sz="2000" u="none" cap="none" strike="noStrike">
              <a:solidFill>
                <a:srgbClr val="000000"/>
              </a:solidFill>
              <a:latin typeface="Calibri"/>
              <a:ea typeface="Calibri"/>
              <a:cs typeface="Calibri"/>
              <a:sym typeface="Calibri"/>
            </a:endParaRPr>
          </a:p>
        </p:txBody>
      </p:sp>
      <p:cxnSp>
        <p:nvCxnSpPr>
          <p:cNvPr id="362" name="Google Shape;362;p37"/>
          <p:cNvCxnSpPr/>
          <p:nvPr/>
        </p:nvCxnSpPr>
        <p:spPr>
          <a:xfrm>
            <a:off x="3429000" y="2743200"/>
            <a:ext cx="2438400" cy="0"/>
          </a:xfrm>
          <a:prstGeom prst="straightConnector1">
            <a:avLst/>
          </a:prstGeom>
          <a:noFill/>
          <a:ln cap="flat" cmpd="sng" w="9525">
            <a:solidFill>
              <a:srgbClr val="000000"/>
            </a:solidFill>
            <a:prstDash val="solid"/>
            <a:round/>
            <a:headEnd len="sm" w="sm" type="none"/>
            <a:tailEnd len="sm" w="sm" type="none"/>
          </a:ln>
        </p:spPr>
      </p:cxnSp>
      <p:cxnSp>
        <p:nvCxnSpPr>
          <p:cNvPr id="363" name="Google Shape;363;p37"/>
          <p:cNvCxnSpPr/>
          <p:nvPr/>
        </p:nvCxnSpPr>
        <p:spPr>
          <a:xfrm>
            <a:off x="3429000" y="1981200"/>
            <a:ext cx="2438400" cy="0"/>
          </a:xfrm>
          <a:prstGeom prst="straightConnector1">
            <a:avLst/>
          </a:prstGeom>
          <a:noFill/>
          <a:ln cap="flat" cmpd="sng" w="9525">
            <a:solidFill>
              <a:srgbClr val="000000"/>
            </a:solidFill>
            <a:prstDash val="solid"/>
            <a:round/>
            <a:headEnd len="sm" w="sm" type="none"/>
            <a:tailEnd len="sm" w="sm" type="none"/>
          </a:ln>
        </p:spPr>
      </p:cxnSp>
      <p:sp>
        <p:nvSpPr>
          <p:cNvPr id="364" name="Google Shape;364;p37"/>
          <p:cNvSpPr/>
          <p:nvPr/>
        </p:nvSpPr>
        <p:spPr>
          <a:xfrm>
            <a:off x="1447800" y="4343400"/>
            <a:ext cx="2438400" cy="22860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sp>
        <p:nvSpPr>
          <p:cNvPr id="365" name="Google Shape;365;p37"/>
          <p:cNvSpPr/>
          <p:nvPr/>
        </p:nvSpPr>
        <p:spPr>
          <a:xfrm>
            <a:off x="5334000" y="4343400"/>
            <a:ext cx="2438400" cy="22860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sp>
        <p:nvSpPr>
          <p:cNvPr id="366" name="Google Shape;366;p37"/>
          <p:cNvSpPr txBox="1"/>
          <p:nvPr/>
        </p:nvSpPr>
        <p:spPr>
          <a:xfrm>
            <a:off x="1524000" y="4419600"/>
            <a:ext cx="2209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US" sz="2400" u="none" cap="none" strike="noStrike">
                <a:solidFill>
                  <a:srgbClr val="000000"/>
                </a:solidFill>
                <a:latin typeface="Calibri"/>
                <a:ea typeface="Calibri"/>
                <a:cs typeface="Calibri"/>
                <a:sym typeface="Calibri"/>
              </a:rPr>
              <a:t>Manager</a:t>
            </a:r>
            <a:endParaRPr i="0" sz="1400" u="none" cap="none" strike="noStrike">
              <a:solidFill>
                <a:srgbClr val="000000"/>
              </a:solidFill>
              <a:latin typeface="Calibri"/>
              <a:ea typeface="Calibri"/>
              <a:cs typeface="Calibri"/>
              <a:sym typeface="Calibri"/>
            </a:endParaRPr>
          </a:p>
        </p:txBody>
      </p:sp>
      <p:sp>
        <p:nvSpPr>
          <p:cNvPr id="367" name="Google Shape;367;p37"/>
          <p:cNvSpPr txBox="1"/>
          <p:nvPr/>
        </p:nvSpPr>
        <p:spPr>
          <a:xfrm>
            <a:off x="1270500" y="4865700"/>
            <a:ext cx="2793000" cy="7080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department: String</a:t>
            </a:r>
            <a:endParaRPr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bonus: Float</a:t>
            </a:r>
            <a:endParaRPr i="0" sz="2000" u="none" cap="none" strike="noStrike">
              <a:solidFill>
                <a:srgbClr val="000000"/>
              </a:solidFill>
              <a:latin typeface="Calibri"/>
              <a:ea typeface="Calibri"/>
              <a:cs typeface="Calibri"/>
              <a:sym typeface="Calibri"/>
            </a:endParaRPr>
          </a:p>
        </p:txBody>
      </p:sp>
      <p:sp>
        <p:nvSpPr>
          <p:cNvPr id="368" name="Google Shape;368;p37"/>
          <p:cNvSpPr txBox="1"/>
          <p:nvPr/>
        </p:nvSpPr>
        <p:spPr>
          <a:xfrm>
            <a:off x="1232400" y="5791200"/>
            <a:ext cx="2793000" cy="7080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hireEmployee()</a:t>
            </a:r>
            <a:endParaRPr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promoteEmployee()</a:t>
            </a:r>
            <a:endParaRPr i="0" sz="2000" u="none" cap="none" strike="noStrike">
              <a:solidFill>
                <a:srgbClr val="000000"/>
              </a:solidFill>
              <a:latin typeface="Calibri"/>
              <a:ea typeface="Calibri"/>
              <a:cs typeface="Calibri"/>
              <a:sym typeface="Calibri"/>
            </a:endParaRPr>
          </a:p>
        </p:txBody>
      </p:sp>
      <p:cxnSp>
        <p:nvCxnSpPr>
          <p:cNvPr id="369" name="Google Shape;369;p37"/>
          <p:cNvCxnSpPr/>
          <p:nvPr/>
        </p:nvCxnSpPr>
        <p:spPr>
          <a:xfrm>
            <a:off x="1447800" y="4800600"/>
            <a:ext cx="2438400" cy="0"/>
          </a:xfrm>
          <a:prstGeom prst="straightConnector1">
            <a:avLst/>
          </a:prstGeom>
          <a:noFill/>
          <a:ln cap="flat" cmpd="sng" w="9525">
            <a:solidFill>
              <a:srgbClr val="000000"/>
            </a:solidFill>
            <a:prstDash val="solid"/>
            <a:round/>
            <a:headEnd len="sm" w="sm" type="none"/>
            <a:tailEnd len="sm" w="sm" type="none"/>
          </a:ln>
        </p:spPr>
      </p:cxnSp>
      <p:cxnSp>
        <p:nvCxnSpPr>
          <p:cNvPr id="370" name="Google Shape;370;p37"/>
          <p:cNvCxnSpPr/>
          <p:nvPr/>
        </p:nvCxnSpPr>
        <p:spPr>
          <a:xfrm>
            <a:off x="1447800" y="5638800"/>
            <a:ext cx="2438400" cy="0"/>
          </a:xfrm>
          <a:prstGeom prst="straightConnector1">
            <a:avLst/>
          </a:prstGeom>
          <a:noFill/>
          <a:ln cap="flat" cmpd="sng" w="9525">
            <a:solidFill>
              <a:srgbClr val="000000"/>
            </a:solidFill>
            <a:prstDash val="solid"/>
            <a:round/>
            <a:headEnd len="sm" w="sm" type="none"/>
            <a:tailEnd len="sm" w="sm" type="none"/>
          </a:ln>
        </p:spPr>
      </p:cxnSp>
      <p:sp>
        <p:nvSpPr>
          <p:cNvPr id="371" name="Google Shape;371;p37"/>
          <p:cNvSpPr txBox="1"/>
          <p:nvPr/>
        </p:nvSpPr>
        <p:spPr>
          <a:xfrm>
            <a:off x="5486400" y="4419600"/>
            <a:ext cx="1828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US" sz="2400" u="none" cap="none" strike="noStrike">
                <a:solidFill>
                  <a:srgbClr val="000000"/>
                </a:solidFill>
                <a:latin typeface="Calibri"/>
                <a:ea typeface="Calibri"/>
                <a:cs typeface="Calibri"/>
                <a:sym typeface="Calibri"/>
              </a:rPr>
              <a:t>Engineer</a:t>
            </a:r>
            <a:endParaRPr i="0" sz="1400" u="none" cap="none" strike="noStrike">
              <a:solidFill>
                <a:srgbClr val="000000"/>
              </a:solidFill>
              <a:latin typeface="Calibri"/>
              <a:ea typeface="Calibri"/>
              <a:cs typeface="Calibri"/>
              <a:sym typeface="Calibri"/>
            </a:endParaRPr>
          </a:p>
        </p:txBody>
      </p:sp>
      <p:sp>
        <p:nvSpPr>
          <p:cNvPr id="372" name="Google Shape;372;p37"/>
          <p:cNvSpPr txBox="1"/>
          <p:nvPr/>
        </p:nvSpPr>
        <p:spPr>
          <a:xfrm>
            <a:off x="5130000" y="4933900"/>
            <a:ext cx="2846400" cy="4002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certifications: String</a:t>
            </a:r>
            <a:endParaRPr i="0" sz="2400" u="none" cap="none" strike="noStrike">
              <a:solidFill>
                <a:srgbClr val="000000"/>
              </a:solidFill>
              <a:latin typeface="Calibri"/>
              <a:ea typeface="Calibri"/>
              <a:cs typeface="Calibri"/>
              <a:sym typeface="Calibri"/>
            </a:endParaRPr>
          </a:p>
        </p:txBody>
      </p:sp>
      <p:sp>
        <p:nvSpPr>
          <p:cNvPr id="373" name="Google Shape;373;p37"/>
          <p:cNvSpPr txBox="1"/>
          <p:nvPr/>
        </p:nvSpPr>
        <p:spPr>
          <a:xfrm>
            <a:off x="5486400" y="5715000"/>
            <a:ext cx="2057400" cy="7080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analyze()</a:t>
            </a:r>
            <a:endParaRPr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design()</a:t>
            </a:r>
            <a:endParaRPr i="0" sz="2000" u="none" cap="none" strike="noStrike">
              <a:solidFill>
                <a:srgbClr val="000000"/>
              </a:solidFill>
              <a:latin typeface="Calibri"/>
              <a:ea typeface="Calibri"/>
              <a:cs typeface="Calibri"/>
              <a:sym typeface="Calibri"/>
            </a:endParaRPr>
          </a:p>
        </p:txBody>
      </p:sp>
      <p:cxnSp>
        <p:nvCxnSpPr>
          <p:cNvPr id="374" name="Google Shape;374;p37"/>
          <p:cNvCxnSpPr/>
          <p:nvPr/>
        </p:nvCxnSpPr>
        <p:spPr>
          <a:xfrm>
            <a:off x="5334000" y="4800600"/>
            <a:ext cx="2438400" cy="0"/>
          </a:xfrm>
          <a:prstGeom prst="straightConnector1">
            <a:avLst/>
          </a:prstGeom>
          <a:noFill/>
          <a:ln cap="flat" cmpd="sng" w="9525">
            <a:solidFill>
              <a:srgbClr val="000000"/>
            </a:solidFill>
            <a:prstDash val="solid"/>
            <a:round/>
            <a:headEnd len="sm" w="sm" type="none"/>
            <a:tailEnd len="sm" w="sm" type="none"/>
          </a:ln>
        </p:spPr>
      </p:cxnSp>
      <p:cxnSp>
        <p:nvCxnSpPr>
          <p:cNvPr id="375" name="Google Shape;375;p37"/>
          <p:cNvCxnSpPr/>
          <p:nvPr/>
        </p:nvCxnSpPr>
        <p:spPr>
          <a:xfrm>
            <a:off x="5334000" y="5638800"/>
            <a:ext cx="2438400" cy="0"/>
          </a:xfrm>
          <a:prstGeom prst="straightConnector1">
            <a:avLst/>
          </a:prstGeom>
          <a:noFill/>
          <a:ln cap="flat" cmpd="sng" w="9525">
            <a:solidFill>
              <a:srgbClr val="000000"/>
            </a:solidFill>
            <a:prstDash val="solid"/>
            <a:round/>
            <a:headEnd len="sm" w="sm" type="none"/>
            <a:tailEnd len="sm" w="sm" type="none"/>
          </a:ln>
        </p:spPr>
      </p:cxnSp>
      <p:cxnSp>
        <p:nvCxnSpPr>
          <p:cNvPr id="376" name="Google Shape;376;p37"/>
          <p:cNvCxnSpPr/>
          <p:nvPr/>
        </p:nvCxnSpPr>
        <p:spPr>
          <a:xfrm rot="10800000">
            <a:off x="1905000" y="4191000"/>
            <a:ext cx="0" cy="152400"/>
          </a:xfrm>
          <a:prstGeom prst="straightConnector1">
            <a:avLst/>
          </a:prstGeom>
          <a:noFill/>
          <a:ln cap="flat" cmpd="sng" w="9525">
            <a:solidFill>
              <a:srgbClr val="000000"/>
            </a:solidFill>
            <a:prstDash val="solid"/>
            <a:round/>
            <a:headEnd len="sm" w="sm" type="none"/>
            <a:tailEnd len="sm" w="sm" type="none"/>
          </a:ln>
        </p:spPr>
      </p:cxnSp>
      <p:cxnSp>
        <p:nvCxnSpPr>
          <p:cNvPr id="377" name="Google Shape;377;p37"/>
          <p:cNvCxnSpPr/>
          <p:nvPr/>
        </p:nvCxnSpPr>
        <p:spPr>
          <a:xfrm>
            <a:off x="4495800" y="4876800"/>
            <a:ext cx="0" cy="0"/>
          </a:xfrm>
          <a:prstGeom prst="straightConnector1">
            <a:avLst/>
          </a:prstGeom>
          <a:noFill/>
          <a:ln cap="flat" cmpd="sng" w="9525">
            <a:solidFill>
              <a:srgbClr val="000000"/>
            </a:solidFill>
            <a:prstDash val="solid"/>
            <a:round/>
            <a:headEnd len="sm" w="sm" type="none"/>
            <a:tailEnd len="sm" w="sm" type="none"/>
          </a:ln>
        </p:spPr>
      </p:cxnSp>
      <p:cxnSp>
        <p:nvCxnSpPr>
          <p:cNvPr id="378" name="Google Shape;378;p37"/>
          <p:cNvCxnSpPr/>
          <p:nvPr/>
        </p:nvCxnSpPr>
        <p:spPr>
          <a:xfrm rot="10800000">
            <a:off x="7239000" y="4191000"/>
            <a:ext cx="0" cy="152400"/>
          </a:xfrm>
          <a:prstGeom prst="straightConnector1">
            <a:avLst/>
          </a:prstGeom>
          <a:noFill/>
          <a:ln cap="flat" cmpd="sng" w="9525">
            <a:solidFill>
              <a:srgbClr val="000000"/>
            </a:solidFill>
            <a:prstDash val="solid"/>
            <a:round/>
            <a:headEnd len="sm" w="sm" type="none"/>
            <a:tailEnd len="sm" w="sm" type="none"/>
          </a:ln>
        </p:spPr>
      </p:cxnSp>
      <p:cxnSp>
        <p:nvCxnSpPr>
          <p:cNvPr id="379" name="Google Shape;379;p37"/>
          <p:cNvCxnSpPr/>
          <p:nvPr/>
        </p:nvCxnSpPr>
        <p:spPr>
          <a:xfrm>
            <a:off x="1905000" y="4191000"/>
            <a:ext cx="5334000" cy="0"/>
          </a:xfrm>
          <a:prstGeom prst="straightConnector1">
            <a:avLst/>
          </a:prstGeom>
          <a:noFill/>
          <a:ln cap="flat" cmpd="sng" w="9525">
            <a:solidFill>
              <a:srgbClr val="000000"/>
            </a:solidFill>
            <a:prstDash val="solid"/>
            <a:round/>
            <a:headEnd len="sm" w="sm" type="none"/>
            <a:tailEnd len="sm" w="sm" type="none"/>
          </a:ln>
        </p:spPr>
      </p:cxnSp>
      <p:cxnSp>
        <p:nvCxnSpPr>
          <p:cNvPr id="380" name="Google Shape;380;p37"/>
          <p:cNvCxnSpPr/>
          <p:nvPr/>
        </p:nvCxnSpPr>
        <p:spPr>
          <a:xfrm rot="10800000">
            <a:off x="4648200" y="3810000"/>
            <a:ext cx="0" cy="381000"/>
          </a:xfrm>
          <a:prstGeom prst="straightConnector1">
            <a:avLst/>
          </a:prstGeom>
          <a:noFill/>
          <a:ln cap="flat" cmpd="sng" w="9525">
            <a:solidFill>
              <a:srgbClr val="000000"/>
            </a:solidFill>
            <a:prstDash val="solid"/>
            <a:round/>
            <a:headEnd len="sm" w="sm" type="none"/>
            <a:tailEnd len="med" w="med" type="triangl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Multiplicity</a:t>
            </a:r>
            <a:endParaRPr b="1" sz="3300">
              <a:latin typeface="Lexend"/>
              <a:ea typeface="Lexend"/>
              <a:cs typeface="Lexend"/>
              <a:sym typeface="Lexend"/>
            </a:endParaRPr>
          </a:p>
        </p:txBody>
      </p:sp>
      <p:sp>
        <p:nvSpPr>
          <p:cNvPr id="386" name="Google Shape;386;p38"/>
          <p:cNvSpPr txBox="1"/>
          <p:nvPr>
            <p:ph idx="1" type="body"/>
          </p:nvPr>
        </p:nvSpPr>
        <p:spPr>
          <a:xfrm>
            <a:off x="838200" y="1825625"/>
            <a:ext cx="10515600" cy="240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300"/>
              <a:t>The multiplicity of a property is an indication of how many objects may fill the property. The most common multiplicities you will see are:</a:t>
            </a:r>
            <a:endParaRPr sz="2300"/>
          </a:p>
          <a:p>
            <a:pPr indent="0" lvl="0" marL="0" rtl="0" algn="l">
              <a:spcBef>
                <a:spcPts val="0"/>
              </a:spcBef>
              <a:spcAft>
                <a:spcPts val="0"/>
              </a:spcAft>
              <a:buNone/>
            </a:pPr>
            <a:r>
              <a:t/>
            </a:r>
            <a:endParaRPr sz="2300"/>
          </a:p>
          <a:p>
            <a:pPr indent="-374650" lvl="0" marL="457200" rtl="0" algn="l">
              <a:spcBef>
                <a:spcPts val="0"/>
              </a:spcBef>
              <a:spcAft>
                <a:spcPts val="0"/>
              </a:spcAft>
              <a:buSzPts val="2300"/>
              <a:buChar char="•"/>
            </a:pPr>
            <a:r>
              <a:rPr b="1" lang="en-US" sz="2300"/>
              <a:t>1 </a:t>
            </a:r>
            <a:r>
              <a:rPr lang="en-US" sz="2000"/>
              <a:t>(An order must have exactly one customer.)</a:t>
            </a:r>
            <a:endParaRPr sz="2000"/>
          </a:p>
          <a:p>
            <a:pPr indent="-374650" lvl="0" marL="457200" rtl="0" algn="l">
              <a:spcBef>
                <a:spcPts val="0"/>
              </a:spcBef>
              <a:spcAft>
                <a:spcPts val="0"/>
              </a:spcAft>
              <a:buSzPts val="2300"/>
              <a:buChar char="•"/>
            </a:pPr>
            <a:r>
              <a:rPr b="1" lang="en-US" sz="2300"/>
              <a:t>0..1</a:t>
            </a:r>
            <a:r>
              <a:rPr lang="en-US" sz="2300"/>
              <a:t> </a:t>
            </a:r>
            <a:r>
              <a:rPr lang="en-US" sz="2000"/>
              <a:t>(A corporate customer may or may not have a single sales rep.)</a:t>
            </a:r>
            <a:endParaRPr sz="2000"/>
          </a:p>
          <a:p>
            <a:pPr indent="-374650" lvl="0" marL="457200" rtl="0" algn="l">
              <a:spcBef>
                <a:spcPts val="0"/>
              </a:spcBef>
              <a:spcAft>
                <a:spcPts val="0"/>
              </a:spcAft>
              <a:buSzPts val="2300"/>
              <a:buChar char="•"/>
            </a:pPr>
            <a:r>
              <a:rPr b="1" lang="en-US" sz="2300"/>
              <a:t>*</a:t>
            </a:r>
            <a:r>
              <a:rPr lang="en-US" sz="2300"/>
              <a:t> </a:t>
            </a:r>
            <a:r>
              <a:rPr lang="en-US" sz="2000"/>
              <a:t>(A customer need not place an Order and there is no upper limit to the number of Orders a Customer may place—zero or more orders.)</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Multiplicity</a:t>
            </a:r>
            <a:endParaRPr b="1" sz="3300">
              <a:latin typeface="Lexend"/>
              <a:ea typeface="Lexend"/>
              <a:cs typeface="Lexend"/>
              <a:sym typeface="Lexend"/>
            </a:endParaRPr>
          </a:p>
        </p:txBody>
      </p:sp>
      <p:sp>
        <p:nvSpPr>
          <p:cNvPr id="392" name="Google Shape;392;p39"/>
          <p:cNvSpPr txBox="1"/>
          <p:nvPr>
            <p:ph idx="1" type="body"/>
          </p:nvPr>
        </p:nvSpPr>
        <p:spPr>
          <a:xfrm>
            <a:off x="838200" y="1825625"/>
            <a:ext cx="10515600" cy="1376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300"/>
              <a:t>We can indicate the multiplicity of an association by adding multiplicity adornments to the line denoting the association. </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US" sz="2300"/>
              <a:t>The example indicates that a Student has one or more Instructors:</a:t>
            </a:r>
            <a:endParaRPr sz="2300"/>
          </a:p>
          <a:p>
            <a:pPr indent="0" lvl="0" marL="0" rtl="0" algn="l">
              <a:spcBef>
                <a:spcPts val="0"/>
              </a:spcBef>
              <a:spcAft>
                <a:spcPts val="0"/>
              </a:spcAft>
              <a:buNone/>
            </a:pPr>
            <a:r>
              <a:t/>
            </a:r>
            <a:endParaRPr sz="2300"/>
          </a:p>
        </p:txBody>
      </p:sp>
      <p:cxnSp>
        <p:nvCxnSpPr>
          <p:cNvPr id="393" name="Google Shape;393;p39"/>
          <p:cNvCxnSpPr/>
          <p:nvPr/>
        </p:nvCxnSpPr>
        <p:spPr>
          <a:xfrm>
            <a:off x="4305300" y="3603825"/>
            <a:ext cx="3657600" cy="0"/>
          </a:xfrm>
          <a:prstGeom prst="straightConnector1">
            <a:avLst/>
          </a:prstGeom>
          <a:noFill/>
          <a:ln cap="flat" cmpd="sng" w="28575">
            <a:solidFill>
              <a:srgbClr val="000000"/>
            </a:solidFill>
            <a:prstDash val="solid"/>
            <a:round/>
            <a:headEnd len="sm" w="sm" type="none"/>
            <a:tailEnd len="sm" w="sm" type="none"/>
          </a:ln>
        </p:spPr>
      </p:cxnSp>
      <p:sp>
        <p:nvSpPr>
          <p:cNvPr id="394" name="Google Shape;394;p39"/>
          <p:cNvSpPr/>
          <p:nvPr/>
        </p:nvSpPr>
        <p:spPr>
          <a:xfrm>
            <a:off x="7886700" y="3375225"/>
            <a:ext cx="2057400" cy="5334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Instructor</a:t>
            </a:r>
            <a:endParaRPr b="0" i="0" sz="1400" u="none" cap="none" strike="noStrike">
              <a:solidFill>
                <a:srgbClr val="000000"/>
              </a:solidFill>
              <a:latin typeface="Arial"/>
              <a:ea typeface="Arial"/>
              <a:cs typeface="Arial"/>
              <a:sym typeface="Arial"/>
            </a:endParaRPr>
          </a:p>
        </p:txBody>
      </p:sp>
      <p:sp>
        <p:nvSpPr>
          <p:cNvPr id="395" name="Google Shape;395;p39"/>
          <p:cNvSpPr/>
          <p:nvPr/>
        </p:nvSpPr>
        <p:spPr>
          <a:xfrm>
            <a:off x="2247900" y="3337125"/>
            <a:ext cx="2057400" cy="5334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Student</a:t>
            </a:r>
            <a:endParaRPr b="0" i="0" sz="1400" u="none" cap="none" strike="noStrike">
              <a:solidFill>
                <a:srgbClr val="000000"/>
              </a:solidFill>
              <a:latin typeface="Arial"/>
              <a:ea typeface="Arial"/>
              <a:cs typeface="Arial"/>
              <a:sym typeface="Arial"/>
            </a:endParaRPr>
          </a:p>
        </p:txBody>
      </p:sp>
      <p:sp>
        <p:nvSpPr>
          <p:cNvPr id="396" name="Google Shape;396;p39"/>
          <p:cNvSpPr txBox="1"/>
          <p:nvPr/>
        </p:nvSpPr>
        <p:spPr>
          <a:xfrm>
            <a:off x="7200900" y="3603825"/>
            <a:ext cx="685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1..*</a:t>
            </a:r>
            <a:endParaRPr b="0" i="0" sz="1400" u="none" cap="none" strike="noStrike">
              <a:solidFill>
                <a:srgbClr val="000000"/>
              </a:solidFill>
              <a:latin typeface="Arial"/>
              <a:ea typeface="Arial"/>
              <a:cs typeface="Arial"/>
              <a:sym typeface="Arial"/>
            </a:endParaRPr>
          </a:p>
        </p:txBody>
      </p:sp>
      <p:sp>
        <p:nvSpPr>
          <p:cNvPr id="397" name="Google Shape;397;p39"/>
          <p:cNvSpPr txBox="1"/>
          <p:nvPr/>
        </p:nvSpPr>
        <p:spPr>
          <a:xfrm>
            <a:off x="985350" y="4345375"/>
            <a:ext cx="103686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The example indicates that every Instructor has one or more Students:</a:t>
            </a:r>
            <a:endParaRPr sz="23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cxnSp>
        <p:nvCxnSpPr>
          <p:cNvPr id="398" name="Google Shape;398;p39"/>
          <p:cNvCxnSpPr/>
          <p:nvPr/>
        </p:nvCxnSpPr>
        <p:spPr>
          <a:xfrm>
            <a:off x="4305300" y="5319550"/>
            <a:ext cx="3657600" cy="0"/>
          </a:xfrm>
          <a:prstGeom prst="straightConnector1">
            <a:avLst/>
          </a:prstGeom>
          <a:noFill/>
          <a:ln cap="flat" cmpd="sng" w="28575">
            <a:solidFill>
              <a:srgbClr val="000000"/>
            </a:solidFill>
            <a:prstDash val="solid"/>
            <a:round/>
            <a:headEnd len="sm" w="sm" type="none"/>
            <a:tailEnd len="sm" w="sm" type="none"/>
          </a:ln>
        </p:spPr>
      </p:cxnSp>
      <p:sp>
        <p:nvSpPr>
          <p:cNvPr id="399" name="Google Shape;399;p39"/>
          <p:cNvSpPr/>
          <p:nvPr/>
        </p:nvSpPr>
        <p:spPr>
          <a:xfrm>
            <a:off x="7886700" y="5090950"/>
            <a:ext cx="2057400" cy="5334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Instructor</a:t>
            </a:r>
            <a:endParaRPr b="0" i="0" sz="1400" u="none" cap="none" strike="noStrike">
              <a:solidFill>
                <a:srgbClr val="000000"/>
              </a:solidFill>
              <a:latin typeface="Arial"/>
              <a:ea typeface="Arial"/>
              <a:cs typeface="Arial"/>
              <a:sym typeface="Arial"/>
            </a:endParaRPr>
          </a:p>
        </p:txBody>
      </p:sp>
      <p:sp>
        <p:nvSpPr>
          <p:cNvPr id="400" name="Google Shape;400;p39"/>
          <p:cNvSpPr/>
          <p:nvPr/>
        </p:nvSpPr>
        <p:spPr>
          <a:xfrm>
            <a:off x="2247900" y="5052850"/>
            <a:ext cx="2057400" cy="5334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Student</a:t>
            </a:r>
            <a:endParaRPr b="0" i="0" sz="1400" u="none" cap="none" strike="noStrike">
              <a:solidFill>
                <a:srgbClr val="000000"/>
              </a:solidFill>
              <a:latin typeface="Arial"/>
              <a:ea typeface="Arial"/>
              <a:cs typeface="Arial"/>
              <a:sym typeface="Arial"/>
            </a:endParaRPr>
          </a:p>
        </p:txBody>
      </p:sp>
      <p:sp>
        <p:nvSpPr>
          <p:cNvPr id="401" name="Google Shape;401;p39"/>
          <p:cNvSpPr txBox="1"/>
          <p:nvPr/>
        </p:nvSpPr>
        <p:spPr>
          <a:xfrm>
            <a:off x="4305300" y="5319550"/>
            <a:ext cx="685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Multiplicity</a:t>
            </a:r>
            <a:endParaRPr b="1" sz="3300">
              <a:latin typeface="Lexend"/>
              <a:ea typeface="Lexend"/>
              <a:cs typeface="Lexend"/>
              <a:sym typeface="Lexend"/>
            </a:endParaRPr>
          </a:p>
        </p:txBody>
      </p:sp>
      <p:sp>
        <p:nvSpPr>
          <p:cNvPr id="407" name="Google Shape;407;p40"/>
          <p:cNvSpPr txBox="1"/>
          <p:nvPr>
            <p:ph idx="1" type="body"/>
          </p:nvPr>
        </p:nvSpPr>
        <p:spPr>
          <a:xfrm>
            <a:off x="838200" y="1825625"/>
            <a:ext cx="10515600" cy="3652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following d</a:t>
            </a:r>
            <a:r>
              <a:rPr lang="en-US"/>
              <a:t>enotes the minimum number.. maximum number of instances</a:t>
            </a:r>
            <a:endParaRPr/>
          </a:p>
          <a:p>
            <a:pPr indent="0" lvl="0" marL="0" rtl="0" algn="l">
              <a:spcBef>
                <a:spcPts val="0"/>
              </a:spcBef>
              <a:spcAft>
                <a:spcPts val="0"/>
              </a:spcAft>
              <a:buNone/>
            </a:pPr>
            <a:r>
              <a:t/>
            </a:r>
            <a:endParaRPr/>
          </a:p>
          <a:p>
            <a:pPr indent="-406400" lvl="0" marL="457200" rtl="0" algn="l">
              <a:spcBef>
                <a:spcPts val="0"/>
              </a:spcBef>
              <a:spcAft>
                <a:spcPts val="0"/>
              </a:spcAft>
              <a:buSzPts val="2800"/>
              <a:buFont typeface="Calibri"/>
              <a:buChar char="•"/>
            </a:pPr>
            <a:r>
              <a:rPr lang="en-US"/>
              <a:t>Exactly one					1</a:t>
            </a:r>
            <a:endParaRPr/>
          </a:p>
          <a:p>
            <a:pPr indent="-406400" lvl="0" marL="457200" rtl="0" algn="l">
              <a:spcBef>
                <a:spcPts val="0"/>
              </a:spcBef>
              <a:spcAft>
                <a:spcPts val="0"/>
              </a:spcAft>
              <a:buSzPts val="2800"/>
              <a:buFont typeface="Calibri"/>
              <a:buChar char="•"/>
            </a:pPr>
            <a:r>
              <a:rPr lang="en-US"/>
              <a:t>Zero or more				0..*     or	0..m</a:t>
            </a:r>
            <a:endParaRPr/>
          </a:p>
          <a:p>
            <a:pPr indent="-406400" lvl="0" marL="457200" rtl="0" algn="l">
              <a:spcBef>
                <a:spcPts val="0"/>
              </a:spcBef>
              <a:spcAft>
                <a:spcPts val="0"/>
              </a:spcAft>
              <a:buSzPts val="2800"/>
              <a:buFont typeface="Calibri"/>
              <a:buChar char="•"/>
            </a:pPr>
            <a:r>
              <a:rPr lang="en-US"/>
              <a:t>One or more				1..*	 or	1..m</a:t>
            </a:r>
            <a:endParaRPr/>
          </a:p>
          <a:p>
            <a:pPr indent="-406400" lvl="0" marL="457200" rtl="0" algn="l">
              <a:spcBef>
                <a:spcPts val="0"/>
              </a:spcBef>
              <a:spcAft>
                <a:spcPts val="0"/>
              </a:spcAft>
              <a:buSzPts val="2800"/>
              <a:buFont typeface="Calibri"/>
              <a:buChar char="•"/>
            </a:pPr>
            <a:r>
              <a:rPr lang="en-US"/>
              <a:t>Zero or one					0..1</a:t>
            </a:r>
            <a:endParaRPr/>
          </a:p>
          <a:p>
            <a:pPr indent="-406400" lvl="0" marL="457200" rtl="0" algn="l">
              <a:spcBef>
                <a:spcPts val="0"/>
              </a:spcBef>
              <a:spcAft>
                <a:spcPts val="0"/>
              </a:spcAft>
              <a:buSzPts val="2800"/>
              <a:buFont typeface="Calibri"/>
              <a:buChar char="•"/>
            </a:pPr>
            <a:r>
              <a:rPr lang="en-US"/>
              <a:t>Specified range				2..4</a:t>
            </a:r>
            <a:endParaRPr/>
          </a:p>
          <a:p>
            <a:pPr indent="-406400" lvl="0" marL="457200" rtl="0" algn="l">
              <a:spcBef>
                <a:spcPts val="0"/>
              </a:spcBef>
              <a:spcAft>
                <a:spcPts val="0"/>
              </a:spcAft>
              <a:buSzPts val="2800"/>
              <a:buFont typeface="Calibri"/>
              <a:buChar char="•"/>
            </a:pPr>
            <a:r>
              <a:rPr lang="en-US"/>
              <a:t>Multiple, disjoint ranges	1..3, 5</a:t>
            </a:r>
            <a:endParaRPr/>
          </a:p>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Task</a:t>
            </a:r>
            <a:endParaRPr b="1" sz="3300">
              <a:latin typeface="Lexend"/>
              <a:ea typeface="Lexend"/>
              <a:cs typeface="Lexend"/>
              <a:sym typeface="Lexend"/>
            </a:endParaRPr>
          </a:p>
        </p:txBody>
      </p:sp>
      <p:sp>
        <p:nvSpPr>
          <p:cNvPr id="413" name="Google Shape;413;p41"/>
          <p:cNvSpPr txBox="1"/>
          <p:nvPr>
            <p:ph idx="1" type="body"/>
          </p:nvPr>
        </p:nvSpPr>
        <p:spPr>
          <a:xfrm>
            <a:off x="838200" y="1825625"/>
            <a:ext cx="10515600" cy="4434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600"/>
              <a:t>You've been assigned the development of a Library Management System. The library system is composed of multiple branches, each housing a collection of items. The library has 3 types of items: Books, DVDs, and Journals. Each library item is identified by a distinct code, contains information about its acquisition date and a specific author or creator.</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US" sz="1600"/>
              <a:t>Library patrons can engage in activities such as borrowing items, returning them, and checking the availability of resources. In addition to the general library items, special features are implemented for different types of items. For instance, books can be reserved, DVDs have a return date, and Journals provide access to specific articles.</a:t>
            </a:r>
            <a:endParaRPr sz="1600"/>
          </a:p>
          <a:p>
            <a:pPr indent="0" lvl="0" marL="0" rtl="0" algn="l">
              <a:spcBef>
                <a:spcPts val="0"/>
              </a:spcBef>
              <a:spcAft>
                <a:spcPts val="0"/>
              </a:spcAft>
              <a:buNone/>
            </a:pPr>
            <a:r>
              <a:rPr lang="en-US" sz="1600"/>
              <a:t>Library patrons are allowed to have multiple borrowed items, but each item is uniquely associated with one patron. The library is managed by a team of employees, each having a unique ID, name, hiring date, and expertise level indicating their experience in the library system.</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US" sz="1600"/>
              <a:t>The library staff is divided into two categories: Librarians and Assistants. Both roles have distinct attributes and methods tailored to their specific responsibilities within the library system. It is essential to ensure that the attributes and methods are appropriately configured for Librarians and Assistants to efficiently manage the library resources and provide quality service to patrons.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US" sz="1600"/>
              <a:t>Create a class diagram based on the given scenario. </a:t>
            </a:r>
            <a:endParaRPr sz="1600"/>
          </a:p>
          <a:p>
            <a:pPr indent="0" lvl="0" marL="0" rtl="0" algn="l">
              <a:spcBef>
                <a:spcPts val="0"/>
              </a:spcBef>
              <a:spcAft>
                <a:spcPts val="0"/>
              </a:spcAft>
              <a:buNone/>
            </a:pPr>
            <a:r>
              <a:t/>
            </a:r>
            <a:endParaRPr sz="15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Task - Solve</a:t>
            </a:r>
            <a:endParaRPr b="1" sz="3300">
              <a:latin typeface="Lexend"/>
              <a:ea typeface="Lexend"/>
              <a:cs typeface="Lexend"/>
              <a:sym typeface="Lexend"/>
            </a:endParaRPr>
          </a:p>
        </p:txBody>
      </p:sp>
      <p:pic>
        <p:nvPicPr>
          <p:cNvPr id="419" name="Google Shape;419;p42"/>
          <p:cNvPicPr preferRelativeResize="0"/>
          <p:nvPr/>
        </p:nvPicPr>
        <p:blipFill>
          <a:blip r:embed="rId3">
            <a:alphaModFix/>
          </a:blip>
          <a:stretch>
            <a:fillRect/>
          </a:stretch>
        </p:blipFill>
        <p:spPr>
          <a:xfrm>
            <a:off x="2123352" y="1432974"/>
            <a:ext cx="8442449" cy="52576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