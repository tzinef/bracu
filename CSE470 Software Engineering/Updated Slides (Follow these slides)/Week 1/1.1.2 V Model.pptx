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Lexend"/>
      <p:regular r:id="rId17"/>
      <p:bold r:id="rId18"/>
    </p:embeddedFont>
    <p:embeddedFont>
      <p:font typeface="Gill Sans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unito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Lexend-regular.fntdata"/><Relationship Id="rId16" Type="http://schemas.openxmlformats.org/officeDocument/2006/relationships/font" Target="fonts/Nunito-boldItalic.fntdata"/><Relationship Id="rId5" Type="http://schemas.openxmlformats.org/officeDocument/2006/relationships/slide" Target="slides/slide1.xml"/><Relationship Id="rId19" Type="http://schemas.openxmlformats.org/officeDocument/2006/relationships/font" Target="fonts/GillSans-regular.fntdata"/><Relationship Id="rId6" Type="http://schemas.openxmlformats.org/officeDocument/2006/relationships/slide" Target="slides/slide2.xml"/><Relationship Id="rId18" Type="http://schemas.openxmlformats.org/officeDocument/2006/relationships/font" Target="fonts/Lexen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74cfe3e4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74cfe3e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3762e4c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e3762e4c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74cfe3e43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74cfe3e4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e371599e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e371599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e371599e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e371599e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e371599e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e371599e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e371599e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e371599e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V </a:t>
            </a:r>
            <a:r>
              <a:rPr lang="en-US" sz="3500"/>
              <a:t>Model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SDLC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3500"/>
              <a:t>(Software Development Life Cycle)</a:t>
            </a:r>
            <a:endParaRPr b="1"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a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V-Model is a variation of the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V-model depicts the relationship of quality assurance actions to the actions associated with communication, modeling, and early construction activities.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an extension of the Waterfall model that provides earlier and detailed Software Testing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Steps of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a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3381074" y="1761066"/>
            <a:ext cx="2229000" cy="4338000"/>
          </a:xfrm>
          <a:prstGeom prst="straightConnector1">
            <a:avLst/>
          </a:prstGeom>
          <a:noFill/>
          <a:ln cap="flat" cmpd="sng" w="1349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1" name="Google Shape;131;p15"/>
          <p:cNvCxnSpPr/>
          <p:nvPr/>
        </p:nvCxnSpPr>
        <p:spPr>
          <a:xfrm flipH="1" rot="10800000">
            <a:off x="6969116" y="1690825"/>
            <a:ext cx="1998600" cy="4408200"/>
          </a:xfrm>
          <a:prstGeom prst="straightConnector1">
            <a:avLst/>
          </a:prstGeom>
          <a:noFill/>
          <a:ln cap="flat" cmpd="sng" w="1185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2" name="Google Shape;132;p15"/>
          <p:cNvSpPr/>
          <p:nvPr/>
        </p:nvSpPr>
        <p:spPr>
          <a:xfrm>
            <a:off x="1951479" y="1761066"/>
            <a:ext cx="30357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Requirement Analysis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360232" y="1761066"/>
            <a:ext cx="28803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Acceptance 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563620" y="2714969"/>
            <a:ext cx="28803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Architecture Design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7360232" y="2714969"/>
            <a:ext cx="22572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System 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2160462" y="3668872"/>
            <a:ext cx="36867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Component/Module Design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7214738" y="3682780"/>
            <a:ext cx="27861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Integration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12303" y="4525897"/>
            <a:ext cx="23664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Code Generation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918117" y="4525897"/>
            <a:ext cx="21006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Unit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0" name="Google Shape;140;p15"/>
          <p:cNvCxnSpPr>
            <a:stCxn id="132" idx="3"/>
            <a:endCxn id="133" idx="1"/>
          </p:cNvCxnSpPr>
          <p:nvPr/>
        </p:nvCxnSpPr>
        <p:spPr>
          <a:xfrm>
            <a:off x="4987179" y="2008266"/>
            <a:ext cx="23730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1" name="Google Shape;141;p15"/>
          <p:cNvCxnSpPr>
            <a:stCxn id="134" idx="3"/>
            <a:endCxn id="135" idx="1"/>
          </p:cNvCxnSpPr>
          <p:nvPr/>
        </p:nvCxnSpPr>
        <p:spPr>
          <a:xfrm>
            <a:off x="5443920" y="2962169"/>
            <a:ext cx="19164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2" name="Google Shape;142;p15"/>
          <p:cNvCxnSpPr>
            <a:stCxn id="136" idx="3"/>
            <a:endCxn id="137" idx="1"/>
          </p:cNvCxnSpPr>
          <p:nvPr/>
        </p:nvCxnSpPr>
        <p:spPr>
          <a:xfrm>
            <a:off x="5847162" y="3916072"/>
            <a:ext cx="1367700" cy="1380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3" name="Google Shape;143;p15"/>
          <p:cNvCxnSpPr>
            <a:stCxn id="138" idx="3"/>
            <a:endCxn id="139" idx="1"/>
          </p:cNvCxnSpPr>
          <p:nvPr/>
        </p:nvCxnSpPr>
        <p:spPr>
          <a:xfrm>
            <a:off x="5678703" y="4773097"/>
            <a:ext cx="12393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Verification - Validation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38200" y="1825625"/>
            <a:ext cx="4680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Building the product in the right way is called “</a:t>
            </a:r>
            <a:r>
              <a:rPr b="1" lang="en-US"/>
              <a:t>Verification</a:t>
            </a:r>
            <a:r>
              <a:rPr lang="en-US"/>
              <a:t>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Building the right product is called “</a:t>
            </a:r>
            <a:r>
              <a:rPr b="1" lang="en-US"/>
              <a:t>Validation</a:t>
            </a:r>
            <a:r>
              <a:rPr lang="en-US"/>
              <a:t>”.</a:t>
            </a:r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7153812" y="1948663"/>
            <a:ext cx="1866300" cy="3998400"/>
          </a:xfrm>
          <a:prstGeom prst="straightConnector1">
            <a:avLst/>
          </a:prstGeom>
          <a:noFill/>
          <a:ln cap="flat" cmpd="sng" w="1627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1" name="Google Shape;151;p16"/>
          <p:cNvCxnSpPr/>
          <p:nvPr/>
        </p:nvCxnSpPr>
        <p:spPr>
          <a:xfrm flipH="1" rot="10800000">
            <a:off x="9137161" y="1690728"/>
            <a:ext cx="1750200" cy="4256400"/>
          </a:xfrm>
          <a:prstGeom prst="straightConnector1">
            <a:avLst/>
          </a:prstGeom>
          <a:noFill/>
          <a:ln cap="flat" cmpd="sng" w="143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2" name="Google Shape;152;p16"/>
          <p:cNvSpPr txBox="1"/>
          <p:nvPr/>
        </p:nvSpPr>
        <p:spPr>
          <a:xfrm rot="3881119">
            <a:off x="6035916" y="3586296"/>
            <a:ext cx="3037259" cy="597852"/>
          </a:xfrm>
          <a:prstGeom prst="rect">
            <a:avLst/>
          </a:prstGeom>
          <a:noFill/>
          <a:ln>
            <a:noFill/>
          </a:ln>
        </p:spPr>
        <p:txBody>
          <a:bodyPr anchorCtr="0" anchor="t" bIns="71000" lIns="142050" spcFirstLastPara="1" rIns="142050" wrap="square" tIns="71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Arial"/>
              <a:buNone/>
            </a:pPr>
            <a:r>
              <a:rPr b="1" i="0" lang="en-US" sz="2952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Verification</a:t>
            </a:r>
            <a:endParaRPr b="1" i="0" sz="2952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 rot="-4083535">
            <a:off x="8913266" y="3864965"/>
            <a:ext cx="2719368" cy="597868"/>
          </a:xfrm>
          <a:prstGeom prst="rect">
            <a:avLst/>
          </a:prstGeom>
          <a:noFill/>
          <a:ln>
            <a:noFill/>
          </a:ln>
        </p:spPr>
        <p:txBody>
          <a:bodyPr anchorCtr="0" anchor="t" bIns="71000" lIns="142050" spcFirstLastPara="1" rIns="142050" wrap="square" tIns="71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Arial"/>
              <a:buNone/>
            </a:pPr>
            <a:r>
              <a:rPr b="1" i="0" lang="en-US" sz="2952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Validation</a:t>
            </a:r>
            <a:endParaRPr b="1" i="0" sz="2952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Advantages of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High importance on Testing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Early Bug Identification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Improved Quality Assurance (QA)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Test activities planned before testing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Saves time over waterfall, higher chance of success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Same advantages as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Disa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dvantages of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Difficult to incorporate Requirement changes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Workable software at the last step of the model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If a test fails, then the test document and code both needs to be updated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Not suitable for projects with unclear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No step overlapping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to choose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Test heavy development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Projects suitable for Waterfall model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Roger S Pressman, Roger Pressman,"Software Engineering: A Practitioner's Approach", McGraw-Hill, 7th edition, 2010.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https://www.geeksforgeeks.org/software-engineering-sdlc-v-model/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