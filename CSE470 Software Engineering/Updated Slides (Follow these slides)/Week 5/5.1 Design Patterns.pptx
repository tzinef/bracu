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y="6858000" cx="12192000"/>
  <p:notesSz cx="6858000" cy="9144000"/>
  <p:embeddedFontLst>
    <p:embeddedFont>
      <p:font typeface="Lexend"/>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Lexend-regular.fntdata"/><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Lexend-bold.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92e2945b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a92e2945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92e2945b5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92e2945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92e2945b5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92e2945b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92e2945b5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92e2945b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92e2945b5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92e2945b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92e2945b5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92e2945b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92e2945b5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92e2945b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92e2945b5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92e2945b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3ffbe297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3ffbe29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3ffbe297f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3ffbe297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92e2945b5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a92e2945b5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92e2945b5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92e2945b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3ffbe297f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3ffbe297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3ffbe297f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3ffbe297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3ffbe297f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3ffbe29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3ffbe297f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3ffbe297f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3ffbe297f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3ffbe297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3ffbe297f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3ffbe297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3ffbe297f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a3ffbe297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a3ffbe297f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a3ffbe297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a3ffbe297f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a3ffbe297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3ffbe297f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3ffbe297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3ffbe297f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3ffbe297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3ffbe297f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3ffbe297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3ffbe297f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3ffbe297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3ffbe297f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a3ffbe297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3ffbe297f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3ffbe297f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stackoverflow.com/questions/978759/what-is-lazy-initialization-and-why-is-it-usefu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geeksforgeeks.org/python/inheritance-and-composition-in-python/" TargetMode="External"/><Relationship Id="rId4" Type="http://schemas.openxmlformats.org/officeDocument/2006/relationships/hyperlink" Target="http://geeksforgeeks.org/python/inheritance-and-composition-in-python/" TargetMode="External"/><Relationship Id="rId5" Type="http://schemas.openxmlformats.org/officeDocument/2006/relationships/hyperlink" Target="http://geeksforgeeks.org/python/inheritance-and-composition-in-python/" TargetMode="External"/><Relationship Id="rId6" Type="http://schemas.openxmlformats.org/officeDocument/2006/relationships/hyperlink" Target="http://geeksforgeeks.org/python/inheritance-and-composition-in-python/"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drive.google.com/file/d/1rWsGlWvuI6iis_EVfJp6lr_nZ0AcHfHa/view?usp=sharing" TargetMode="External"/><Relationship Id="rId4" Type="http://schemas.openxmlformats.org/officeDocument/2006/relationships/hyperlink" Target="https://drive.google.com/file/d/1rWsGlWvuI6iis_EVfJp6lr_nZ0AcHfHa/view?usp=sharing" TargetMode="External"/><Relationship Id="rId9" Type="http://schemas.openxmlformats.org/officeDocument/2006/relationships/hyperlink" Target="https://medium.com/@akshatsharma0610/adapter-design-pattern-in-java-fa20d6df25b8" TargetMode="External"/><Relationship Id="rId5" Type="http://schemas.openxmlformats.org/officeDocument/2006/relationships/hyperlink" Target="https://www.geeksforgeeks.org/system-design/singleton-design-pattern/" TargetMode="External"/><Relationship Id="rId6" Type="http://schemas.openxmlformats.org/officeDocument/2006/relationships/hyperlink" Target="https://www.geeksforgeeks.org/system-design/observer-pattern-set-1-introduction/" TargetMode="External"/><Relationship Id="rId7" Type="http://schemas.openxmlformats.org/officeDocument/2006/relationships/hyperlink" Target="https://www.geeksforgeeks.org/system-design/adapter-pattern/" TargetMode="External"/><Relationship Id="rId8" Type="http://schemas.openxmlformats.org/officeDocument/2006/relationships/hyperlink" Target="https://refactoring.guru/design-patterns/adapter"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300"/>
              <a:t>Design Pattern</a:t>
            </a:r>
            <a:endParaRPr sz="3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What is Design Pattern</a:t>
            </a:r>
            <a:endParaRPr>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Design patterns represent the best practices used by experienced object-oriented software developers. </a:t>
            </a:r>
            <a:endParaRPr/>
          </a:p>
          <a:p>
            <a:pPr indent="-406400" lvl="0" marL="457200" rtl="0" algn="l">
              <a:spcBef>
                <a:spcPts val="0"/>
              </a:spcBef>
              <a:spcAft>
                <a:spcPts val="0"/>
              </a:spcAft>
              <a:buSzPts val="2800"/>
              <a:buFont typeface="Calibri"/>
              <a:buChar char="•"/>
            </a:pPr>
            <a:r>
              <a:rPr lang="en-US"/>
              <a:t>Design patterns are solutions to general problems that software developers faced during software development. </a:t>
            </a:r>
            <a:endParaRPr/>
          </a:p>
          <a:p>
            <a:pPr indent="-406400" lvl="0" marL="457200" rtl="0" algn="l">
              <a:spcBef>
                <a:spcPts val="0"/>
              </a:spcBef>
              <a:spcAft>
                <a:spcPts val="0"/>
              </a:spcAft>
              <a:buSzPts val="2800"/>
              <a:buFont typeface="Calibri"/>
              <a:buChar char="•"/>
            </a:pPr>
            <a:r>
              <a:rPr lang="en-US"/>
              <a:t>These solutions were obtained by trial and error by numerous software developers over quite a substantial period of time.</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What is Gang of Four (GOF)</a:t>
            </a:r>
            <a:endParaRPr>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In 1994, four authors Erich Gamma, Richard Helm, Ralph Johnson and John Vlissides published a book titled Design Patterns - Elements of Reusable Object-Oriented Software which initiated the concept of Design Pattern in Software development. </a:t>
            </a:r>
            <a:endParaRPr/>
          </a:p>
          <a:p>
            <a:pPr indent="0" lvl="0" marL="0" rtl="0" algn="l">
              <a:spcBef>
                <a:spcPts val="1000"/>
              </a:spcBef>
              <a:spcAft>
                <a:spcPts val="0"/>
              </a:spcAft>
              <a:buNone/>
            </a:pPr>
            <a:r>
              <a:rPr lang="en-US"/>
              <a:t>These authors are collectively known as Gang of Four (GOF). According to these authors design patterns are primarily based on the following principles of object oriented design.</a:t>
            </a:r>
            <a:endParaRPr/>
          </a:p>
          <a:p>
            <a:pPr indent="-406400" lvl="0" marL="457200" rtl="0" algn="l">
              <a:spcBef>
                <a:spcPts val="1000"/>
              </a:spcBef>
              <a:spcAft>
                <a:spcPts val="0"/>
              </a:spcAft>
              <a:buSzPts val="2800"/>
              <a:buFont typeface="Calibri"/>
              <a:buChar char="•"/>
            </a:pPr>
            <a:r>
              <a:rPr lang="en-US"/>
              <a:t>Program to an interface not an implementation</a:t>
            </a:r>
            <a:endParaRPr/>
          </a:p>
          <a:p>
            <a:pPr indent="-406400" lvl="0" marL="457200" rtl="0" algn="l">
              <a:spcBef>
                <a:spcPts val="0"/>
              </a:spcBef>
              <a:spcAft>
                <a:spcPts val="0"/>
              </a:spcAft>
              <a:buSzPts val="2800"/>
              <a:buFont typeface="Calibri"/>
              <a:buChar char="•"/>
            </a:pPr>
            <a:r>
              <a:rPr lang="en-US"/>
              <a:t>Favor object composition over inheritance</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Usage of Design Pattern</a:t>
            </a:r>
            <a:endParaRPr>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500"/>
              <a:t>Design Patterns have two main usages in software development.</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b="1" lang="en-US" sz="2500"/>
              <a:t>Common platform for developers</a:t>
            </a:r>
            <a:endParaRPr b="1" sz="2500"/>
          </a:p>
          <a:p>
            <a:pPr indent="0" lvl="0" marL="0" rtl="0" algn="l">
              <a:spcBef>
                <a:spcPts val="0"/>
              </a:spcBef>
              <a:spcAft>
                <a:spcPts val="0"/>
              </a:spcAft>
              <a:buNone/>
            </a:pPr>
            <a:r>
              <a:rPr lang="en-US" sz="2500"/>
              <a:t>Design patterns provide a standard terminology and are specific to particular scenario. For example, a singleton design pattern signifies use of single object so all developers familiar with single design pattern will make use of single object and they can tell each other that program is following a singleton pattern.</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b="1" lang="en-US" sz="2500"/>
              <a:t>Best Practices</a:t>
            </a:r>
            <a:endParaRPr b="1" sz="2500"/>
          </a:p>
          <a:p>
            <a:pPr indent="0" lvl="0" marL="0" rtl="0" algn="l">
              <a:spcBef>
                <a:spcPts val="0"/>
              </a:spcBef>
              <a:spcAft>
                <a:spcPts val="0"/>
              </a:spcAft>
              <a:buNone/>
            </a:pPr>
            <a:r>
              <a:rPr lang="en-US" sz="2500"/>
              <a:t>Design patterns have been evolved over a long period of time and they provide best solutions to certain problems faced during software development. Learning these patterns helps inexperienced developers to learn software design in an easy and faster way.</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Types</a:t>
            </a:r>
            <a:r>
              <a:rPr lang="en-US">
                <a:latin typeface="Lexend"/>
                <a:ea typeface="Lexend"/>
                <a:cs typeface="Lexend"/>
                <a:sym typeface="Lexend"/>
              </a:rPr>
              <a:t> of Design Pat</a:t>
            </a:r>
            <a:r>
              <a:rPr lang="en-US">
                <a:latin typeface="Lexend"/>
                <a:ea typeface="Lexend"/>
                <a:cs typeface="Lexend"/>
                <a:sym typeface="Lexend"/>
              </a:rPr>
              <a:t>terns</a:t>
            </a:r>
            <a:endParaRPr>
              <a:latin typeface="Lexend"/>
              <a:ea typeface="Lexend"/>
              <a:cs typeface="Lexend"/>
              <a:sym typeface="Lexend"/>
            </a:endParaRPr>
          </a:p>
        </p:txBody>
      </p:sp>
      <p:sp>
        <p:nvSpPr>
          <p:cNvPr id="142" name="Google Shape;142;p17"/>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As per the design pattern reference book Design Patterns - Elements of Reusable Object-Oriented Software, there are 23 design patterns which can be classified in three categories: </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Creational</a:t>
            </a:r>
            <a:endParaRPr/>
          </a:p>
          <a:p>
            <a:pPr indent="-406400" lvl="0" marL="457200" rtl="0" algn="l">
              <a:spcBef>
                <a:spcPts val="0"/>
              </a:spcBef>
              <a:spcAft>
                <a:spcPts val="0"/>
              </a:spcAft>
              <a:buSzPts val="2800"/>
              <a:buFont typeface="Calibri"/>
              <a:buChar char="•"/>
            </a:pPr>
            <a:r>
              <a:rPr lang="en-US"/>
              <a:t>Structural</a:t>
            </a:r>
            <a:endParaRPr/>
          </a:p>
          <a:p>
            <a:pPr indent="-406400" lvl="0" marL="457200" rtl="0" algn="l">
              <a:spcBef>
                <a:spcPts val="0"/>
              </a:spcBef>
              <a:spcAft>
                <a:spcPts val="0"/>
              </a:spcAft>
              <a:buSzPts val="2800"/>
              <a:buFont typeface="Calibri"/>
              <a:buChar char="•"/>
            </a:pPr>
            <a:r>
              <a:rPr lang="en-US"/>
              <a:t>Behavioral</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Creational</a:t>
            </a:r>
            <a:endParaRPr>
              <a:latin typeface="Lexend"/>
              <a:ea typeface="Lexend"/>
              <a:cs typeface="Lexend"/>
              <a:sym typeface="Lexend"/>
            </a:endParaRPr>
          </a:p>
        </p:txBody>
      </p:sp>
      <p:sp>
        <p:nvSpPr>
          <p:cNvPr id="148" name="Google Shape;148;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Talks about object creations.</a:t>
            </a:r>
            <a:endParaRPr/>
          </a:p>
          <a:p>
            <a:pPr indent="-406400" lvl="0" marL="457200" rtl="0" algn="l">
              <a:spcBef>
                <a:spcPts val="0"/>
              </a:spcBef>
              <a:spcAft>
                <a:spcPts val="0"/>
              </a:spcAft>
              <a:buSzPts val="2800"/>
              <a:buFont typeface="Calibri"/>
              <a:buChar char="•"/>
            </a:pPr>
            <a:r>
              <a:rPr lang="en-US"/>
              <a:t>To make design more readable and less complex.</a:t>
            </a:r>
            <a:endParaRPr/>
          </a:p>
          <a:p>
            <a:pPr indent="-406400" lvl="0" marL="457200" rtl="0" algn="l">
              <a:spcBef>
                <a:spcPts val="0"/>
              </a:spcBef>
              <a:spcAft>
                <a:spcPts val="0"/>
              </a:spcAft>
              <a:buSzPts val="2800"/>
              <a:buFont typeface="Calibri"/>
              <a:buChar char="•"/>
            </a:pPr>
            <a:r>
              <a:rPr lang="en-US"/>
              <a:t>Talks about efficiently object creation.</a:t>
            </a:r>
            <a:endParaRPr/>
          </a:p>
          <a:p>
            <a:pPr indent="-406400" lvl="0" marL="457200" rtl="0" algn="l">
              <a:spcBef>
                <a:spcPts val="0"/>
              </a:spcBef>
              <a:spcAft>
                <a:spcPts val="0"/>
              </a:spcAft>
              <a:buSzPts val="2800"/>
              <a:buFont typeface="Calibri"/>
              <a:buChar char="•"/>
            </a:pPr>
            <a:r>
              <a:rPr lang="en-US"/>
              <a:t>Example: Singleton Pattern</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Structural</a:t>
            </a:r>
            <a:endParaRPr>
              <a:latin typeface="Lexend"/>
              <a:ea typeface="Lexend"/>
              <a:cs typeface="Lexend"/>
              <a:sym typeface="Lexend"/>
            </a:endParaRPr>
          </a:p>
        </p:txBody>
      </p:sp>
      <p:sp>
        <p:nvSpPr>
          <p:cNvPr id="154" name="Google Shape;154;p19"/>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Talks about how classes and objects can be composed.</a:t>
            </a:r>
            <a:endParaRPr/>
          </a:p>
          <a:p>
            <a:pPr indent="-406400" lvl="0" marL="457200" rtl="0" algn="l">
              <a:spcBef>
                <a:spcPts val="0"/>
              </a:spcBef>
              <a:spcAft>
                <a:spcPts val="0"/>
              </a:spcAft>
              <a:buSzPts val="2800"/>
              <a:buFont typeface="Calibri"/>
              <a:buChar char="•"/>
            </a:pPr>
            <a:r>
              <a:rPr lang="en-US"/>
              <a:t>Parent-child relationship like inheritance used for structuring more than one classes.</a:t>
            </a:r>
            <a:endParaRPr/>
          </a:p>
          <a:p>
            <a:pPr indent="-406400" lvl="0" marL="457200" rtl="0" algn="l">
              <a:spcBef>
                <a:spcPts val="0"/>
              </a:spcBef>
              <a:spcAft>
                <a:spcPts val="0"/>
              </a:spcAft>
              <a:buSzPts val="2800"/>
              <a:buFont typeface="Calibri"/>
              <a:buChar char="•"/>
            </a:pPr>
            <a:r>
              <a:rPr lang="en-US"/>
              <a:t>Deals with simplicity in identifying relationships.</a:t>
            </a:r>
            <a:endParaRPr/>
          </a:p>
          <a:p>
            <a:pPr indent="-406400" lvl="0" marL="457200" rtl="0" algn="l">
              <a:spcBef>
                <a:spcPts val="0"/>
              </a:spcBef>
              <a:spcAft>
                <a:spcPts val="0"/>
              </a:spcAft>
              <a:buSzPts val="2800"/>
              <a:buFont typeface="Calibri"/>
              <a:buChar char="•"/>
            </a:pPr>
            <a:r>
              <a:rPr lang="en-US"/>
              <a:t>Example: Adapter Pattern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Behavioral</a:t>
            </a:r>
            <a:endParaRPr>
              <a:latin typeface="Lexend"/>
              <a:ea typeface="Lexend"/>
              <a:cs typeface="Lexend"/>
              <a:sym typeface="Lexend"/>
            </a:endParaRPr>
          </a:p>
        </p:txBody>
      </p:sp>
      <p:sp>
        <p:nvSpPr>
          <p:cNvPr id="160" name="Google Shape;160;p20"/>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Deals with interactions and responsibility of objects.</a:t>
            </a:r>
            <a:endParaRPr/>
          </a:p>
          <a:p>
            <a:pPr indent="-406400" lvl="0" marL="457200" rtl="0" algn="l">
              <a:spcBef>
                <a:spcPts val="0"/>
              </a:spcBef>
              <a:spcAft>
                <a:spcPts val="0"/>
              </a:spcAft>
              <a:buSzPts val="2800"/>
              <a:buFont typeface="Calibri"/>
              <a:buChar char="•"/>
            </a:pPr>
            <a:r>
              <a:rPr lang="en-US"/>
              <a:t>Used for identifying and setting up common communication patterns among objects.</a:t>
            </a:r>
            <a:endParaRPr/>
          </a:p>
          <a:p>
            <a:pPr indent="-406400" lvl="0" marL="457200" rtl="0" algn="l">
              <a:spcBef>
                <a:spcPts val="0"/>
              </a:spcBef>
              <a:spcAft>
                <a:spcPts val="0"/>
              </a:spcAft>
              <a:buSzPts val="2800"/>
              <a:buFont typeface="Calibri"/>
              <a:buChar char="•"/>
            </a:pPr>
            <a:r>
              <a:rPr lang="en-US"/>
              <a:t>Example: Observer Pattern</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Observer Pattern</a:t>
            </a:r>
            <a:endParaRPr>
              <a:latin typeface="Lexend"/>
              <a:ea typeface="Lexend"/>
              <a:cs typeface="Lexend"/>
              <a:sym typeface="Lexend"/>
            </a:endParaRPr>
          </a:p>
        </p:txBody>
      </p:sp>
      <p:sp>
        <p:nvSpPr>
          <p:cNvPr id="166" name="Google Shape;166;p21"/>
          <p:cNvSpPr txBox="1"/>
          <p:nvPr>
            <p:ph idx="1" type="body"/>
          </p:nvPr>
        </p:nvSpPr>
        <p:spPr>
          <a:xfrm>
            <a:off x="838200" y="1825625"/>
            <a:ext cx="10515600" cy="1325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Intent</a:t>
            </a:r>
            <a:r>
              <a:rPr lang="en-US"/>
              <a:t>: Define a one-to-many dependency between objects so that when one object change state, all its dependents are notified and updated automatically.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67" name="Google Shape;167;p21"/>
          <p:cNvPicPr preferRelativeResize="0"/>
          <p:nvPr/>
        </p:nvPicPr>
        <p:blipFill rotWithShape="1">
          <a:blip r:embed="rId3">
            <a:alphaModFix/>
          </a:blip>
          <a:srcRect b="0" l="0" r="0" t="0"/>
          <a:stretch/>
        </p:blipFill>
        <p:spPr>
          <a:xfrm>
            <a:off x="3484175" y="3035603"/>
            <a:ext cx="5223649" cy="34824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Participants</a:t>
            </a:r>
            <a:endParaRPr>
              <a:latin typeface="Lexend"/>
              <a:ea typeface="Lexend"/>
              <a:cs typeface="Lexend"/>
              <a:sym typeface="Lexend"/>
            </a:endParaRPr>
          </a:p>
        </p:txBody>
      </p:sp>
      <p:sp>
        <p:nvSpPr>
          <p:cNvPr id="173" name="Google Shape;173;p22"/>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b="1" lang="en-US"/>
              <a:t>Subject</a:t>
            </a:r>
            <a:r>
              <a:rPr lang="en-US"/>
              <a:t>: knows its observers. Any number of Observer objects may observe a subject. It sends a notification to its observers when its state changes. (ex: Celebrity)</a:t>
            </a:r>
            <a:endParaRPr/>
          </a:p>
          <a:p>
            <a:pPr indent="-406400" lvl="0" marL="457200" rtl="0" algn="l">
              <a:spcBef>
                <a:spcPts val="1000"/>
              </a:spcBef>
              <a:spcAft>
                <a:spcPts val="0"/>
              </a:spcAft>
              <a:buSzPts val="2800"/>
              <a:buFont typeface="Calibri"/>
              <a:buChar char="•"/>
            </a:pPr>
            <a:r>
              <a:rPr b="1" lang="en-US"/>
              <a:t>Observer</a:t>
            </a:r>
            <a:r>
              <a:rPr lang="en-US"/>
              <a:t>: defines an updating interface for objects that should be notified changes in a subject. (ex: Fans)</a:t>
            </a:r>
            <a:endParaRPr/>
          </a:p>
          <a:p>
            <a:pPr indent="-406400" lvl="0" marL="457200" rtl="0" algn="l">
              <a:spcBef>
                <a:spcPts val="1000"/>
              </a:spcBef>
              <a:spcAft>
                <a:spcPts val="0"/>
              </a:spcAft>
              <a:buSzPts val="2800"/>
              <a:buFont typeface="Calibri"/>
              <a:buChar char="•"/>
            </a:pPr>
            <a:r>
              <a:rPr b="1" lang="en-US"/>
              <a:t>Concrete Subject</a:t>
            </a:r>
            <a:r>
              <a:rPr b="1" lang="en-US"/>
              <a:t>:</a:t>
            </a:r>
            <a:r>
              <a:rPr lang="en-US"/>
              <a:t> (ex: FilmCelebrity, FashionCelebrity)</a:t>
            </a:r>
            <a:endParaRPr/>
          </a:p>
          <a:p>
            <a:pPr indent="-406400" lvl="0" marL="457200" rtl="0" algn="l">
              <a:spcBef>
                <a:spcPts val="1000"/>
              </a:spcBef>
              <a:spcAft>
                <a:spcPts val="0"/>
              </a:spcAft>
              <a:buSzPts val="2800"/>
              <a:buFont typeface="Calibri"/>
              <a:buChar char="•"/>
            </a:pPr>
            <a:r>
              <a:rPr b="1" lang="en-US"/>
              <a:t>Concrete Observer</a:t>
            </a:r>
            <a:r>
              <a:rPr b="1" lang="en-US"/>
              <a:t> </a:t>
            </a:r>
            <a:r>
              <a:rPr lang="en-US"/>
              <a:t>(ex: FilmFan, FashionFan)</a:t>
            </a:r>
            <a:endParaRPr/>
          </a:p>
          <a:p>
            <a:pPr indent="0" lvl="0" marL="457200" rtl="0" algn="l">
              <a:spcBef>
                <a:spcPts val="100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Structure</a:t>
            </a:r>
            <a:endParaRPr>
              <a:latin typeface="Lexend"/>
              <a:ea typeface="Lexend"/>
              <a:cs typeface="Lexend"/>
              <a:sym typeface="Lexend"/>
            </a:endParaRPr>
          </a:p>
        </p:txBody>
      </p:sp>
      <p:pic>
        <p:nvPicPr>
          <p:cNvPr id="179" name="Google Shape;179;p23"/>
          <p:cNvPicPr preferRelativeResize="0"/>
          <p:nvPr>
            <p:ph idx="1" type="body"/>
          </p:nvPr>
        </p:nvPicPr>
        <p:blipFill rotWithShape="1">
          <a:blip r:embed="rId3">
            <a:alphaModFix/>
          </a:blip>
          <a:srcRect b="0" l="0" r="0" t="0"/>
          <a:stretch/>
        </p:blipFill>
        <p:spPr>
          <a:xfrm>
            <a:off x="1048803" y="1925550"/>
            <a:ext cx="10094400" cy="3606600"/>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Observer Pattern</a:t>
            </a:r>
            <a:endParaRPr>
              <a:latin typeface="Lexend"/>
              <a:ea typeface="Lexend"/>
              <a:cs typeface="Lexend"/>
              <a:sym typeface="Lexend"/>
            </a:endParaRPr>
          </a:p>
        </p:txBody>
      </p:sp>
      <p:sp>
        <p:nvSpPr>
          <p:cNvPr id="185" name="Google Shape;185;p24"/>
          <p:cNvSpPr txBox="1"/>
          <p:nvPr>
            <p:ph idx="1" type="body"/>
          </p:nvPr>
        </p:nvSpPr>
        <p:spPr>
          <a:xfrm>
            <a:off x="838200" y="1825625"/>
            <a:ext cx="10515600" cy="4396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100"/>
              <a:t>Class Teacher:</a:t>
            </a:r>
            <a:endParaRPr b="1" sz="2100"/>
          </a:p>
          <a:p>
            <a:pPr indent="0" lvl="0" marL="0" rtl="0" algn="l">
              <a:spcBef>
                <a:spcPts val="0"/>
              </a:spcBef>
              <a:spcAft>
                <a:spcPts val="0"/>
              </a:spcAft>
              <a:buNone/>
            </a:pPr>
            <a:r>
              <a:rPr lang="en-US" sz="2100"/>
              <a:t>	def __init__(self, name):</a:t>
            </a:r>
            <a:endParaRPr sz="2100"/>
          </a:p>
          <a:p>
            <a:pPr indent="0" lvl="0" marL="0" rtl="0" algn="l">
              <a:spcBef>
                <a:spcPts val="0"/>
              </a:spcBef>
              <a:spcAft>
                <a:spcPts val="0"/>
              </a:spcAft>
              <a:buNone/>
            </a:pPr>
            <a:r>
              <a:rPr lang="en-US" sz="2100"/>
              <a:t>		self.students=[]</a:t>
            </a:r>
            <a:endParaRPr sz="2100"/>
          </a:p>
          <a:p>
            <a:pPr indent="0" lvl="0" marL="0" rtl="0" algn="l">
              <a:spcBef>
                <a:spcPts val="0"/>
              </a:spcBef>
              <a:spcAft>
                <a:spcPts val="0"/>
              </a:spcAft>
              <a:buNone/>
            </a:pPr>
            <a:r>
              <a:rPr lang="en-US" sz="2100"/>
              <a:t>		self.name=name</a:t>
            </a:r>
            <a:endParaRPr sz="2100"/>
          </a:p>
          <a:p>
            <a:pPr indent="0" lvl="0" marL="0" rtl="0" algn="l">
              <a:spcBef>
                <a:spcPts val="0"/>
              </a:spcBef>
              <a:spcAft>
                <a:spcPts val="0"/>
              </a:spcAft>
              <a:buNone/>
            </a:pPr>
            <a:r>
              <a:rPr lang="en-US" sz="2100"/>
              <a:t>	def attach_student(self, student):</a:t>
            </a:r>
            <a:endParaRPr sz="2100"/>
          </a:p>
          <a:p>
            <a:pPr indent="0" lvl="0" marL="0" rtl="0" algn="l">
              <a:spcBef>
                <a:spcPts val="0"/>
              </a:spcBef>
              <a:spcAft>
                <a:spcPts val="0"/>
              </a:spcAft>
              <a:buNone/>
            </a:pPr>
            <a:r>
              <a:rPr lang="en-US" sz="2100"/>
              <a:t>		self.students.append(student)</a:t>
            </a:r>
            <a:endParaRPr sz="2100"/>
          </a:p>
          <a:p>
            <a:pPr indent="0" lvl="0" marL="0" rtl="0" algn="l">
              <a:spcBef>
                <a:spcPts val="0"/>
              </a:spcBef>
              <a:spcAft>
                <a:spcPts val="0"/>
              </a:spcAft>
              <a:buNone/>
            </a:pPr>
            <a:r>
              <a:rPr lang="en-US" sz="2100"/>
              <a:t>		print(f”{student.name} has been attached to {self.name}”)</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b="1" lang="en-US" sz="2100"/>
              <a:t>Class Student:</a:t>
            </a:r>
            <a:endParaRPr b="1" sz="2100"/>
          </a:p>
          <a:p>
            <a:pPr indent="0" lvl="0" marL="0" rtl="0" algn="l">
              <a:spcBef>
                <a:spcPts val="0"/>
              </a:spcBef>
              <a:spcAft>
                <a:spcPts val="0"/>
              </a:spcAft>
              <a:buNone/>
            </a:pPr>
            <a:r>
              <a:rPr lang="en-US" sz="2100"/>
              <a:t>	def__init__(self,name):                             </a:t>
            </a:r>
            <a:endParaRPr sz="2100"/>
          </a:p>
          <a:p>
            <a:pPr indent="0" lvl="0" marL="0" rtl="0" algn="l">
              <a:spcBef>
                <a:spcPts val="0"/>
              </a:spcBef>
              <a:spcAft>
                <a:spcPts val="0"/>
              </a:spcAft>
              <a:buNone/>
            </a:pPr>
            <a:r>
              <a:rPr lang="en-US" sz="2100"/>
              <a:t>		self.teachers=[]</a:t>
            </a:r>
            <a:endParaRPr sz="2100"/>
          </a:p>
          <a:p>
            <a:pPr indent="0" lvl="0" marL="0" rtl="0" algn="l">
              <a:spcBef>
                <a:spcPts val="0"/>
              </a:spcBef>
              <a:spcAft>
                <a:spcPts val="0"/>
              </a:spcAft>
              <a:buNone/>
            </a:pPr>
            <a:r>
              <a:rPr lang="en-US" sz="2100"/>
              <a:t>		self.name=name</a:t>
            </a:r>
            <a:endParaRPr sz="2100"/>
          </a:p>
          <a:p>
            <a:pPr indent="0" lvl="0" marL="0" rtl="0" algn="l">
              <a:spcBef>
                <a:spcPts val="0"/>
              </a:spcBef>
              <a:spcAft>
                <a:spcPts val="0"/>
              </a:spcAft>
              <a:buNone/>
            </a:pPr>
            <a:r>
              <a:rPr lang="en-US" sz="2100"/>
              <a:t>	def add_teachers(self,teacher):</a:t>
            </a:r>
            <a:endParaRPr sz="2100"/>
          </a:p>
          <a:p>
            <a:pPr indent="0" lvl="0" marL="0" rtl="0" algn="l">
              <a:spcBef>
                <a:spcPts val="0"/>
              </a:spcBef>
              <a:spcAft>
                <a:spcPts val="0"/>
              </a:spcAft>
              <a:buNone/>
            </a:pPr>
            <a:r>
              <a:rPr lang="en-US" sz="2100"/>
              <a:t>		self.teachers.append(teacher)</a:t>
            </a:r>
            <a:endParaRPr sz="2100"/>
          </a:p>
          <a:p>
            <a:pPr indent="0" lvl="0" marL="0" rtl="0" algn="l">
              <a:spcBef>
                <a:spcPts val="0"/>
              </a:spcBef>
              <a:spcAft>
                <a:spcPts val="0"/>
              </a:spcAft>
              <a:buNone/>
            </a:pPr>
            <a:r>
              <a:rPr lang="en-US" sz="2100"/>
              <a:t>		teacher.attach_student(self)</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t/>
            </a:r>
            <a:endParaRPr sz="2100"/>
          </a:p>
        </p:txBody>
      </p:sp>
      <p:sp>
        <p:nvSpPr>
          <p:cNvPr id="186" name="Google Shape;186;p24"/>
          <p:cNvSpPr txBox="1"/>
          <p:nvPr/>
        </p:nvSpPr>
        <p:spPr>
          <a:xfrm>
            <a:off x="6133750" y="1574375"/>
            <a:ext cx="5220000" cy="1943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US" sz="2300" u="none" cap="none" strike="noStrike">
                <a:solidFill>
                  <a:schemeClr val="dk1"/>
                </a:solidFill>
                <a:latin typeface="Calibri"/>
                <a:ea typeface="Calibri"/>
                <a:cs typeface="Calibri"/>
                <a:sym typeface="Calibri"/>
              </a:rPr>
              <a:t># driver code</a:t>
            </a:r>
            <a:br>
              <a:rPr b="1" i="0" lang="en-US" sz="2300" u="none" cap="none" strike="noStrike">
                <a:solidFill>
                  <a:schemeClr val="dk1"/>
                </a:solidFill>
                <a:latin typeface="Calibri"/>
                <a:ea typeface="Calibri"/>
                <a:cs typeface="Calibri"/>
                <a:sym typeface="Calibri"/>
              </a:rPr>
            </a:br>
            <a:endParaRPr b="1"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i="0" lang="en-US" sz="2300" u="none" cap="none" strike="noStrike">
                <a:solidFill>
                  <a:schemeClr val="dk1"/>
                </a:solidFill>
                <a:latin typeface="Calibri"/>
                <a:ea typeface="Calibri"/>
                <a:cs typeface="Calibri"/>
                <a:sym typeface="Calibri"/>
              </a:rPr>
              <a:t>teacher_fzn = Teacher(“FZN”)</a:t>
            </a:r>
            <a:endParaRPr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i="0" lang="en-US" sz="2300" u="none" cap="none" strike="noStrike">
                <a:solidFill>
                  <a:schemeClr val="dk1"/>
                </a:solidFill>
                <a:latin typeface="Calibri"/>
                <a:ea typeface="Calibri"/>
                <a:cs typeface="Calibri"/>
                <a:sym typeface="Calibri"/>
              </a:rPr>
              <a:t>student_ryan = Student(“Ryan”)</a:t>
            </a:r>
            <a:endParaRPr i="0" sz="2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rPr i="0" lang="en-US" sz="2300" u="none" cap="none" strike="noStrike">
                <a:solidFill>
                  <a:schemeClr val="dk1"/>
                </a:solidFill>
                <a:latin typeface="Calibri"/>
                <a:ea typeface="Calibri"/>
                <a:cs typeface="Calibri"/>
                <a:sym typeface="Calibri"/>
              </a:rPr>
              <a:t>student_ryan.add_teacher(teacher_fzn)</a:t>
            </a:r>
            <a:endParaRPr i="0" sz="23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5"/>
          <p:cNvSpPr txBox="1"/>
          <p:nvPr>
            <p:ph type="title"/>
          </p:nvPr>
        </p:nvSpPr>
        <p:spPr>
          <a:xfrm>
            <a:off x="838200" y="365125"/>
            <a:ext cx="10515600" cy="906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Fan-Celebrity Example</a:t>
            </a:r>
            <a:endParaRPr>
              <a:latin typeface="Lexend"/>
              <a:ea typeface="Lexend"/>
              <a:cs typeface="Lexend"/>
              <a:sym typeface="Lexend"/>
            </a:endParaRPr>
          </a:p>
        </p:txBody>
      </p:sp>
      <p:sp>
        <p:nvSpPr>
          <p:cNvPr id="192" name="Google Shape;192;p25"/>
          <p:cNvSpPr txBox="1"/>
          <p:nvPr/>
        </p:nvSpPr>
        <p:spPr>
          <a:xfrm>
            <a:off x="838200" y="1271125"/>
            <a:ext cx="2779800" cy="54981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a:t>
            </a:r>
            <a:r>
              <a:rPr b="1" lang="en-US" sz="1700">
                <a:solidFill>
                  <a:schemeClr val="dk1"/>
                </a:solidFill>
                <a:latin typeface="Calibri"/>
                <a:ea typeface="Calibri"/>
                <a:cs typeface="Calibri"/>
                <a:sym typeface="Calibri"/>
              </a:rPr>
              <a:t>Subject </a:t>
            </a:r>
            <a:r>
              <a:rPr lang="en-US" sz="1700">
                <a:solidFill>
                  <a:schemeClr val="dk1"/>
                </a:solidFill>
                <a:latin typeface="Calibri"/>
                <a:ea typeface="Calibri"/>
                <a:cs typeface="Calibri"/>
                <a:sym typeface="Calibri"/>
              </a:rPr>
              <a:t>(Celebrity)</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b="1" lang="en-US" sz="1700">
                <a:solidFill>
                  <a:schemeClr val="dk1"/>
                </a:solidFill>
                <a:latin typeface="Calibri"/>
                <a:ea typeface="Calibri"/>
                <a:cs typeface="Calibri"/>
                <a:sym typeface="Calibri"/>
              </a:rPr>
              <a:t>class Celebrity:</a:t>
            </a:r>
            <a:endParaRPr b="1"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__init__(self):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self._fans = []</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self._state = None</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attach(self, 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self._fans.append(fan)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detach(self, 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if fan in self.__fans:</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self._fans.remove(fan)</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notify(self):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for fan in self._fans:</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fan.update(self)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set_state(self, state):</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self._state = state</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self._notify()</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def get_state(self):</a:t>
            </a:r>
            <a:endParaRPr sz="1700">
              <a:solidFill>
                <a:schemeClr val="dk1"/>
              </a:solidFill>
              <a:latin typeface="Calibri"/>
              <a:ea typeface="Calibri"/>
              <a:cs typeface="Calibri"/>
              <a:sym typeface="Calibri"/>
            </a:endParaRPr>
          </a:p>
          <a:p>
            <a:pPr indent="0" lvl="0" marL="0" rtl="0" algn="l">
              <a:lnSpc>
                <a:spcPct val="115000"/>
              </a:lnSpc>
              <a:spcBef>
                <a:spcPts val="0"/>
              </a:spcBef>
              <a:spcAft>
                <a:spcPts val="0"/>
              </a:spcAft>
              <a:buNone/>
            </a:pPr>
            <a:r>
              <a:rPr lang="en-US" sz="1700">
                <a:solidFill>
                  <a:schemeClr val="dk1"/>
                </a:solidFill>
                <a:latin typeface="Calibri"/>
                <a:ea typeface="Calibri"/>
                <a:cs typeface="Calibri"/>
                <a:sym typeface="Calibri"/>
              </a:rPr>
              <a:t>        return self._state</a:t>
            </a:r>
            <a:endParaRPr sz="1700">
              <a:solidFill>
                <a:schemeClr val="dk1"/>
              </a:solidFill>
              <a:latin typeface="Calibri"/>
              <a:ea typeface="Calibri"/>
              <a:cs typeface="Calibri"/>
              <a:sym typeface="Calibri"/>
            </a:endParaRPr>
          </a:p>
        </p:txBody>
      </p:sp>
      <p:sp>
        <p:nvSpPr>
          <p:cNvPr id="193" name="Google Shape;193;p25"/>
          <p:cNvSpPr txBox="1"/>
          <p:nvPr/>
        </p:nvSpPr>
        <p:spPr>
          <a:xfrm>
            <a:off x="3760650" y="1271125"/>
            <a:ext cx="3756600" cy="39759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Observer </a:t>
            </a:r>
            <a:r>
              <a:rPr i="0" lang="en-US" sz="1800" u="none" cap="none" strike="noStrike">
                <a:solidFill>
                  <a:schemeClr val="dk1"/>
                </a:solidFill>
                <a:latin typeface="Calibri"/>
                <a:ea typeface="Calibri"/>
                <a:cs typeface="Calibri"/>
                <a:sym typeface="Calibri"/>
              </a:rPr>
              <a:t>(Fan)</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b="1" i="0" lang="en-US" sz="1800" u="none" cap="none" strike="noStrike">
                <a:solidFill>
                  <a:schemeClr val="dk1"/>
                </a:solidFill>
                <a:latin typeface="Calibri"/>
                <a:ea typeface="Calibri"/>
                <a:cs typeface="Calibri"/>
                <a:sym typeface="Calibri"/>
              </a:rPr>
              <a:t>class Fan</a:t>
            </a:r>
            <a:r>
              <a:rPr i="0" lang="en-US" sz="1800" u="none" cap="none" strike="noStrike">
                <a:solidFill>
                  <a:schemeClr val="dk1"/>
                </a:solidFill>
                <a:latin typeface="Calibri"/>
                <a:ea typeface="Calibri"/>
                <a:cs typeface="Calibri"/>
                <a:sym typeface="Calibri"/>
              </a:rPr>
              <a:t>:</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__init__(self):</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self._celebrities = []</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update(self, 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state = celebrity.get_state()</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add_celebrity(self, celebrity):         </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self._celebrities.append(celebrity)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celebrity.attach(self)</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def remove_celebrity(self, 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self._celebrities.remove(celebrity)</a:t>
            </a:r>
            <a:endParaRPr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800" u="none" cap="none" strike="noStrike">
                <a:solidFill>
                  <a:schemeClr val="dk1"/>
                </a:solidFill>
                <a:latin typeface="Calibri"/>
                <a:ea typeface="Calibri"/>
                <a:cs typeface="Calibri"/>
                <a:sym typeface="Calibri"/>
              </a:rPr>
              <a:t>        celebrity.detach(self)</a:t>
            </a:r>
            <a:endParaRPr i="0" sz="1800" u="none" cap="none" strike="noStrike">
              <a:solidFill>
                <a:schemeClr val="dk1"/>
              </a:solidFill>
              <a:latin typeface="Calibri"/>
              <a:ea typeface="Calibri"/>
              <a:cs typeface="Calibri"/>
              <a:sym typeface="Calibri"/>
            </a:endParaRPr>
          </a:p>
        </p:txBody>
      </p:sp>
      <p:sp>
        <p:nvSpPr>
          <p:cNvPr id="194" name="Google Shape;194;p25"/>
          <p:cNvSpPr txBox="1"/>
          <p:nvPr/>
        </p:nvSpPr>
        <p:spPr>
          <a:xfrm>
            <a:off x="7659900" y="1378000"/>
            <a:ext cx="3627000" cy="33465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1" lang="en-US" sz="1900">
                <a:solidFill>
                  <a:schemeClr val="dk1"/>
                </a:solidFill>
                <a:latin typeface="Calibri"/>
                <a:ea typeface="Calibri"/>
                <a:cs typeface="Calibri"/>
                <a:sym typeface="Calibri"/>
              </a:rPr>
              <a:t>#Driver Code</a:t>
            </a:r>
            <a:endParaRPr b="1" sz="19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celebrity = Celebrity()</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 = Fan()</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 starts following…</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fan.add_celebrity(celebrity)</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#celeb changes status and </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#notification is received by fan</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celebrity.set_state('New state')</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 can stop following…</a:t>
            </a:r>
            <a:endParaRPr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500"/>
              <a:buFont typeface="Arial"/>
              <a:buNone/>
            </a:pPr>
            <a:r>
              <a:rPr i="0" lang="en-US" sz="1900" u="none" cap="none" strike="noStrike">
                <a:solidFill>
                  <a:schemeClr val="dk1"/>
                </a:solidFill>
                <a:latin typeface="Calibri"/>
                <a:ea typeface="Calibri"/>
                <a:cs typeface="Calibri"/>
                <a:sym typeface="Calibri"/>
              </a:rPr>
              <a:t>fan.remove_celebrity(celebrity)</a:t>
            </a:r>
            <a:endParaRPr i="0" sz="1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Pattern</a:t>
            </a:r>
            <a:endParaRPr>
              <a:latin typeface="Lexend"/>
              <a:ea typeface="Lexend"/>
              <a:cs typeface="Lexend"/>
              <a:sym typeface="Lexend"/>
            </a:endParaRPr>
          </a:p>
        </p:txBody>
      </p:sp>
      <p:sp>
        <p:nvSpPr>
          <p:cNvPr id="200" name="Google Shape;200;p2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Intent:</a:t>
            </a:r>
            <a:r>
              <a:rPr lang="en-US"/>
              <a:t> Ensure a class only has one instance, and provide a global point of access to it.</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Motivation</a:t>
            </a:r>
            <a:r>
              <a:rPr lang="en-US"/>
              <a:t>: The reason behind is</a:t>
            </a:r>
            <a:endParaRPr/>
          </a:p>
          <a:p>
            <a:pPr indent="-342900" lvl="0" marL="457200" rtl="0" algn="l">
              <a:spcBef>
                <a:spcPts val="0"/>
              </a:spcBef>
              <a:spcAft>
                <a:spcPts val="0"/>
              </a:spcAft>
              <a:buSzPts val="1800"/>
              <a:buChar char="•"/>
            </a:pPr>
            <a:r>
              <a:rPr lang="en-US"/>
              <a:t>More than one instance will result in incorrect program behaviour. </a:t>
            </a:r>
            <a:endParaRPr/>
          </a:p>
          <a:p>
            <a:pPr indent="-342900" lvl="0" marL="457200" rtl="0" algn="l">
              <a:spcBef>
                <a:spcPts val="1000"/>
              </a:spcBef>
              <a:spcAft>
                <a:spcPts val="0"/>
              </a:spcAft>
              <a:buSzPts val="1800"/>
              <a:buChar char="•"/>
            </a:pPr>
            <a:r>
              <a:rPr lang="en-US"/>
              <a:t>More than one instance will result the overuse of resources. </a:t>
            </a:r>
            <a:endParaRPr/>
          </a:p>
          <a:p>
            <a:pPr indent="-342900" lvl="0" marL="457200" rtl="0" algn="l">
              <a:spcBef>
                <a:spcPts val="1000"/>
              </a:spcBef>
              <a:spcAft>
                <a:spcPts val="0"/>
              </a:spcAft>
              <a:buSzPts val="1800"/>
              <a:buChar char="•"/>
            </a:pPr>
            <a:r>
              <a:rPr lang="en-US"/>
              <a:t>Some classes should have only one instance throughout the system </a:t>
            </a:r>
            <a:endParaRPr/>
          </a:p>
          <a:p>
            <a:pPr indent="0" lvl="0" marL="457200" rtl="0" algn="l">
              <a:spcBef>
                <a:spcPts val="1000"/>
              </a:spcBef>
              <a:spcAft>
                <a:spcPts val="0"/>
              </a:spcAft>
              <a:buNone/>
            </a:pPr>
            <a:r>
              <a:t/>
            </a:r>
            <a:endParaRPr/>
          </a:p>
          <a:p>
            <a:pPr indent="0" lvl="0" marL="0" rtl="0" algn="l">
              <a:spcBef>
                <a:spcPts val="0"/>
              </a:spcBef>
              <a:spcAft>
                <a:spcPts val="0"/>
              </a:spcAft>
              <a:buNone/>
            </a:pPr>
            <a:r>
              <a:rPr b="1" lang="en-US"/>
              <a:t>Classification</a:t>
            </a:r>
            <a:r>
              <a:rPr lang="en-US"/>
              <a:t>: Classified as one of the most known Creational Pattern</a:t>
            </a:r>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Pattern</a:t>
            </a:r>
            <a:endParaRPr>
              <a:latin typeface="Lexend"/>
              <a:ea typeface="Lexend"/>
              <a:cs typeface="Lexend"/>
              <a:sym typeface="Lexend"/>
            </a:endParaRPr>
          </a:p>
        </p:txBody>
      </p:sp>
      <p:sp>
        <p:nvSpPr>
          <p:cNvPr id="206" name="Google Shape;206;p27"/>
          <p:cNvSpPr txBox="1"/>
          <p:nvPr>
            <p:ph idx="1" type="body"/>
          </p:nvPr>
        </p:nvSpPr>
        <p:spPr>
          <a:xfrm>
            <a:off x="838200" y="1825625"/>
            <a:ext cx="10515600" cy="2420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Participants: </a:t>
            </a:r>
            <a:endParaRPr b="1"/>
          </a:p>
          <a:p>
            <a:pPr indent="0" lvl="0" marL="0" rtl="0" algn="l">
              <a:spcBef>
                <a:spcPts val="0"/>
              </a:spcBef>
              <a:spcAft>
                <a:spcPts val="0"/>
              </a:spcAft>
              <a:buNone/>
            </a:pPr>
            <a:r>
              <a:rPr lang="en-US"/>
              <a:t>Singleton-defines an Instance operation that lets clients access its unique instance. Instance is a class operation .It may be responsible for creating its own unique instance. (ex: Singleton)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Structure</a:t>
            </a:r>
            <a:endParaRPr>
              <a:latin typeface="Lexend"/>
              <a:ea typeface="Lexend"/>
              <a:cs typeface="Lexend"/>
              <a:sym typeface="Lexend"/>
            </a:endParaRPr>
          </a:p>
        </p:txBody>
      </p:sp>
      <p:pic>
        <p:nvPicPr>
          <p:cNvPr id="212" name="Google Shape;212;p28"/>
          <p:cNvPicPr preferRelativeResize="0"/>
          <p:nvPr/>
        </p:nvPicPr>
        <p:blipFill>
          <a:blip r:embed="rId3">
            <a:alphaModFix/>
          </a:blip>
          <a:stretch>
            <a:fillRect/>
          </a:stretch>
        </p:blipFill>
        <p:spPr>
          <a:xfrm>
            <a:off x="2251063" y="1434525"/>
            <a:ext cx="7689887" cy="4862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Singleton </a:t>
            </a:r>
            <a:r>
              <a:rPr lang="en-US">
                <a:latin typeface="Lexend"/>
                <a:ea typeface="Lexend"/>
                <a:cs typeface="Lexend"/>
                <a:sym typeface="Lexend"/>
              </a:rPr>
              <a:t>Pattern Example</a:t>
            </a:r>
            <a:endParaRPr>
              <a:latin typeface="Lexend"/>
              <a:ea typeface="Lexend"/>
              <a:cs typeface="Lexend"/>
              <a:sym typeface="Lexend"/>
            </a:endParaRPr>
          </a:p>
        </p:txBody>
      </p:sp>
      <p:sp>
        <p:nvSpPr>
          <p:cNvPr id="218" name="Google Shape;218;p29"/>
          <p:cNvSpPr txBox="1"/>
          <p:nvPr>
            <p:ph idx="1" type="body"/>
          </p:nvPr>
        </p:nvSpPr>
        <p:spPr>
          <a:xfrm>
            <a:off x="140425" y="1586400"/>
            <a:ext cx="6288900" cy="2470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100"/>
              <a:t>class Singleton:</a:t>
            </a:r>
            <a:endParaRPr b="1" sz="2100"/>
          </a:p>
          <a:p>
            <a:pPr indent="0" lvl="0" marL="0" rtl="0" algn="l">
              <a:spcBef>
                <a:spcPts val="0"/>
              </a:spcBef>
              <a:spcAft>
                <a:spcPts val="0"/>
              </a:spcAft>
              <a:buNone/>
            </a:pPr>
            <a:r>
              <a:rPr lang="en-US" sz="2100"/>
              <a:t>    _instance = None</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def __new__(cls):</a:t>
            </a:r>
            <a:endParaRPr sz="2100"/>
          </a:p>
          <a:p>
            <a:pPr indent="0" lvl="0" marL="0" rtl="0" algn="l">
              <a:spcBef>
                <a:spcPts val="0"/>
              </a:spcBef>
              <a:spcAft>
                <a:spcPts val="0"/>
              </a:spcAft>
              <a:buNone/>
            </a:pPr>
            <a:r>
              <a:rPr lang="en-US" sz="2100"/>
              <a:t>        if cls._instance is None:</a:t>
            </a:r>
            <a:endParaRPr sz="2100"/>
          </a:p>
          <a:p>
            <a:pPr indent="0" lvl="0" marL="0" rtl="0" algn="l">
              <a:spcBef>
                <a:spcPts val="0"/>
              </a:spcBef>
              <a:spcAft>
                <a:spcPts val="0"/>
              </a:spcAft>
              <a:buNone/>
            </a:pPr>
            <a:r>
              <a:rPr lang="en-US" sz="2100"/>
              <a:t>            print(' instance creating’)</a:t>
            </a:r>
            <a:endParaRPr sz="2100"/>
          </a:p>
          <a:p>
            <a:pPr indent="0" lvl="0" marL="0" rtl="0" algn="l">
              <a:spcBef>
                <a:spcPts val="0"/>
              </a:spcBef>
              <a:spcAft>
                <a:spcPts val="0"/>
              </a:spcAft>
              <a:buNone/>
            </a:pPr>
            <a:r>
              <a:rPr lang="en-US" sz="2100"/>
              <a:t>            cls._instance = super(Singleton, cls).__new__(cls) </a:t>
            </a:r>
            <a:r>
              <a:rPr lang="en-US" sz="2100">
                <a:solidFill>
                  <a:schemeClr val="accent2"/>
                </a:solidFill>
              </a:rPr>
              <a:t># return object reference or memory location</a:t>
            </a:r>
            <a:endParaRPr sz="2100">
              <a:solidFill>
                <a:schemeClr val="accent2"/>
              </a:solidFill>
            </a:endParaRPr>
          </a:p>
          <a:p>
            <a:pPr indent="0" lvl="0" marL="0" rtl="0" algn="l">
              <a:spcBef>
                <a:spcPts val="0"/>
              </a:spcBef>
              <a:spcAft>
                <a:spcPts val="0"/>
              </a:spcAft>
              <a:buNone/>
            </a:pPr>
            <a:r>
              <a:rPr lang="en-US" sz="2100"/>
              <a:t>        return cls._instance</a:t>
            </a:r>
            <a:endParaRPr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
        <p:nvSpPr>
          <p:cNvPr id="219" name="Google Shape;219;p29"/>
          <p:cNvSpPr txBox="1"/>
          <p:nvPr/>
        </p:nvSpPr>
        <p:spPr>
          <a:xfrm>
            <a:off x="6718400" y="1586400"/>
            <a:ext cx="4404600" cy="34476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358"/>
              <a:buFont typeface="Arial"/>
              <a:buNone/>
            </a:pPr>
            <a:r>
              <a:rPr b="1" i="0" lang="en-US" sz="2100" u="none" cap="none" strike="noStrike">
                <a:solidFill>
                  <a:schemeClr val="dk1"/>
                </a:solidFill>
                <a:latin typeface="Calibri"/>
                <a:ea typeface="Calibri"/>
                <a:cs typeface="Calibri"/>
                <a:sym typeface="Calibri"/>
              </a:rPr>
              <a:t># </a:t>
            </a:r>
            <a:r>
              <a:rPr b="1" lang="en-US" sz="2100">
                <a:solidFill>
                  <a:schemeClr val="dk1"/>
                </a:solidFill>
                <a:latin typeface="Calibri"/>
                <a:ea typeface="Calibri"/>
                <a:cs typeface="Calibri"/>
                <a:sym typeface="Calibri"/>
              </a:rPr>
              <a:t>Driver Code</a:t>
            </a:r>
            <a:endParaRPr b="1"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Let's assume that multiple clients need the service</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client1 = Singleton()</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client2 = Singleton()</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client3 = Singleton()</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i="0" lang="en-US" sz="2100" u="none" cap="none" strike="noStrike">
                <a:solidFill>
                  <a:schemeClr val="dk1"/>
                </a:solidFill>
                <a:latin typeface="Calibri"/>
                <a:ea typeface="Calibri"/>
                <a:cs typeface="Calibri"/>
                <a:sym typeface="Calibri"/>
              </a:rPr>
              <a:t>    </a:t>
            </a:r>
            <a:r>
              <a:rPr b="1" i="0" lang="en-US" sz="2100" u="none" cap="none" strike="noStrike">
                <a:solidFill>
                  <a:schemeClr val="dk1"/>
                </a:solidFill>
                <a:latin typeface="Calibri"/>
                <a:ea typeface="Calibri"/>
                <a:cs typeface="Calibri"/>
                <a:sym typeface="Calibri"/>
              </a:rPr>
              <a:t>print(client1 is client2 is client3)</a:t>
            </a:r>
            <a:endParaRPr b="1"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i="0" sz="2100" u="none" cap="none" strike="noStrike">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i="0" sz="2100" u="none" cap="none" strike="noStrike">
              <a:solidFill>
                <a:schemeClr val="dk1"/>
              </a:solidFill>
              <a:latin typeface="Calibri"/>
              <a:ea typeface="Calibri"/>
              <a:cs typeface="Calibri"/>
              <a:sym typeface="Calibri"/>
            </a:endParaRPr>
          </a:p>
        </p:txBody>
      </p:sp>
      <p:sp>
        <p:nvSpPr>
          <p:cNvPr id="220" name="Google Shape;220;p29"/>
          <p:cNvSpPr txBox="1"/>
          <p:nvPr>
            <p:ph idx="1" type="body"/>
          </p:nvPr>
        </p:nvSpPr>
        <p:spPr>
          <a:xfrm>
            <a:off x="312775" y="4250725"/>
            <a:ext cx="6288900" cy="1161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2100"/>
              <a:t>class Regular:</a:t>
            </a:r>
            <a:endParaRPr b="1" sz="2100"/>
          </a:p>
          <a:p>
            <a:pPr indent="0" lvl="0" marL="0" rtl="0" algn="l">
              <a:spcBef>
                <a:spcPts val="0"/>
              </a:spcBef>
              <a:spcAft>
                <a:spcPts val="0"/>
              </a:spcAft>
              <a:buNone/>
            </a:pPr>
            <a:r>
              <a:rPr lang="en-US" sz="2100"/>
              <a:t>    def __init__(self):</a:t>
            </a:r>
            <a:endParaRPr sz="2100"/>
          </a:p>
          <a:p>
            <a:pPr indent="0" lvl="0" marL="0" rtl="0" algn="l">
              <a:spcBef>
                <a:spcPts val="0"/>
              </a:spcBef>
              <a:spcAft>
                <a:spcPts val="0"/>
              </a:spcAft>
              <a:buNone/>
            </a:pPr>
            <a:r>
              <a:rPr lang="en-US" sz="2100"/>
              <a:t>	print(“new object created”)</a:t>
            </a:r>
            <a:endParaRPr sz="2100"/>
          </a:p>
          <a:p>
            <a:pPr indent="0" lvl="0" marL="0" rtl="0" algn="l">
              <a:spcBef>
                <a:spcPts val="0"/>
              </a:spcBef>
              <a:spcAft>
                <a:spcPts val="0"/>
              </a:spcAft>
              <a:buNone/>
            </a:pPr>
            <a:r>
              <a:t/>
            </a:r>
            <a:endParaRPr b="1" sz="2100"/>
          </a:p>
        </p:txBody>
      </p:sp>
      <p:sp>
        <p:nvSpPr>
          <p:cNvPr id="221" name="Google Shape;221;p29"/>
          <p:cNvSpPr txBox="1"/>
          <p:nvPr/>
        </p:nvSpPr>
        <p:spPr>
          <a:xfrm>
            <a:off x="937000" y="5552200"/>
            <a:ext cx="10655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Now imagine what will happen if we run the driver code for both Singleton and Regular classes</a:t>
            </a:r>
            <a:endParaRPr sz="2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0"/>
          <p:cNvSpPr txBox="1"/>
          <p:nvPr>
            <p:ph type="title"/>
          </p:nvPr>
        </p:nvSpPr>
        <p:spPr>
          <a:xfrm>
            <a:off x="838200" y="528300"/>
            <a:ext cx="10515600" cy="82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Why it works</a:t>
            </a:r>
            <a:endParaRPr>
              <a:latin typeface="Lexend"/>
              <a:ea typeface="Lexend"/>
              <a:cs typeface="Lexend"/>
              <a:sym typeface="Lexend"/>
            </a:endParaRPr>
          </a:p>
        </p:txBody>
      </p:sp>
      <p:sp>
        <p:nvSpPr>
          <p:cNvPr id="227" name="Google Shape;227;p30"/>
          <p:cNvSpPr txBox="1"/>
          <p:nvPr>
            <p:ph idx="1" type="body"/>
          </p:nvPr>
        </p:nvSpPr>
        <p:spPr>
          <a:xfrm>
            <a:off x="838200" y="1436875"/>
            <a:ext cx="10515600" cy="1633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Instantiation</a:t>
            </a:r>
            <a:r>
              <a:rPr lang="en-US"/>
              <a:t>: __new__() is responsible for creating a new instance of the class. It allocates memory and prepares the object.</a:t>
            </a:r>
            <a:endParaRPr/>
          </a:p>
          <a:p>
            <a:pPr indent="0" lvl="0" marL="0" rtl="0" algn="l">
              <a:spcBef>
                <a:spcPts val="0"/>
              </a:spcBef>
              <a:spcAft>
                <a:spcPts val="0"/>
              </a:spcAft>
              <a:buNone/>
            </a:pPr>
            <a:r>
              <a:rPr b="1" lang="en-US"/>
              <a:t>Initialization</a:t>
            </a:r>
            <a:r>
              <a:rPr lang="en-US"/>
              <a:t>: After __new__() returns the new instance, the __init__() method is called to initialize the object’s state.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
        <p:nvSpPr>
          <p:cNvPr id="228" name="Google Shape;228;p30"/>
          <p:cNvSpPr txBox="1"/>
          <p:nvPr/>
        </p:nvSpPr>
        <p:spPr>
          <a:xfrm>
            <a:off x="966900" y="3189775"/>
            <a:ext cx="5741700" cy="3234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n-US" sz="2100">
                <a:solidFill>
                  <a:schemeClr val="dk1"/>
                </a:solidFill>
                <a:latin typeface="Calibri"/>
                <a:ea typeface="Calibri"/>
                <a:cs typeface="Calibri"/>
                <a:sym typeface="Calibri"/>
              </a:rPr>
              <a:t>class MyClass:</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def __new__(cls, *args, **kwargs):</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instance = super(MyClass, cls).__new__(cls)</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print("Instance created")</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return instance</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def __init__(self, value):</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self.value = value</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        print("Instance initialized")</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29" name="Google Shape;229;p30"/>
          <p:cNvSpPr txBox="1"/>
          <p:nvPr/>
        </p:nvSpPr>
        <p:spPr>
          <a:xfrm>
            <a:off x="6708475" y="3239600"/>
            <a:ext cx="5502300" cy="2221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US" sz="2100">
                <a:solidFill>
                  <a:schemeClr val="dk1"/>
                </a:solidFill>
                <a:latin typeface="Calibri"/>
                <a:ea typeface="Calibri"/>
                <a:cs typeface="Calibri"/>
                <a:sym typeface="Calibri"/>
              </a:rPr>
              <a:t>#Driver Code</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obj = MyClass(10)</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b="1" lang="en-US" sz="2100">
                <a:solidFill>
                  <a:schemeClr val="dk1"/>
                </a:solidFill>
                <a:latin typeface="Calibri"/>
                <a:ea typeface="Calibri"/>
                <a:cs typeface="Calibri"/>
                <a:sym typeface="Calibri"/>
              </a:rPr>
              <a:t>#Output:</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Instance created</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Instance initialized</a:t>
            </a:r>
            <a:endParaRPr sz="2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ph type="title"/>
          </p:nvPr>
        </p:nvSpPr>
        <p:spPr>
          <a:xfrm>
            <a:off x="838200" y="528300"/>
            <a:ext cx="10515600" cy="827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Lazy Instance</a:t>
            </a:r>
            <a:endParaRPr>
              <a:latin typeface="Lexend"/>
              <a:ea typeface="Lexend"/>
              <a:cs typeface="Lexend"/>
              <a:sym typeface="Lexend"/>
            </a:endParaRPr>
          </a:p>
        </p:txBody>
      </p:sp>
      <p:sp>
        <p:nvSpPr>
          <p:cNvPr id="235" name="Google Shape;235;p31"/>
          <p:cNvSpPr txBox="1"/>
          <p:nvPr>
            <p:ph idx="1" type="body"/>
          </p:nvPr>
        </p:nvSpPr>
        <p:spPr>
          <a:xfrm>
            <a:off x="838200" y="1436875"/>
            <a:ext cx="10515600" cy="1633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Singleton make use of lazy initiation of the class. It means that its creation is deferred until it is first used. It helps to improve performance, avoid wasteful computation and reduce program memory requirement.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
        <p:nvSpPr>
          <p:cNvPr id="236" name="Google Shape;236;p31"/>
          <p:cNvSpPr txBox="1"/>
          <p:nvPr/>
        </p:nvSpPr>
        <p:spPr>
          <a:xfrm>
            <a:off x="966900" y="3189775"/>
            <a:ext cx="10386900" cy="2802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2800">
                <a:solidFill>
                  <a:schemeClr val="dk1"/>
                </a:solidFill>
                <a:latin typeface="Calibri"/>
                <a:ea typeface="Calibri"/>
                <a:cs typeface="Calibri"/>
                <a:sym typeface="Calibri"/>
              </a:rPr>
              <a:t>if(singleInstance == null){</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2800">
                <a:solidFill>
                  <a:schemeClr val="dk1"/>
                </a:solidFill>
                <a:latin typeface="Calibri"/>
                <a:ea typeface="Calibri"/>
                <a:cs typeface="Calibri"/>
                <a:sym typeface="Calibri"/>
              </a:rPr>
              <a:t>      singleInstance = new Singleton(); // Lazy initialization</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lang="en-US" sz="2800">
                <a:solidFill>
                  <a:schemeClr val="dk1"/>
                </a:solidFill>
                <a:latin typeface="Calibri"/>
                <a:ea typeface="Calibri"/>
                <a:cs typeface="Calibri"/>
                <a:sym typeface="Calibri"/>
              </a:rPr>
              <a:t> }</a:t>
            </a:r>
            <a:endParaRPr sz="28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t/>
            </a:r>
            <a:endParaRPr b="1" sz="2100">
              <a:solidFill>
                <a:schemeClr val="dk1"/>
              </a:solidFill>
              <a:latin typeface="Calibri"/>
              <a:ea typeface="Calibri"/>
              <a:cs typeface="Calibri"/>
              <a:sym typeface="Calibri"/>
            </a:endParaRPr>
          </a:p>
          <a:p>
            <a:pPr indent="0" lvl="0" marL="0" rtl="0" algn="l">
              <a:lnSpc>
                <a:spcPct val="90000"/>
              </a:lnSpc>
              <a:spcBef>
                <a:spcPts val="0"/>
              </a:spcBef>
              <a:spcAft>
                <a:spcPts val="0"/>
              </a:spcAft>
              <a:buNone/>
            </a:pPr>
            <a:r>
              <a:rPr b="1" lang="en-US" sz="2100">
                <a:solidFill>
                  <a:schemeClr val="dk1"/>
                </a:solidFill>
                <a:latin typeface="Calibri"/>
                <a:ea typeface="Calibri"/>
                <a:cs typeface="Calibri"/>
                <a:sym typeface="Calibri"/>
              </a:rPr>
              <a:t>Read more </a:t>
            </a:r>
            <a:r>
              <a:rPr b="1" lang="en-US" sz="2100" u="sng">
                <a:solidFill>
                  <a:schemeClr val="hlink"/>
                </a:solidFill>
                <a:latin typeface="Calibri"/>
                <a:ea typeface="Calibri"/>
                <a:cs typeface="Calibri"/>
                <a:sym typeface="Calibri"/>
                <a:hlinkClick r:id="rId3"/>
              </a:rPr>
              <a:t>HERE</a:t>
            </a:r>
            <a:endParaRPr sz="21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a:t>
            </a:r>
            <a:endParaRPr>
              <a:latin typeface="Lexend"/>
              <a:ea typeface="Lexend"/>
              <a:cs typeface="Lexend"/>
              <a:sym typeface="Lexend"/>
            </a:endParaRPr>
          </a:p>
        </p:txBody>
      </p:sp>
      <p:pic>
        <p:nvPicPr>
          <p:cNvPr id="242" name="Google Shape;242;p32"/>
          <p:cNvPicPr preferRelativeResize="0"/>
          <p:nvPr/>
        </p:nvPicPr>
        <p:blipFill rotWithShape="1">
          <a:blip r:embed="rId3">
            <a:alphaModFix/>
          </a:blip>
          <a:srcRect b="0" l="0" r="0" t="0"/>
          <a:stretch/>
        </p:blipFill>
        <p:spPr>
          <a:xfrm>
            <a:off x="1534701" y="1991521"/>
            <a:ext cx="9122600" cy="4186150"/>
          </a:xfrm>
          <a:prstGeom prst="rect">
            <a:avLst/>
          </a:prstGeom>
          <a:noFill/>
          <a:ln>
            <a:noFill/>
          </a:ln>
        </p:spPr>
      </p:pic>
      <p:sp>
        <p:nvSpPr>
          <p:cNvPr id="243" name="Google Shape;243;p32"/>
          <p:cNvSpPr txBox="1"/>
          <p:nvPr/>
        </p:nvSpPr>
        <p:spPr>
          <a:xfrm>
            <a:off x="838200" y="1564975"/>
            <a:ext cx="574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In the real world...</a:t>
            </a:r>
            <a:endParaRPr sz="2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a:t>
            </a:r>
            <a:endParaRPr>
              <a:latin typeface="Lexend"/>
              <a:ea typeface="Lexend"/>
              <a:cs typeface="Lexend"/>
              <a:sym typeface="Lexend"/>
            </a:endParaRPr>
          </a:p>
        </p:txBody>
      </p:sp>
      <p:sp>
        <p:nvSpPr>
          <p:cNvPr id="249" name="Google Shape;249;p33"/>
          <p:cNvSpPr txBox="1"/>
          <p:nvPr>
            <p:ph idx="1" type="body"/>
          </p:nvPr>
        </p:nvSpPr>
        <p:spPr>
          <a:xfrm>
            <a:off x="838200" y="1606325"/>
            <a:ext cx="10515600" cy="4284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Participants: </a:t>
            </a:r>
            <a:endParaRPr/>
          </a:p>
          <a:p>
            <a:pPr indent="-342900" lvl="0" marL="457200" rtl="0" algn="l">
              <a:spcBef>
                <a:spcPts val="0"/>
              </a:spcBef>
              <a:spcAft>
                <a:spcPts val="0"/>
              </a:spcAft>
              <a:buSzPts val="1800"/>
              <a:buChar char="•"/>
            </a:pPr>
            <a:r>
              <a:rPr b="1" lang="en-US"/>
              <a:t>Target</a:t>
            </a:r>
            <a:r>
              <a:rPr lang="en-US"/>
              <a:t>: defines the domain-specific interface that Client uses. (ex: Pizza)</a:t>
            </a:r>
            <a:endParaRPr/>
          </a:p>
          <a:p>
            <a:pPr indent="-342900" lvl="0" marL="457200" rtl="0" algn="l">
              <a:spcBef>
                <a:spcPts val="1000"/>
              </a:spcBef>
              <a:spcAft>
                <a:spcPts val="0"/>
              </a:spcAft>
              <a:buSzPts val="1800"/>
              <a:buChar char="•"/>
            </a:pPr>
            <a:r>
              <a:rPr b="1" lang="en-US"/>
              <a:t>Client</a:t>
            </a:r>
            <a:r>
              <a:rPr lang="en-US"/>
              <a:t>: collaborates with objects conforming to the Target interface.</a:t>
            </a:r>
            <a:endParaRPr/>
          </a:p>
          <a:p>
            <a:pPr indent="-342900" lvl="0" marL="457200" rtl="0" algn="l">
              <a:spcBef>
                <a:spcPts val="1000"/>
              </a:spcBef>
              <a:spcAft>
                <a:spcPts val="0"/>
              </a:spcAft>
              <a:buSzPts val="1800"/>
              <a:buChar char="•"/>
            </a:pPr>
            <a:r>
              <a:rPr b="1" lang="en-US"/>
              <a:t>Adaptee</a:t>
            </a:r>
            <a:r>
              <a:rPr lang="en-US"/>
              <a:t>: defines an </a:t>
            </a:r>
            <a:r>
              <a:rPr lang="en-US"/>
              <a:t>existing class </a:t>
            </a:r>
            <a:r>
              <a:rPr lang="en-US"/>
              <a:t>that needs adapting (ex: ChittagongPizza)</a:t>
            </a:r>
            <a:endParaRPr/>
          </a:p>
          <a:p>
            <a:pPr indent="-342900" lvl="0" marL="457200" rtl="0" algn="l">
              <a:spcBef>
                <a:spcPts val="1000"/>
              </a:spcBef>
              <a:spcAft>
                <a:spcPts val="0"/>
              </a:spcAft>
              <a:buSzPts val="1800"/>
              <a:buChar char="•"/>
            </a:pPr>
            <a:r>
              <a:rPr b="1" lang="en-US"/>
              <a:t>Adapter</a:t>
            </a:r>
            <a:r>
              <a:rPr lang="en-US"/>
              <a:t>: adapts the interface of Adaptee to the Target interface. (ex: ChittagongClassAdapter)</a:t>
            </a:r>
            <a:endParaRPr/>
          </a:p>
          <a:p>
            <a:pPr indent="0" lvl="0" marL="0" rtl="0" algn="l">
              <a:spcBef>
                <a:spcPts val="1000"/>
              </a:spcBef>
              <a:spcAft>
                <a:spcPts val="0"/>
              </a:spcAft>
              <a:buNone/>
            </a:pPr>
            <a:r>
              <a:t/>
            </a:r>
            <a:endParaRPr b="1"/>
          </a:p>
          <a:p>
            <a:pPr indent="0" lvl="0" marL="0" rtl="0" algn="l">
              <a:spcBef>
                <a:spcPts val="0"/>
              </a:spcBef>
              <a:spcAft>
                <a:spcPts val="0"/>
              </a:spcAft>
              <a:buNone/>
            </a:pPr>
            <a:r>
              <a:t/>
            </a:r>
            <a:endParaRPr b="1"/>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Scenario</a:t>
            </a:r>
            <a:endParaRPr>
              <a:latin typeface="Lexend"/>
              <a:ea typeface="Lexend"/>
              <a:cs typeface="Lexend"/>
              <a:sym typeface="Lexend"/>
            </a:endParaRPr>
          </a:p>
        </p:txBody>
      </p:sp>
      <p:pic>
        <p:nvPicPr>
          <p:cNvPr descr="Sliced pizza line icon. Italian food vector illustration isolated on white. Fast food outline style design, designed for web and app. Eps 10. (Provided by Getty Images)" id="255" name="Google Shape;255;p34"/>
          <p:cNvPicPr preferRelativeResize="0"/>
          <p:nvPr/>
        </p:nvPicPr>
        <p:blipFill>
          <a:blip r:embed="rId3">
            <a:alphaModFix/>
          </a:blip>
          <a:stretch>
            <a:fillRect/>
          </a:stretch>
        </p:blipFill>
        <p:spPr>
          <a:xfrm>
            <a:off x="244275" y="4519488"/>
            <a:ext cx="1878175" cy="1878175"/>
          </a:xfrm>
          <a:prstGeom prst="rect">
            <a:avLst/>
          </a:prstGeom>
          <a:noFill/>
          <a:ln>
            <a:noFill/>
          </a:ln>
        </p:spPr>
      </p:pic>
      <p:sp>
        <p:nvSpPr>
          <p:cNvPr id="256" name="Google Shape;256;p34"/>
          <p:cNvSpPr txBox="1"/>
          <p:nvPr>
            <p:ph idx="1" type="body"/>
          </p:nvPr>
        </p:nvSpPr>
        <p:spPr>
          <a:xfrm>
            <a:off x="838200" y="1606325"/>
            <a:ext cx="10515600" cy="3068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Scenario</a:t>
            </a:r>
            <a:r>
              <a:rPr lang="en-US"/>
              <a:t>: I have a pizza making store that creates different pizzas based on the choices of people of different locations. For example – people of Dhaka like DhakaStylePizza, people of Sylhet like SylhetStylePizza.</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Solution</a:t>
            </a:r>
            <a:r>
              <a:rPr lang="en-US"/>
              <a:t>: To meet the scenario, we can declare a Pizza interface and different location people can make their own style pizza by implementing the same interface.</a:t>
            </a:r>
            <a:endParaRPr/>
          </a:p>
          <a:p>
            <a:pPr indent="0" lvl="0" marL="0" rtl="0" algn="l">
              <a:spcBef>
                <a:spcPts val="1000"/>
              </a:spcBef>
              <a:spcAft>
                <a:spcPts val="0"/>
              </a:spcAft>
              <a:buNone/>
            </a:pPr>
            <a:r>
              <a:t/>
            </a:r>
            <a:endParaRPr b="1"/>
          </a:p>
          <a:p>
            <a:pPr indent="0" lvl="0" marL="0" rtl="0" algn="l">
              <a:spcBef>
                <a:spcPts val="0"/>
              </a:spcBef>
              <a:spcAft>
                <a:spcPts val="0"/>
              </a:spcAft>
              <a:buNone/>
            </a:pPr>
            <a:r>
              <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 Example</a:t>
            </a:r>
            <a:endParaRPr>
              <a:latin typeface="Lexend"/>
              <a:ea typeface="Lexend"/>
              <a:cs typeface="Lexend"/>
              <a:sym typeface="Lexend"/>
            </a:endParaRPr>
          </a:p>
        </p:txBody>
      </p:sp>
      <p:sp>
        <p:nvSpPr>
          <p:cNvPr id="262" name="Google Shape;262;p35"/>
          <p:cNvSpPr txBox="1"/>
          <p:nvPr>
            <p:ph idx="1" type="body"/>
          </p:nvPr>
        </p:nvSpPr>
        <p:spPr>
          <a:xfrm>
            <a:off x="838200" y="1586400"/>
            <a:ext cx="4311600" cy="2470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from abc import ABC, abstractmethod</a:t>
            </a:r>
            <a:endParaRPr sz="2100"/>
          </a:p>
          <a:p>
            <a:pPr indent="0" lvl="0" marL="0" rtl="0" algn="l">
              <a:spcBef>
                <a:spcPts val="0"/>
              </a:spcBef>
              <a:spcAft>
                <a:spcPts val="0"/>
              </a:spcAft>
              <a:buNone/>
            </a:pPr>
            <a:r>
              <a:rPr lang="en-US" sz="2100"/>
              <a:t># Target Interface (Pizza interface)</a:t>
            </a:r>
            <a:endParaRPr sz="2100"/>
          </a:p>
          <a:p>
            <a:pPr indent="0" lvl="0" marL="0" rtl="0" algn="l">
              <a:spcBef>
                <a:spcPts val="0"/>
              </a:spcBef>
              <a:spcAft>
                <a:spcPts val="0"/>
              </a:spcAft>
              <a:buNone/>
            </a:pPr>
            <a:r>
              <a:rPr b="1" lang="en-US" sz="2100"/>
              <a:t>class Pizza(ABC):</a:t>
            </a:r>
            <a:endParaRPr b="1"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toppings(self):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buns(self):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
        <p:nvSpPr>
          <p:cNvPr id="263" name="Google Shape;263;p35"/>
          <p:cNvSpPr txBox="1"/>
          <p:nvPr/>
        </p:nvSpPr>
        <p:spPr>
          <a:xfrm>
            <a:off x="6090600" y="1586400"/>
            <a:ext cx="5325300" cy="34476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Adaptee: DhakaiyaPizza</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b="1" lang="en-US" sz="2100">
                <a:solidFill>
                  <a:schemeClr val="dk1"/>
                </a:solidFill>
                <a:latin typeface="Calibri"/>
                <a:ea typeface="Calibri"/>
                <a:cs typeface="Calibri"/>
                <a:sym typeface="Calibri"/>
              </a:rPr>
              <a:t>class DhakaiyaPizza:</a:t>
            </a:r>
            <a:endParaRPr b="1"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dhakaiya_toppings(self):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print("Adding Dhakaiya special toppings")</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dhakaiya_buns(self):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print("Preparing Dhakaiya style buns")</a:t>
            </a:r>
            <a:endParaRPr i="0" sz="2100" u="none" cap="none" strike="noStrike">
              <a:solidFill>
                <a:schemeClr val="dk1"/>
              </a:solidFill>
              <a:latin typeface="Calibri"/>
              <a:ea typeface="Calibri"/>
              <a:cs typeface="Calibri"/>
              <a:sym typeface="Calibri"/>
            </a:endParaRPr>
          </a:p>
        </p:txBody>
      </p:sp>
      <p:sp>
        <p:nvSpPr>
          <p:cNvPr id="264" name="Google Shape;264;p35"/>
          <p:cNvSpPr txBox="1"/>
          <p:nvPr>
            <p:ph idx="1" type="body"/>
          </p:nvPr>
        </p:nvSpPr>
        <p:spPr>
          <a:xfrm>
            <a:off x="838200" y="4669375"/>
            <a:ext cx="5252400" cy="2080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 Adaptee: ChittagongPizza</a:t>
            </a:r>
            <a:endParaRPr sz="2100"/>
          </a:p>
          <a:p>
            <a:pPr indent="0" lvl="0" marL="0" rtl="0" algn="l">
              <a:spcBef>
                <a:spcPts val="0"/>
              </a:spcBef>
              <a:spcAft>
                <a:spcPts val="0"/>
              </a:spcAft>
              <a:buNone/>
            </a:pPr>
            <a:r>
              <a:rPr b="1" lang="en-US" sz="2100"/>
              <a:t>class ChittagongPizza:</a:t>
            </a:r>
            <a:endParaRPr b="1" sz="2100"/>
          </a:p>
          <a:p>
            <a:pPr indent="0" lvl="0" marL="0" rtl="0" algn="l">
              <a:spcBef>
                <a:spcPts val="0"/>
              </a:spcBef>
              <a:spcAft>
                <a:spcPts val="0"/>
              </a:spcAft>
              <a:buNone/>
            </a:pPr>
            <a:r>
              <a:rPr lang="en-US" sz="2100"/>
              <a:t>    </a:t>
            </a:r>
            <a:r>
              <a:rPr lang="en-US" sz="2100">
                <a:highlight>
                  <a:srgbClr val="D9EAD3"/>
                </a:highlight>
              </a:rPr>
              <a:t>def ctg_toppings</a:t>
            </a:r>
            <a:r>
              <a:rPr lang="en-US" sz="2100"/>
              <a:t>(self):</a:t>
            </a:r>
            <a:endParaRPr sz="2100"/>
          </a:p>
          <a:p>
            <a:pPr indent="0" lvl="0" marL="0" rtl="0" algn="l">
              <a:spcBef>
                <a:spcPts val="0"/>
              </a:spcBef>
              <a:spcAft>
                <a:spcPts val="0"/>
              </a:spcAft>
              <a:buNone/>
            </a:pPr>
            <a:r>
              <a:rPr lang="en-US" sz="2100"/>
              <a:t>        print("Adding Chatgaiya special toppings")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t>
            </a:r>
            <a:r>
              <a:rPr lang="en-US" sz="2100">
                <a:highlight>
                  <a:srgbClr val="D9EAD3"/>
                </a:highlight>
              </a:rPr>
              <a:t>def ctg_buns</a:t>
            </a:r>
            <a:r>
              <a:rPr lang="en-US" sz="2100"/>
              <a:t>(self):</a:t>
            </a:r>
            <a:endParaRPr sz="2100"/>
          </a:p>
          <a:p>
            <a:pPr indent="0" lvl="0" marL="0" rtl="0" algn="l">
              <a:spcBef>
                <a:spcPts val="0"/>
              </a:spcBef>
              <a:spcAft>
                <a:spcPts val="0"/>
              </a:spcAft>
              <a:buNone/>
            </a:pPr>
            <a:r>
              <a:rPr lang="en-US" sz="2100"/>
              <a:t>        print("Preparing Chatgaiya style buns")</a:t>
            </a:r>
            <a:endParaRPr sz="2100"/>
          </a:p>
          <a:p>
            <a:pPr indent="0" lvl="0" marL="0" rtl="0" algn="l">
              <a:spcBef>
                <a:spcPts val="0"/>
              </a:spcBef>
              <a:spcAft>
                <a:spcPts val="0"/>
              </a:spcAft>
              <a:buNone/>
            </a:pPr>
            <a:r>
              <a:t/>
            </a:r>
            <a:endParaRPr sz="2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a:t>
            </a:r>
            <a:r>
              <a:rPr lang="en-US">
                <a:latin typeface="Lexend"/>
                <a:ea typeface="Lexend"/>
                <a:cs typeface="Lexend"/>
                <a:sym typeface="Lexend"/>
              </a:rPr>
              <a:t>Pattern Example</a:t>
            </a:r>
            <a:endParaRPr>
              <a:latin typeface="Lexend"/>
              <a:ea typeface="Lexend"/>
              <a:cs typeface="Lexend"/>
              <a:sym typeface="Lexend"/>
            </a:endParaRPr>
          </a:p>
        </p:txBody>
      </p:sp>
      <p:sp>
        <p:nvSpPr>
          <p:cNvPr id="270" name="Google Shape;270;p36"/>
          <p:cNvSpPr txBox="1"/>
          <p:nvPr>
            <p:ph idx="1" type="body"/>
          </p:nvPr>
        </p:nvSpPr>
        <p:spPr>
          <a:xfrm>
            <a:off x="838200" y="1586400"/>
            <a:ext cx="4311600" cy="2470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from abc import ABC, abstractmethod</a:t>
            </a:r>
            <a:endParaRPr sz="2100"/>
          </a:p>
          <a:p>
            <a:pPr indent="0" lvl="0" marL="0" rtl="0" algn="l">
              <a:spcBef>
                <a:spcPts val="0"/>
              </a:spcBef>
              <a:spcAft>
                <a:spcPts val="0"/>
              </a:spcAft>
              <a:buNone/>
            </a:pPr>
            <a:r>
              <a:rPr lang="en-US" sz="2100"/>
              <a:t># Target Interface (Pizza interface)</a:t>
            </a:r>
            <a:endParaRPr sz="2100"/>
          </a:p>
          <a:p>
            <a:pPr indent="0" lvl="0" marL="0" rtl="0" algn="l">
              <a:spcBef>
                <a:spcPts val="0"/>
              </a:spcBef>
              <a:spcAft>
                <a:spcPts val="0"/>
              </a:spcAft>
              <a:buNone/>
            </a:pPr>
            <a:r>
              <a:rPr b="1" lang="en-US" sz="2100"/>
              <a:t>class Pizza(ABC):</a:t>
            </a:r>
            <a:endParaRPr b="1"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a:t>
            </a:r>
            <a:r>
              <a:rPr lang="en-US" sz="2100">
                <a:highlight>
                  <a:srgbClr val="FFF2CC"/>
                </a:highlight>
              </a:rPr>
              <a:t>def toppings(self)</a:t>
            </a:r>
            <a:r>
              <a:rPr lang="en-US" sz="2100"/>
              <a:t>:</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a:t>
            </a:r>
            <a:r>
              <a:rPr lang="en-US" sz="2100">
                <a:highlight>
                  <a:srgbClr val="FFF2CC"/>
                </a:highlight>
              </a:rPr>
              <a:t>def buns(self)</a:t>
            </a:r>
            <a:r>
              <a:rPr lang="en-US" sz="2100"/>
              <a:t>:</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
        <p:nvSpPr>
          <p:cNvPr id="271" name="Google Shape;271;p36"/>
          <p:cNvSpPr txBox="1"/>
          <p:nvPr/>
        </p:nvSpPr>
        <p:spPr>
          <a:xfrm>
            <a:off x="6090600" y="1586400"/>
            <a:ext cx="5325300" cy="27330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Adapter:</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b="1" lang="en-US" sz="2100">
                <a:solidFill>
                  <a:schemeClr val="dk1"/>
                </a:solidFill>
                <a:latin typeface="Calibri"/>
                <a:ea typeface="Calibri"/>
                <a:cs typeface="Calibri"/>
                <a:sym typeface="Calibri"/>
              </a:rPr>
              <a:t>class PizzaClassAdapter(Pizza, DhakaiyaPizza):</a:t>
            </a:r>
            <a:endParaRPr b="1"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toppings(self):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self.dhakaiya_toppings()</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def buns(self):</a:t>
            </a:r>
            <a:endParaRPr sz="2100">
              <a:solidFill>
                <a:schemeClr val="dk1"/>
              </a:solidFill>
              <a:latin typeface="Calibri"/>
              <a:ea typeface="Calibri"/>
              <a:cs typeface="Calibri"/>
              <a:sym typeface="Calibri"/>
            </a:endParaRPr>
          </a:p>
          <a:p>
            <a:pPr indent="0" lvl="0" marL="0" marR="0" rtl="0" algn="l">
              <a:lnSpc>
                <a:spcPct val="80000"/>
              </a:lnSpc>
              <a:spcBef>
                <a:spcPts val="1000"/>
              </a:spcBef>
              <a:spcAft>
                <a:spcPts val="0"/>
              </a:spcAft>
              <a:buClr>
                <a:srgbClr val="000000"/>
              </a:buClr>
              <a:buSzPts val="358"/>
              <a:buFont typeface="Arial"/>
              <a:buNone/>
            </a:pPr>
            <a:r>
              <a:rPr lang="en-US" sz="2100">
                <a:solidFill>
                  <a:schemeClr val="dk1"/>
                </a:solidFill>
                <a:latin typeface="Calibri"/>
                <a:ea typeface="Calibri"/>
                <a:cs typeface="Calibri"/>
                <a:sym typeface="Calibri"/>
              </a:rPr>
              <a:t>        self.dhakaiya_buns()</a:t>
            </a:r>
            <a:endParaRPr sz="2100">
              <a:solidFill>
                <a:schemeClr val="dk1"/>
              </a:solidFill>
              <a:latin typeface="Calibri"/>
              <a:ea typeface="Calibri"/>
              <a:cs typeface="Calibri"/>
              <a:sym typeface="Calibri"/>
            </a:endParaRPr>
          </a:p>
        </p:txBody>
      </p:sp>
      <p:sp>
        <p:nvSpPr>
          <p:cNvPr id="272" name="Google Shape;272;p36"/>
          <p:cNvSpPr txBox="1"/>
          <p:nvPr>
            <p:ph idx="1" type="body"/>
          </p:nvPr>
        </p:nvSpPr>
        <p:spPr>
          <a:xfrm>
            <a:off x="838200" y="4635975"/>
            <a:ext cx="5564100" cy="2080200"/>
          </a:xfrm>
          <a:prstGeom prst="rect">
            <a:avLst/>
          </a:prstGeom>
        </p:spPr>
        <p:txBody>
          <a:bodyPr anchorCtr="0" anchor="t" bIns="45700" lIns="91425" spcFirstLastPara="1" rIns="91425" wrap="square" tIns="45700">
            <a:noAutofit/>
          </a:bodyPr>
          <a:lstStyle/>
          <a:p>
            <a:pPr indent="0" lvl="0" marL="0" rtl="0" algn="l">
              <a:lnSpc>
                <a:spcPct val="80000"/>
              </a:lnSpc>
              <a:spcBef>
                <a:spcPts val="1000"/>
              </a:spcBef>
              <a:spcAft>
                <a:spcPts val="0"/>
              </a:spcAft>
              <a:buClr>
                <a:schemeClr val="dk1"/>
              </a:buClr>
              <a:buSzPts val="358"/>
              <a:buFont typeface="Arial"/>
              <a:buNone/>
            </a:pPr>
            <a:r>
              <a:rPr lang="en-US" sz="2100"/>
              <a:t># Adapter:</a:t>
            </a:r>
            <a:endParaRPr sz="2100"/>
          </a:p>
          <a:p>
            <a:pPr indent="0" lvl="0" marL="0" rtl="0" algn="l">
              <a:lnSpc>
                <a:spcPct val="80000"/>
              </a:lnSpc>
              <a:spcBef>
                <a:spcPts val="0"/>
              </a:spcBef>
              <a:spcAft>
                <a:spcPts val="0"/>
              </a:spcAft>
              <a:buClr>
                <a:schemeClr val="dk1"/>
              </a:buClr>
              <a:buSzPts val="358"/>
              <a:buFont typeface="Arial"/>
              <a:buNone/>
            </a:pPr>
            <a:r>
              <a:rPr b="1" lang="en-US" sz="2100"/>
              <a:t>class PizzaClassAdapter(Pizza, ChittagongPizza):</a:t>
            </a:r>
            <a:endParaRPr b="1"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FFF2CC"/>
                </a:highlight>
              </a:rPr>
              <a:t>def toppings(self)</a:t>
            </a:r>
            <a:r>
              <a:rPr lang="en-US" sz="2100"/>
              <a:t>:</a:t>
            </a:r>
            <a:endParaRPr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D9EAD3"/>
                </a:highlight>
              </a:rPr>
              <a:t>self.ctg_toppings(</a:t>
            </a:r>
            <a:r>
              <a:rPr lang="en-US" sz="2100"/>
              <a:t>)</a:t>
            </a:r>
            <a:endParaRPr sz="2100"/>
          </a:p>
          <a:p>
            <a:pPr indent="0" lvl="0" marL="0" rtl="0" algn="l">
              <a:lnSpc>
                <a:spcPct val="80000"/>
              </a:lnSpc>
              <a:spcBef>
                <a:spcPts val="0"/>
              </a:spcBef>
              <a:spcAft>
                <a:spcPts val="0"/>
              </a:spcAft>
              <a:buClr>
                <a:schemeClr val="dk1"/>
              </a:buClr>
              <a:buSzPts val="358"/>
              <a:buFont typeface="Arial"/>
              <a:buNone/>
            </a:pPr>
            <a:r>
              <a:t/>
            </a:r>
            <a:endParaRPr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FFF2CC"/>
                </a:highlight>
              </a:rPr>
              <a:t>def buns(self)</a:t>
            </a:r>
            <a:r>
              <a:rPr lang="en-US" sz="2100"/>
              <a:t>:</a:t>
            </a:r>
            <a:endParaRPr sz="2100"/>
          </a:p>
          <a:p>
            <a:pPr indent="0" lvl="0" marL="0" rtl="0" algn="l">
              <a:lnSpc>
                <a:spcPct val="80000"/>
              </a:lnSpc>
              <a:spcBef>
                <a:spcPts val="0"/>
              </a:spcBef>
              <a:spcAft>
                <a:spcPts val="0"/>
              </a:spcAft>
              <a:buClr>
                <a:schemeClr val="dk1"/>
              </a:buClr>
              <a:buSzPts val="358"/>
              <a:buFont typeface="Arial"/>
              <a:buNone/>
            </a:pPr>
            <a:r>
              <a:rPr lang="en-US" sz="2100"/>
              <a:t>        </a:t>
            </a:r>
            <a:r>
              <a:rPr lang="en-US" sz="2100">
                <a:highlight>
                  <a:srgbClr val="D9EAD3"/>
                </a:highlight>
              </a:rPr>
              <a:t>self.ctg_buns()</a:t>
            </a:r>
            <a:endParaRPr sz="2100">
              <a:highlight>
                <a:srgbClr val="D9EAD3"/>
              </a:highlight>
            </a:endParaRPr>
          </a:p>
          <a:p>
            <a:pPr indent="0" lvl="0" marL="0" rtl="0" algn="l">
              <a:spcBef>
                <a:spcPts val="0"/>
              </a:spcBef>
              <a:spcAft>
                <a:spcPts val="0"/>
              </a:spcAft>
              <a:buNone/>
            </a:pPr>
            <a:r>
              <a:t/>
            </a:r>
            <a:endParaRPr sz="2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Adapter Pattern</a:t>
            </a:r>
            <a:endParaRPr>
              <a:latin typeface="Lexend"/>
              <a:ea typeface="Lexend"/>
              <a:cs typeface="Lexend"/>
              <a:sym typeface="Lexend"/>
            </a:endParaRPr>
          </a:p>
        </p:txBody>
      </p:sp>
      <p:sp>
        <p:nvSpPr>
          <p:cNvPr id="278" name="Google Shape;278;p37"/>
          <p:cNvSpPr txBox="1"/>
          <p:nvPr>
            <p:ph idx="1" type="body"/>
          </p:nvPr>
        </p:nvSpPr>
        <p:spPr>
          <a:xfrm>
            <a:off x="838200" y="1825625"/>
            <a:ext cx="10515600" cy="4284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Adapter pattern can be solved in one of two ways:</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Char char="•"/>
            </a:pPr>
            <a:r>
              <a:rPr b="1" lang="en-US"/>
              <a:t>Class Adapter:</a:t>
            </a:r>
            <a:r>
              <a:rPr lang="en-US"/>
              <a:t> uses </a:t>
            </a:r>
            <a:r>
              <a:rPr lang="en-US" u="sng">
                <a:solidFill>
                  <a:schemeClr val="hlink"/>
                </a:solidFill>
                <a:hlinkClick r:id="rId3"/>
              </a:rPr>
              <a:t>inheritance</a:t>
            </a:r>
            <a:r>
              <a:rPr lang="en-US">
                <a:solidFill>
                  <a:schemeClr val="hlink"/>
                </a:solidFill>
                <a:uFill>
                  <a:noFill/>
                </a:uFill>
                <a:hlinkClick r:id="rId4"/>
              </a:rPr>
              <a:t> </a:t>
            </a:r>
            <a:r>
              <a:rPr lang="en-US"/>
              <a:t>and can only wrap a class. It cannot wrap an interface since by definition it must derive from some base class</a:t>
            </a:r>
            <a:endParaRPr/>
          </a:p>
          <a:p>
            <a:pPr indent="-342900" lvl="0" marL="457200" rtl="0" algn="l">
              <a:spcBef>
                <a:spcPts val="0"/>
              </a:spcBef>
              <a:spcAft>
                <a:spcPts val="0"/>
              </a:spcAft>
              <a:buSzPts val="1800"/>
              <a:buChar char="•"/>
            </a:pPr>
            <a:r>
              <a:rPr b="1" lang="en-US"/>
              <a:t>Object Adapter:</a:t>
            </a:r>
            <a:r>
              <a:rPr lang="en-US"/>
              <a:t> uses </a:t>
            </a:r>
            <a:r>
              <a:rPr lang="en-US" u="sng">
                <a:solidFill>
                  <a:schemeClr val="hlink"/>
                </a:solidFill>
                <a:hlinkClick r:id="rId5"/>
              </a:rPr>
              <a:t>composition</a:t>
            </a:r>
            <a:r>
              <a:rPr lang="en-US">
                <a:solidFill>
                  <a:schemeClr val="hlink"/>
                </a:solidFill>
                <a:uFill>
                  <a:noFill/>
                </a:uFill>
                <a:hlinkClick r:id="rId6"/>
              </a:rPr>
              <a:t> </a:t>
            </a:r>
            <a:r>
              <a:rPr lang="en-US"/>
              <a:t>and can wrap classes or interfaces, or both. It can do this since it contains, as a private, encapsulated member, the class or interface object instance it wraps.</a:t>
            </a:r>
            <a:endParaRPr/>
          </a:p>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Class </a:t>
            </a:r>
            <a:r>
              <a:rPr lang="en-US">
                <a:latin typeface="Lexend"/>
                <a:ea typeface="Lexend"/>
                <a:cs typeface="Lexend"/>
                <a:sym typeface="Lexend"/>
              </a:rPr>
              <a:t>Adapter Pattern</a:t>
            </a:r>
            <a:endParaRPr>
              <a:latin typeface="Lexend"/>
              <a:ea typeface="Lexend"/>
              <a:cs typeface="Lexend"/>
              <a:sym typeface="Lexend"/>
            </a:endParaRPr>
          </a:p>
        </p:txBody>
      </p:sp>
      <p:sp>
        <p:nvSpPr>
          <p:cNvPr id="284" name="Google Shape;284;p38"/>
          <p:cNvSpPr txBox="1"/>
          <p:nvPr>
            <p:ph idx="1" type="body"/>
          </p:nvPr>
        </p:nvSpPr>
        <p:spPr>
          <a:xfrm>
            <a:off x="838200" y="1825625"/>
            <a:ext cx="4006200" cy="2709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100"/>
              <a:t># Target Interface (Pizza interface)</a:t>
            </a:r>
            <a:endParaRPr sz="2100"/>
          </a:p>
          <a:p>
            <a:pPr indent="0" lvl="0" marL="0" rtl="0" algn="l">
              <a:spcBef>
                <a:spcPts val="0"/>
              </a:spcBef>
              <a:spcAft>
                <a:spcPts val="0"/>
              </a:spcAft>
              <a:buClr>
                <a:schemeClr val="dk1"/>
              </a:buClr>
              <a:buSzPts val="1100"/>
              <a:buFont typeface="Arial"/>
              <a:buNone/>
            </a:pPr>
            <a:r>
              <a:rPr b="1" lang="en-US" sz="2100"/>
              <a:t>class Pizza(ABC):</a:t>
            </a:r>
            <a:endParaRPr b="1" sz="2100"/>
          </a:p>
          <a:p>
            <a:pPr indent="0" lvl="0" marL="0" rtl="0" algn="l">
              <a:spcBef>
                <a:spcPts val="0"/>
              </a:spcBef>
              <a:spcAft>
                <a:spcPts val="0"/>
              </a:spcAft>
              <a:buClr>
                <a:schemeClr val="dk1"/>
              </a:buClr>
              <a:buSzPts val="1100"/>
              <a:buFont typeface="Arial"/>
              <a:buNone/>
            </a:pPr>
            <a:r>
              <a:rPr lang="en-US" sz="2100"/>
              <a:t>    @abstractmethod</a:t>
            </a:r>
            <a:endParaRPr sz="2100"/>
          </a:p>
          <a:p>
            <a:pPr indent="0" lvl="0" marL="0" rtl="0" algn="l">
              <a:spcBef>
                <a:spcPts val="0"/>
              </a:spcBef>
              <a:spcAft>
                <a:spcPts val="0"/>
              </a:spcAft>
              <a:buClr>
                <a:schemeClr val="dk1"/>
              </a:buClr>
              <a:buSzPts val="1100"/>
              <a:buFont typeface="Arial"/>
              <a:buNone/>
            </a:pPr>
            <a:r>
              <a:rPr lang="en-US" sz="2100"/>
              <a:t>    def toppings(self):</a:t>
            </a:r>
            <a:endParaRPr sz="2100"/>
          </a:p>
          <a:p>
            <a:pPr indent="0" lvl="0" marL="0" rtl="0" algn="l">
              <a:spcBef>
                <a:spcPts val="0"/>
              </a:spcBef>
              <a:spcAft>
                <a:spcPts val="0"/>
              </a:spcAft>
              <a:buClr>
                <a:schemeClr val="dk1"/>
              </a:buClr>
              <a:buSzPts val="1100"/>
              <a:buFont typeface="Arial"/>
              <a:buNone/>
            </a:pPr>
            <a:r>
              <a:rPr lang="en-US" sz="2100"/>
              <a:t>        pass</a:t>
            </a:r>
            <a:endParaRPr sz="2100"/>
          </a:p>
          <a:p>
            <a:pPr indent="0" lvl="0" marL="0" rtl="0" algn="l">
              <a:spcBef>
                <a:spcPts val="0"/>
              </a:spcBef>
              <a:spcAft>
                <a:spcPts val="0"/>
              </a:spcAft>
              <a:buClr>
                <a:schemeClr val="dk1"/>
              </a:buClr>
              <a:buSzPts val="1100"/>
              <a:buFont typeface="Arial"/>
              <a:buNone/>
            </a:pPr>
            <a:r>
              <a:t/>
            </a:r>
            <a:endParaRPr sz="2100"/>
          </a:p>
          <a:p>
            <a:pPr indent="0" lvl="0" marL="0" rtl="0" algn="l">
              <a:spcBef>
                <a:spcPts val="0"/>
              </a:spcBef>
              <a:spcAft>
                <a:spcPts val="0"/>
              </a:spcAft>
              <a:buClr>
                <a:schemeClr val="dk1"/>
              </a:buClr>
              <a:buSzPts val="1100"/>
              <a:buFont typeface="Arial"/>
              <a:buNone/>
            </a:pPr>
            <a:r>
              <a:rPr lang="en-US" sz="2100"/>
              <a:t>    @abstractmethod</a:t>
            </a:r>
            <a:endParaRPr sz="2100"/>
          </a:p>
          <a:p>
            <a:pPr indent="0" lvl="0" marL="0" rtl="0" algn="l">
              <a:spcBef>
                <a:spcPts val="0"/>
              </a:spcBef>
              <a:spcAft>
                <a:spcPts val="0"/>
              </a:spcAft>
              <a:buClr>
                <a:schemeClr val="dk1"/>
              </a:buClr>
              <a:buSzPts val="1100"/>
              <a:buFont typeface="Arial"/>
              <a:buNone/>
            </a:pPr>
            <a:r>
              <a:rPr lang="en-US" sz="2100"/>
              <a:t>    def buns(self):</a:t>
            </a:r>
            <a:endParaRPr sz="2100"/>
          </a:p>
          <a:p>
            <a:pPr indent="0" lvl="0" marL="0" rtl="0" algn="l">
              <a:spcBef>
                <a:spcPts val="0"/>
              </a:spcBef>
              <a:spcAft>
                <a:spcPts val="0"/>
              </a:spcAft>
              <a:buClr>
                <a:schemeClr val="dk1"/>
              </a:buClr>
              <a:buSzPts val="1100"/>
              <a:buFont typeface="Arial"/>
              <a:buNone/>
            </a:pPr>
            <a:r>
              <a:rPr lang="en-US" sz="2100"/>
              <a:t>        pass</a:t>
            </a:r>
            <a:endParaRPr sz="21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85" name="Google Shape;285;p38"/>
          <p:cNvSpPr txBox="1"/>
          <p:nvPr/>
        </p:nvSpPr>
        <p:spPr>
          <a:xfrm>
            <a:off x="5392675" y="1825625"/>
            <a:ext cx="5741700" cy="2377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1000"/>
              </a:spcBef>
              <a:spcAft>
                <a:spcPts val="0"/>
              </a:spcAft>
              <a:buClr>
                <a:schemeClr val="dk1"/>
              </a:buClr>
              <a:buSzPts val="358"/>
              <a:buFont typeface="Arial"/>
              <a:buNone/>
            </a:pPr>
            <a:r>
              <a:rPr b="1" lang="en-US" sz="2100">
                <a:solidFill>
                  <a:schemeClr val="dk1"/>
                </a:solidFill>
                <a:latin typeface="Calibri"/>
                <a:ea typeface="Calibri"/>
                <a:cs typeface="Calibri"/>
                <a:sym typeface="Calibri"/>
              </a:rPr>
              <a:t>class DhakaClassAdapter(Pizza, DhakaiyaPizza):</a:t>
            </a:r>
            <a:endParaRPr b="1"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toppings(self):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self.dhakaiya_toppings()</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buns(self):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self.dhakaiya_buns()</a:t>
            </a:r>
            <a:endParaRPr sz="2800">
              <a:solidFill>
                <a:schemeClr val="dk1"/>
              </a:solidFill>
              <a:latin typeface="Calibri"/>
              <a:ea typeface="Calibri"/>
              <a:cs typeface="Calibri"/>
              <a:sym typeface="Calibri"/>
            </a:endParaRPr>
          </a:p>
        </p:txBody>
      </p:sp>
      <p:sp>
        <p:nvSpPr>
          <p:cNvPr id="286" name="Google Shape;286;p38"/>
          <p:cNvSpPr txBox="1"/>
          <p:nvPr/>
        </p:nvSpPr>
        <p:spPr>
          <a:xfrm>
            <a:off x="1126375" y="4993975"/>
            <a:ext cx="103668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chemeClr val="dk1"/>
                </a:solidFill>
                <a:latin typeface="Calibri"/>
                <a:ea typeface="Calibri"/>
                <a:cs typeface="Calibri"/>
                <a:sym typeface="Calibri"/>
              </a:rPr>
              <a:t>We want to adapt the existing </a:t>
            </a:r>
            <a:r>
              <a:rPr b="1" lang="en-US" sz="2500">
                <a:solidFill>
                  <a:schemeClr val="dk1"/>
                </a:solidFill>
                <a:latin typeface="Calibri"/>
                <a:ea typeface="Calibri"/>
                <a:cs typeface="Calibri"/>
                <a:sym typeface="Calibri"/>
              </a:rPr>
              <a:t>DhakaiyaPizza</a:t>
            </a:r>
            <a:r>
              <a:rPr lang="en-US" sz="2500">
                <a:solidFill>
                  <a:schemeClr val="dk1"/>
                </a:solidFill>
                <a:latin typeface="Calibri"/>
                <a:ea typeface="Calibri"/>
                <a:cs typeface="Calibri"/>
                <a:sym typeface="Calibri"/>
              </a:rPr>
              <a:t>, so it’s an Adaptee.</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To do so, introduce a Class </a:t>
            </a:r>
            <a:r>
              <a:rPr lang="en-US" sz="2500">
                <a:solidFill>
                  <a:schemeClr val="dk1"/>
                </a:solidFill>
                <a:latin typeface="Calibri"/>
                <a:ea typeface="Calibri"/>
                <a:cs typeface="Calibri"/>
                <a:sym typeface="Calibri"/>
              </a:rPr>
              <a:t>Adapter</a:t>
            </a:r>
            <a:r>
              <a:rPr lang="en-US" sz="2500">
                <a:solidFill>
                  <a:schemeClr val="dk1"/>
                </a:solidFill>
                <a:latin typeface="Calibri"/>
                <a:ea typeface="Calibri"/>
                <a:cs typeface="Calibri"/>
                <a:sym typeface="Calibri"/>
              </a:rPr>
              <a:t>, </a:t>
            </a:r>
            <a:r>
              <a:rPr b="1" lang="en-US" sz="2500">
                <a:solidFill>
                  <a:schemeClr val="dk1"/>
                </a:solidFill>
                <a:latin typeface="Calibri"/>
                <a:ea typeface="Calibri"/>
                <a:cs typeface="Calibri"/>
                <a:sym typeface="Calibri"/>
              </a:rPr>
              <a:t>DhakaClassAdapter</a:t>
            </a:r>
            <a:endParaRPr b="1"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Customer use the adapter to adapt to the adaptee.</a:t>
            </a:r>
            <a:endParaRPr sz="25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Object </a:t>
            </a:r>
            <a:r>
              <a:rPr lang="en-US">
                <a:latin typeface="Lexend"/>
                <a:ea typeface="Lexend"/>
                <a:cs typeface="Lexend"/>
                <a:sym typeface="Lexend"/>
              </a:rPr>
              <a:t>Adapter Pattern</a:t>
            </a:r>
            <a:endParaRPr>
              <a:latin typeface="Lexend"/>
              <a:ea typeface="Lexend"/>
              <a:cs typeface="Lexend"/>
              <a:sym typeface="Lexend"/>
            </a:endParaRPr>
          </a:p>
        </p:txBody>
      </p:sp>
      <p:sp>
        <p:nvSpPr>
          <p:cNvPr id="292" name="Google Shape;292;p39"/>
          <p:cNvSpPr txBox="1"/>
          <p:nvPr>
            <p:ph idx="1" type="body"/>
          </p:nvPr>
        </p:nvSpPr>
        <p:spPr>
          <a:xfrm>
            <a:off x="344200" y="1473800"/>
            <a:ext cx="4006200" cy="2709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100"/>
              <a:t># Target Interface (Pizza interface)</a:t>
            </a:r>
            <a:endParaRPr sz="2100"/>
          </a:p>
          <a:p>
            <a:pPr indent="0" lvl="0" marL="0" rtl="0" algn="l">
              <a:spcBef>
                <a:spcPts val="0"/>
              </a:spcBef>
              <a:spcAft>
                <a:spcPts val="0"/>
              </a:spcAft>
              <a:buNone/>
            </a:pPr>
            <a:r>
              <a:rPr b="1" lang="en-US" sz="2100"/>
              <a:t>class Pizza(ABC):</a:t>
            </a:r>
            <a:endParaRPr b="1"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toppings(self):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sz="2100"/>
          </a:p>
          <a:p>
            <a:pPr indent="0" lvl="0" marL="0" rtl="0" algn="l">
              <a:spcBef>
                <a:spcPts val="0"/>
              </a:spcBef>
              <a:spcAft>
                <a:spcPts val="0"/>
              </a:spcAft>
              <a:buNone/>
            </a:pPr>
            <a:r>
              <a:rPr lang="en-US" sz="2100"/>
              <a:t>    @abstractmethod</a:t>
            </a:r>
            <a:endParaRPr sz="2100"/>
          </a:p>
          <a:p>
            <a:pPr indent="0" lvl="0" marL="0" rtl="0" algn="l">
              <a:spcBef>
                <a:spcPts val="0"/>
              </a:spcBef>
              <a:spcAft>
                <a:spcPts val="0"/>
              </a:spcAft>
              <a:buNone/>
            </a:pPr>
            <a:r>
              <a:rPr lang="en-US" sz="2100"/>
              <a:t>    def buns(self):</a:t>
            </a:r>
            <a:endParaRPr sz="2100"/>
          </a:p>
          <a:p>
            <a:pPr indent="0" lvl="0" marL="0" rtl="0" algn="l">
              <a:spcBef>
                <a:spcPts val="0"/>
              </a:spcBef>
              <a:spcAft>
                <a:spcPts val="0"/>
              </a:spcAft>
              <a:buNone/>
            </a:pPr>
            <a:r>
              <a:rPr lang="en-US" sz="2100"/>
              <a:t>        pass</a:t>
            </a:r>
            <a:endParaRPr sz="21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3" name="Google Shape;293;p39"/>
          <p:cNvSpPr txBox="1"/>
          <p:nvPr/>
        </p:nvSpPr>
        <p:spPr>
          <a:xfrm>
            <a:off x="5778350" y="1825625"/>
            <a:ext cx="6280200" cy="45807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#Adapter</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b="1" lang="en-US" sz="2100">
                <a:solidFill>
                  <a:schemeClr val="dk1"/>
                </a:solidFill>
                <a:latin typeface="Calibri"/>
                <a:ea typeface="Calibri"/>
                <a:cs typeface="Calibri"/>
                <a:sym typeface="Calibri"/>
              </a:rPr>
              <a:t>class </a:t>
            </a:r>
            <a:r>
              <a:rPr b="1" lang="en-US" sz="2100">
                <a:solidFill>
                  <a:schemeClr val="dk1"/>
                </a:solidFill>
                <a:latin typeface="Calibri"/>
                <a:ea typeface="Calibri"/>
                <a:cs typeface="Calibri"/>
                <a:sym typeface="Calibri"/>
              </a:rPr>
              <a:t>DhakaObject</a:t>
            </a:r>
            <a:r>
              <a:rPr b="1" lang="en-US" sz="2100">
                <a:solidFill>
                  <a:schemeClr val="dk1"/>
                </a:solidFill>
                <a:latin typeface="Calibri"/>
                <a:ea typeface="Calibri"/>
                <a:cs typeface="Calibri"/>
                <a:sym typeface="Calibri"/>
              </a:rPr>
              <a:t>Adapter(Pizza):</a:t>
            </a:r>
            <a:endParaRPr b="1"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def __init__(self, adaptee): # ---, dhk</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self.adaptee = adaptee</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def toppings(self):</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self.adaptee.dhakaiya_toppings() #dhk.----</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def buns(self):</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        self.adaptee.dhakaiya_buns()</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#driver code</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dhakaiya_adaptee = </a:t>
            </a:r>
            <a:r>
              <a:rPr b="1" lang="en-US" sz="2100">
                <a:solidFill>
                  <a:schemeClr val="dk1"/>
                </a:solidFill>
                <a:latin typeface="Calibri"/>
                <a:ea typeface="Calibri"/>
                <a:cs typeface="Calibri"/>
                <a:sym typeface="Calibri"/>
              </a:rPr>
              <a:t>DhakaiyaPizza()</a:t>
            </a:r>
            <a:endParaRPr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lang="en-US" sz="2100">
                <a:solidFill>
                  <a:schemeClr val="dk1"/>
                </a:solidFill>
                <a:latin typeface="Calibri"/>
                <a:ea typeface="Calibri"/>
                <a:cs typeface="Calibri"/>
                <a:sym typeface="Calibri"/>
              </a:rPr>
              <a:t>adapter_dhk=</a:t>
            </a:r>
            <a:r>
              <a:rPr b="1" lang="en-US" sz="2100">
                <a:solidFill>
                  <a:schemeClr val="dk1"/>
                </a:solidFill>
                <a:latin typeface="Calibri"/>
                <a:ea typeface="Calibri"/>
                <a:cs typeface="Calibri"/>
                <a:sym typeface="Calibri"/>
              </a:rPr>
              <a:t>DhakaObjectAdapter(</a:t>
            </a:r>
            <a:r>
              <a:rPr lang="en-US" sz="2100">
                <a:solidFill>
                  <a:schemeClr val="dk1"/>
                </a:solidFill>
                <a:latin typeface="Calibri"/>
                <a:ea typeface="Calibri"/>
                <a:cs typeface="Calibri"/>
                <a:sym typeface="Calibri"/>
              </a:rPr>
              <a:t>dhakaiya_adaptee </a:t>
            </a:r>
            <a:r>
              <a:rPr b="1" lang="en-US" sz="2100">
                <a:solidFill>
                  <a:schemeClr val="dk1"/>
                </a:solidFill>
                <a:latin typeface="Calibri"/>
                <a:ea typeface="Calibri"/>
                <a:cs typeface="Calibri"/>
                <a:sym typeface="Calibri"/>
              </a:rPr>
              <a:t>)</a:t>
            </a:r>
            <a:endParaRPr b="1"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b="1" lang="en-US" sz="2100">
                <a:solidFill>
                  <a:schemeClr val="dk1"/>
                </a:solidFill>
                <a:latin typeface="Calibri"/>
                <a:ea typeface="Calibri"/>
                <a:cs typeface="Calibri"/>
                <a:sym typeface="Calibri"/>
              </a:rPr>
              <a:t>adapter_dhk.toppings()</a:t>
            </a:r>
            <a:endParaRPr b="1" sz="2100">
              <a:solidFill>
                <a:schemeClr val="dk1"/>
              </a:solidFill>
              <a:latin typeface="Calibri"/>
              <a:ea typeface="Calibri"/>
              <a:cs typeface="Calibri"/>
              <a:sym typeface="Calibri"/>
            </a:endParaRPr>
          </a:p>
          <a:p>
            <a:pPr indent="0" lvl="0" marL="0" rtl="0" algn="l">
              <a:lnSpc>
                <a:spcPct val="80000"/>
              </a:lnSpc>
              <a:spcBef>
                <a:spcPts val="0"/>
              </a:spcBef>
              <a:spcAft>
                <a:spcPts val="0"/>
              </a:spcAft>
              <a:buNone/>
            </a:pPr>
            <a:r>
              <a:rPr b="1" lang="en-US" sz="2100">
                <a:solidFill>
                  <a:schemeClr val="dk1"/>
                </a:solidFill>
                <a:latin typeface="Calibri"/>
                <a:ea typeface="Calibri"/>
                <a:cs typeface="Calibri"/>
                <a:sym typeface="Calibri"/>
              </a:rPr>
              <a:t>adapter_dhk.buns()</a:t>
            </a:r>
            <a:endParaRPr b="1" sz="2100">
              <a:solidFill>
                <a:schemeClr val="dk1"/>
              </a:solidFill>
              <a:latin typeface="Calibri"/>
              <a:ea typeface="Calibri"/>
              <a:cs typeface="Calibri"/>
              <a:sym typeface="Calibri"/>
            </a:endParaRPr>
          </a:p>
        </p:txBody>
      </p:sp>
      <p:sp>
        <p:nvSpPr>
          <p:cNvPr id="294" name="Google Shape;294;p39"/>
          <p:cNvSpPr txBox="1"/>
          <p:nvPr/>
        </p:nvSpPr>
        <p:spPr>
          <a:xfrm>
            <a:off x="344200" y="4535525"/>
            <a:ext cx="5631900" cy="2377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Adaptee: DhakaiyaPizza</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b="1" lang="en-US" sz="2100">
                <a:solidFill>
                  <a:schemeClr val="dk1"/>
                </a:solidFill>
                <a:latin typeface="Calibri"/>
                <a:ea typeface="Calibri"/>
                <a:cs typeface="Calibri"/>
                <a:sym typeface="Calibri"/>
              </a:rPr>
              <a:t>class DhakaiyaPizza:</a:t>
            </a:r>
            <a:endParaRPr b="1"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dhakaiya_toppings(self):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print("Adding Dhakaiya special toppings")</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def dhakaiya_buns(self):</a:t>
            </a:r>
            <a:endParaRPr sz="2100">
              <a:solidFill>
                <a:schemeClr val="dk1"/>
              </a:solidFill>
              <a:latin typeface="Calibri"/>
              <a:ea typeface="Calibri"/>
              <a:cs typeface="Calibri"/>
              <a:sym typeface="Calibri"/>
            </a:endParaRPr>
          </a:p>
          <a:p>
            <a:pPr indent="0" lvl="0" marL="0" rtl="0" algn="l">
              <a:lnSpc>
                <a:spcPct val="80000"/>
              </a:lnSpc>
              <a:spcBef>
                <a:spcPts val="1000"/>
              </a:spcBef>
              <a:spcAft>
                <a:spcPts val="0"/>
              </a:spcAft>
              <a:buClr>
                <a:schemeClr val="dk1"/>
              </a:buClr>
              <a:buSzPts val="358"/>
              <a:buFont typeface="Arial"/>
              <a:buNone/>
            </a:pPr>
            <a:r>
              <a:rPr lang="en-US" sz="2100">
                <a:solidFill>
                  <a:schemeClr val="dk1"/>
                </a:solidFill>
                <a:latin typeface="Calibri"/>
                <a:ea typeface="Calibri"/>
                <a:cs typeface="Calibri"/>
                <a:sym typeface="Calibri"/>
              </a:rPr>
              <a:t>        print("Preparing Dhakaiya style buns")</a:t>
            </a:r>
            <a:endParaRPr b="1" sz="21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latin typeface="Lexend"/>
                <a:ea typeface="Lexend"/>
                <a:cs typeface="Lexend"/>
                <a:sym typeface="Lexend"/>
              </a:rPr>
              <a:t>Useful Links</a:t>
            </a:r>
            <a:endParaRPr>
              <a:latin typeface="Lexend"/>
              <a:ea typeface="Lexend"/>
              <a:cs typeface="Lexend"/>
              <a:sym typeface="Lexend"/>
            </a:endParaRPr>
          </a:p>
        </p:txBody>
      </p:sp>
      <p:sp>
        <p:nvSpPr>
          <p:cNvPr id="300" name="Google Shape;300;p40"/>
          <p:cNvSpPr txBox="1"/>
          <p:nvPr>
            <p:ph idx="1" type="body"/>
          </p:nvPr>
        </p:nvSpPr>
        <p:spPr>
          <a:xfrm>
            <a:off x="838200" y="1825625"/>
            <a:ext cx="10515600" cy="4284900"/>
          </a:xfrm>
          <a:prstGeom prst="rect">
            <a:avLst/>
          </a:prstGeom>
        </p:spPr>
        <p:txBody>
          <a:bodyPr anchorCtr="0" anchor="t" bIns="45700" lIns="91425" spcFirstLastPara="1" rIns="91425" wrap="square" tIns="45700">
            <a:noAutofit/>
          </a:bodyPr>
          <a:lstStyle/>
          <a:p>
            <a:pPr indent="-342900" lvl="0" marL="457200" rtl="0" algn="l">
              <a:spcBef>
                <a:spcPts val="0"/>
              </a:spcBef>
              <a:spcAft>
                <a:spcPts val="0"/>
              </a:spcAft>
              <a:buSzPts val="1800"/>
              <a:buChar char="•"/>
            </a:pPr>
            <a:r>
              <a:rPr lang="en-US" u="sng">
                <a:solidFill>
                  <a:schemeClr val="hlink"/>
                </a:solidFill>
                <a:hlinkClick r:id="rId3"/>
              </a:rPr>
              <a:t>Python Coding </a:t>
            </a:r>
            <a:r>
              <a:rPr lang="en-US" u="sng">
                <a:solidFill>
                  <a:schemeClr val="hlink"/>
                </a:solidFill>
                <a:hlinkClick r:id="rId4"/>
              </a:rPr>
              <a:t>Examples</a:t>
            </a:r>
            <a:endParaRPr/>
          </a:p>
          <a:p>
            <a:pPr indent="-342900" lvl="0" marL="457200" rtl="0" algn="l">
              <a:spcBef>
                <a:spcPts val="1000"/>
              </a:spcBef>
              <a:spcAft>
                <a:spcPts val="0"/>
              </a:spcAft>
              <a:buSzPts val="1800"/>
              <a:buChar char="•"/>
            </a:pPr>
            <a:r>
              <a:rPr lang="en-US" u="sng">
                <a:solidFill>
                  <a:schemeClr val="hlink"/>
                </a:solidFill>
                <a:hlinkClick r:id="rId5"/>
              </a:rPr>
              <a:t>Singleton Pattern</a:t>
            </a:r>
            <a:endParaRPr/>
          </a:p>
          <a:p>
            <a:pPr indent="-342900" lvl="0" marL="457200" rtl="0" algn="l">
              <a:spcBef>
                <a:spcPts val="1000"/>
              </a:spcBef>
              <a:spcAft>
                <a:spcPts val="0"/>
              </a:spcAft>
              <a:buSzPts val="1800"/>
              <a:buChar char="•"/>
            </a:pPr>
            <a:r>
              <a:rPr lang="en-US" u="sng">
                <a:solidFill>
                  <a:schemeClr val="hlink"/>
                </a:solidFill>
                <a:hlinkClick r:id="rId6"/>
              </a:rPr>
              <a:t>Observer Pattern</a:t>
            </a:r>
            <a:endParaRPr/>
          </a:p>
          <a:p>
            <a:pPr indent="-342900" lvl="0" marL="457200" rtl="0" algn="l">
              <a:spcBef>
                <a:spcPts val="1000"/>
              </a:spcBef>
              <a:spcAft>
                <a:spcPts val="0"/>
              </a:spcAft>
              <a:buSzPts val="1800"/>
              <a:buChar char="•"/>
            </a:pPr>
            <a:r>
              <a:rPr lang="en-US" u="sng">
                <a:solidFill>
                  <a:schemeClr val="hlink"/>
                </a:solidFill>
                <a:hlinkClick r:id="rId7"/>
              </a:rPr>
              <a:t>Adapter Pattern - 1</a:t>
            </a:r>
            <a:endParaRPr/>
          </a:p>
          <a:p>
            <a:pPr indent="-342900" lvl="0" marL="457200" rtl="0" algn="l">
              <a:spcBef>
                <a:spcPts val="1000"/>
              </a:spcBef>
              <a:spcAft>
                <a:spcPts val="0"/>
              </a:spcAft>
              <a:buSzPts val="1800"/>
              <a:buChar char="•"/>
            </a:pPr>
            <a:r>
              <a:rPr lang="en-US" u="sng">
                <a:solidFill>
                  <a:schemeClr val="hlink"/>
                </a:solidFill>
                <a:hlinkClick r:id="rId8"/>
              </a:rPr>
              <a:t>Adapter Pattern - 2</a:t>
            </a:r>
            <a:endParaRPr/>
          </a:p>
          <a:p>
            <a:pPr indent="-342900" lvl="0" marL="457200" rtl="0" algn="l">
              <a:spcBef>
                <a:spcPts val="1000"/>
              </a:spcBef>
              <a:spcAft>
                <a:spcPts val="0"/>
              </a:spcAft>
              <a:buSzPts val="1800"/>
              <a:buChar char="•"/>
            </a:pPr>
            <a:r>
              <a:rPr lang="en-US" u="sng">
                <a:solidFill>
                  <a:schemeClr val="hlink"/>
                </a:solidFill>
                <a:hlinkClick r:id="rId9"/>
              </a:rPr>
              <a:t>Adapter Pattern - 3</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