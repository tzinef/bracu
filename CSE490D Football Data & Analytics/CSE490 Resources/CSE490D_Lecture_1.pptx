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ADLaM Display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bPctT/b8SiG5lo59Fmm1kzAbJ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1E4150-509C-4AFA-973E-88CA8A2B4324}">
  <a:tblStyle styleId="{DC1E4150-509C-4AFA-973E-88CA8A2B43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DLaM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fdfda92c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fdfda92c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fdfda92c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fdfda92c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statsbomb/open-data" TargetMode="External"/><Relationship Id="rId4" Type="http://schemas.openxmlformats.org/officeDocument/2006/relationships/hyperlink" Target="https://figshare.com/collections/Soccer_match_event_dataset/441500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tatsbomb/open-data" TargetMode="External"/><Relationship Id="rId4" Type="http://schemas.openxmlformats.org/officeDocument/2006/relationships/hyperlink" Target="https://figshare.com/collections/Soccer_match_event_dataset/4415000" TargetMode="External"/><Relationship Id="rId5" Type="http://schemas.openxmlformats.org/officeDocument/2006/relationships/hyperlink" Target="https://mplsoccer.readthedocs.io/en/latest/installation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drive/11izIsskxXn91-AVLfADYO0GOR1sFivDd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occermatics.readthedocs.io/en/latest/" TargetMode="External"/><Relationship Id="rId4" Type="http://schemas.openxmlformats.org/officeDocument/2006/relationships/hyperlink" Target="https://www.youtube.com/playlist?list=PLedeYskZY0vBOdQ6Uc9eZjZ2-nz1JT3R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"/>
          <p:cNvGrpSpPr/>
          <p:nvPr/>
        </p:nvGrpSpPr>
        <p:grpSpPr>
          <a:xfrm>
            <a:off x="334297" y="175565"/>
            <a:ext cx="11749548" cy="6605190"/>
            <a:chOff x="334297" y="175565"/>
            <a:chExt cx="11749548" cy="6605190"/>
          </a:xfrm>
        </p:grpSpPr>
        <p:pic>
          <p:nvPicPr>
            <p:cNvPr id="122" name="Google Shape;12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4297" y="175565"/>
              <a:ext cx="11749548" cy="6605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RACU Logo | BRAC University" id="123" name="Google Shape;12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2115" y="346281"/>
              <a:ext cx="1259243" cy="11554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771489" y="267625"/>
              <a:ext cx="1243529" cy="13261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ctrTitle"/>
          </p:nvPr>
        </p:nvSpPr>
        <p:spPr>
          <a:xfrm>
            <a:off x="1524000" y="658761"/>
            <a:ext cx="9144000" cy="29636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DLaM Display"/>
              <a:buNone/>
            </a:pPr>
            <a: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CSE490 (D)</a:t>
            </a:r>
            <a:b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</a:br>
            <a: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Introduction to</a:t>
            </a:r>
            <a:b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</a:br>
            <a: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Football Data &amp; Analytics</a:t>
            </a:r>
            <a:br>
              <a:rPr b="1" lang="en-US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</a:br>
            <a:r>
              <a:rPr b="1" lang="en-US" sz="3200">
                <a:solidFill>
                  <a:srgbClr val="FF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Lecture-1</a:t>
            </a:r>
            <a:endParaRPr b="1">
              <a:solidFill>
                <a:srgbClr val="FF0000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130" name="Google Shape;130;p2"/>
          <p:cNvSpPr txBox="1"/>
          <p:nvPr>
            <p:ph idx="1" type="subTitle"/>
          </p:nvPr>
        </p:nvSpPr>
        <p:spPr>
          <a:xfrm>
            <a:off x="1524000" y="425096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100000"/>
              <a:buNone/>
            </a:pPr>
            <a:r>
              <a:rPr lang="en-US">
                <a:solidFill>
                  <a:srgbClr val="1F3864"/>
                </a:solidFill>
                <a:latin typeface="Aharoni"/>
                <a:ea typeface="Aharoni"/>
                <a:cs typeface="Aharoni"/>
                <a:sym typeface="Aharoni"/>
              </a:rPr>
              <a:t>Prepared by-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None/>
            </a:pPr>
            <a:r>
              <a:rPr b="1" i="1" lang="en-US">
                <a:solidFill>
                  <a:srgbClr val="1F3864"/>
                </a:solidFill>
                <a:latin typeface="Aharoni"/>
                <a:ea typeface="Aharoni"/>
                <a:cs typeface="Aharoni"/>
                <a:sym typeface="Aharoni"/>
              </a:rPr>
              <a:t>Tarvir Anjum Aditto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None/>
            </a:pPr>
            <a:r>
              <a:rPr lang="en-US">
                <a:solidFill>
                  <a:srgbClr val="1F3864"/>
                </a:solidFill>
                <a:latin typeface="Aharoni"/>
                <a:ea typeface="Aharoni"/>
                <a:cs typeface="Aharoni"/>
                <a:sym typeface="Aharoni"/>
              </a:rPr>
              <a:t>Lecturer,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None/>
            </a:pPr>
            <a:r>
              <a:rPr lang="en-US">
                <a:solidFill>
                  <a:srgbClr val="1F3864"/>
                </a:solidFill>
                <a:latin typeface="Aharoni"/>
                <a:ea typeface="Aharoni"/>
                <a:cs typeface="Aharoni"/>
                <a:sym typeface="Aharoni"/>
              </a:rPr>
              <a:t>CSE, Brac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Course Objectives</a:t>
            </a:r>
            <a:endParaRPr/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Introduce research-oriented football analytics using computing and statistical methods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Develop analytical, modeling, and visualization skills using real-world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Foster independent research, critical thinking, and lifelong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Strengthen ethical reasoning, teamwork, and professional communication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Course Content</a:t>
            </a:r>
            <a:endParaRPr/>
          </a:p>
        </p:txBody>
      </p:sp>
      <p:graphicFrame>
        <p:nvGraphicFramePr>
          <p:cNvPr id="142" name="Google Shape;142;p4"/>
          <p:cNvGraphicFramePr/>
          <p:nvPr/>
        </p:nvGraphicFramePr>
        <p:xfrm>
          <a:off x="838200" y="1641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{DC1E4150-509C-4AFA-973E-88CA8A2B4324}</a:tableStyleId>
              </a:tblPr>
              <a:tblGrid>
                <a:gridCol w="4428200"/>
                <a:gridCol w="4428200"/>
              </a:tblGrid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Module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Lessons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Foundations &amp; Visualization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Introduction to Event Data &amp; KPIs; Visualizing Football; Passing Networks &amp; Team Structure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Statistical Models &amp; Expected Goals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Choosing &amp; Fitting Models; Advanced Models; Building an xG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Player &amp; Action Valuation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Scouting and Player Profiles; Valuing Specific Actions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Uncertainty, Prediction &amp; Trends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Randomness in Football; Team-Level KPIs &amp; Trend Analysis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Space Control &amp; Player Movement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Pitch Control Tools; Off-Ball Movement &amp; Positioning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Physical Data &amp; Clustering Techniques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Physical Performance Metrics; Clustering in Football Analytics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Assessment Structure</a:t>
            </a:r>
            <a:endParaRPr/>
          </a:p>
        </p:txBody>
      </p:sp>
      <p:graphicFrame>
        <p:nvGraphicFramePr>
          <p:cNvPr id="148" name="Google Shape;148;p5"/>
          <p:cNvGraphicFramePr/>
          <p:nvPr/>
        </p:nvGraphicFramePr>
        <p:xfrm>
          <a:off x="838200" y="1641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{DC1E4150-509C-4AFA-973E-88CA8A2B4324}</a:tableStyleId>
              </a:tblPr>
              <a:tblGrid>
                <a:gridCol w="4428200"/>
                <a:gridCol w="4428200"/>
              </a:tblGrid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Assessment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Weight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Quiz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Midterm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Research 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Mini Case Study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Research Presentation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10%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Research Project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None/>
            </a:pPr>
            <a:r>
              <a:rPr b="1" lang="en-US">
                <a:solidFill>
                  <a:srgbClr val="2F5496"/>
                </a:solidFill>
              </a:rPr>
              <a:t>Nature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● Individual or group (max 3 students)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● Dataset: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StatsBomb</a:t>
            </a:r>
            <a:r>
              <a:rPr lang="en-US"/>
              <a:t> /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Wyscout</a:t>
            </a:r>
            <a:r>
              <a:rPr lang="en-US"/>
              <a:t> / Open football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ct val="100000"/>
              <a:buNone/>
            </a:pPr>
            <a:r>
              <a:rPr b="1" lang="en-US">
                <a:solidFill>
                  <a:srgbClr val="2F5496"/>
                </a:solidFill>
              </a:rPr>
              <a:t>Deliverables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Research proposal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Literature review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Methodology &amp; modeling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Results &amp; discussion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Ethical considerations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lang="en-US"/>
              <a:t>Final report &amp; presentation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Research Project Structure</a:t>
            </a:r>
            <a:endParaRPr/>
          </a:p>
        </p:txBody>
      </p:sp>
      <p:graphicFrame>
        <p:nvGraphicFramePr>
          <p:cNvPr id="160" name="Google Shape;160;p7"/>
          <p:cNvGraphicFramePr/>
          <p:nvPr/>
        </p:nvGraphicFramePr>
        <p:xfrm>
          <a:off x="838200" y="1641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{DC1E4150-509C-4AFA-973E-88CA8A2B4324}</a:tableStyleId>
              </a:tblPr>
              <a:tblGrid>
                <a:gridCol w="4428200"/>
                <a:gridCol w="4428200"/>
              </a:tblGrid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Assessment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Weight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Problem Formulation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Literature Review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Methodology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Analysis &amp; Validation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Ethics &amp; Limitation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Communication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15%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Tools</a:t>
            </a:r>
            <a:endParaRPr/>
          </a:p>
        </p:txBody>
      </p:sp>
      <p:sp>
        <p:nvSpPr>
          <p:cNvPr id="166" name="Google Shape;16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datasets: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StatsBomb</a:t>
            </a:r>
            <a:r>
              <a:rPr lang="en-US"/>
              <a:t> /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WyScout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Libraries: pandas, numpy, matplotlib,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mplsoccer</a:t>
            </a:r>
            <a:r>
              <a:rPr lang="en-US"/>
              <a:t>, statsbombpy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en-US"/>
              <a:t>N:B: </a:t>
            </a:r>
            <a:r>
              <a:rPr lang="en-US"/>
              <a:t>We</a:t>
            </a:r>
            <a:r>
              <a:rPr lang="en-US"/>
              <a:t> will mostly use google colab, but it’s better if you have conda/ VScode installed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(Data structure)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1" lang="en-US"/>
              <a:t>Follow this notebook-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https://colab.research.google.com/drive/11izIsskxXn91-AVLfADYO0GOR1sFivDd?usp=sharing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Data Structure: </a:t>
            </a:r>
            <a:r>
              <a:rPr i="1" lang="en-US">
                <a:solidFill>
                  <a:srgbClr val="C00000"/>
                </a:solidFill>
              </a:rPr>
              <a:t>Competition → Season → Match → Events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How to access data: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/>
              <a:t>StatsBomb assigns unique IDs at each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/>
              <a:t>Each competition, season, and match has its own ID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/>
              <a:t>Example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/>
              <a:t>Competition: FIFA World Cup, competition_id = 43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/>
              <a:t>Season: 2018, season_id = 106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/>
              <a:t>Match: England vs Colombia, match_id = 7580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(Competitions)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Loading competitions as a DataFrame: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Provides high-level information such 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Competition name / country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Season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Number of matches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Gender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Availability of </a:t>
            </a:r>
            <a:r>
              <a:rPr b="1" lang="en-US"/>
              <a:t>360 data</a:t>
            </a:r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1639" y="2813706"/>
            <a:ext cx="4164844" cy="237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(Matches)</a:t>
            </a:r>
            <a:endParaRPr/>
          </a:p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Loading matches for a competition as a DataFrame: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Provides match-level information such 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Home team &amp; away team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Match score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Stadium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Match stage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Referee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Team managers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Match date</a:t>
            </a:r>
            <a:endParaRPr/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2575" y="2366797"/>
            <a:ext cx="4031225" cy="405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(Events)</a:t>
            </a:r>
            <a:endParaRPr/>
          </a:p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Loading events for a match as a DataFrame: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Each row represents </a:t>
            </a:r>
            <a:r>
              <a:rPr b="1" lang="en-US"/>
              <a:t>one on-ball action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Examples of events: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Pass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Shot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Foul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Duel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Clearance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Information stored in event data includes: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Event type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Time (minute, second)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Event location on the pitch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Player and team involved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Event-specific details (e.g., pass type, shot outcome)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(Events)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Important observation: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Most columns contain </a:t>
            </a:r>
            <a:r>
              <a:rPr b="1" lang="en-US"/>
              <a:t>NaN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This is expected because: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Each event type only uses a </a:t>
            </a:r>
            <a:r>
              <a:rPr b="1" lang="en-US"/>
              <a:t>subset of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columns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Columns not relevant to an event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remain empty</a:t>
            </a:r>
            <a:endParaRPr/>
          </a:p>
        </p:txBody>
      </p:sp>
      <p:pic>
        <p:nvPicPr>
          <p:cNvPr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0489" y="2370460"/>
            <a:ext cx="4893311" cy="3606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(Events= Shots)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We can extract very specific info (Non-NaN) of a “shot” event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id="206" name="Google Shape;2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563" y="2564325"/>
            <a:ext cx="10974875" cy="28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(Visualizing shots)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We can draw standard size football pitch and visualize events using </a:t>
            </a:r>
            <a:r>
              <a:rPr b="1" lang="en-US"/>
              <a:t>mplsoccer</a:t>
            </a:r>
            <a:r>
              <a:rPr lang="en-US"/>
              <a:t>’s </a:t>
            </a:r>
            <a:r>
              <a:rPr b="1" lang="en-US"/>
              <a:t>Pitch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id="213" name="Google Shape;2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500" y="2326600"/>
            <a:ext cx="6024125" cy="43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(360 Data)</a:t>
            </a:r>
            <a:endParaRPr/>
          </a:p>
        </p:txBody>
      </p:sp>
      <p:sp>
        <p:nvSpPr>
          <p:cNvPr id="219" name="Google Shape;219;p16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Statsbomb offers 360 data which track not only location of an event but also players’ location.</a:t>
            </a:r>
            <a:endParaRPr b="1"/>
          </a:p>
        </p:txBody>
      </p:sp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861" y="2945031"/>
            <a:ext cx="3650617" cy="190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0950" y="2346325"/>
            <a:ext cx="3650625" cy="3144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1435510" y="5211097"/>
            <a:ext cx="15807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 frame info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6921636" y="5580429"/>
            <a:ext cx="34259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 locations at the moment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particular event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Statsbomb (360 Data)</a:t>
            </a:r>
            <a:endParaRPr b="1">
              <a:solidFill>
                <a:srgbClr val="C00000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29" name="Google Shape;229;p17"/>
          <p:cNvSpPr txBox="1"/>
          <p:nvPr>
            <p:ph idx="1" type="body"/>
          </p:nvPr>
        </p:nvSpPr>
        <p:spPr>
          <a:xfrm>
            <a:off x="838200" y="1484671"/>
            <a:ext cx="10515600" cy="517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What can you observe from this pitch image?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88243"/>
            <a:ext cx="5975709" cy="43259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7354529" y="2585884"/>
            <a:ext cx="430932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Serbia vs Switzerland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date: 2022-12-02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Serbia starting formation: 3412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Switzerland starting formation: 4231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also extracted by using match_id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keys like home_team, away_team,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Match_date, type, teactics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fdfda92c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Event Data vs Tracking Data</a:t>
            </a:r>
            <a:endParaRPr b="1">
              <a:solidFill>
                <a:srgbClr val="C00000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37" name="Google Shape;237;g3bfdfda92c4_0_0"/>
          <p:cNvSpPr txBox="1"/>
          <p:nvPr>
            <p:ph idx="1" type="body"/>
          </p:nvPr>
        </p:nvSpPr>
        <p:spPr>
          <a:xfrm>
            <a:off x="838200" y="1484671"/>
            <a:ext cx="105156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Event Data</a:t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Records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on-ball actions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(passes, shots, tackles, fouls)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Logged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only when an event occurs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Sparse data, many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NaN columns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(not all fields apply to all events)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Used for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xG, shot maps, pass maps, KPIs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Tracking Data </a:t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Records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continuous positions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of all players &amp; the ball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Collected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every frame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(e.g, 10 times/sec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Dense, large datasets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Used for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pressing, team shape, space control, movement analysis</a:t>
            </a:r>
            <a:endParaRPr b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fdfda92c4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DLaM Display"/>
              <a:buNone/>
            </a:pPr>
            <a:r>
              <a:rPr b="1" lang="en-US">
                <a:solidFill>
                  <a:srgbClr val="C00000"/>
                </a:solidFill>
                <a:latin typeface="ADLaM Display"/>
                <a:ea typeface="ADLaM Display"/>
                <a:cs typeface="ADLaM Display"/>
                <a:sym typeface="ADLaM Display"/>
              </a:rPr>
              <a:t>References</a:t>
            </a:r>
            <a:endParaRPr b="1">
              <a:solidFill>
                <a:srgbClr val="C00000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43" name="Google Shape;243;g3bfdfda92c4_0_8"/>
          <p:cNvSpPr txBox="1"/>
          <p:nvPr>
            <p:ph idx="1" type="body"/>
          </p:nvPr>
        </p:nvSpPr>
        <p:spPr>
          <a:xfrm>
            <a:off x="838200" y="1484671"/>
            <a:ext cx="105156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Soccermatics Blog: </a:t>
            </a:r>
            <a: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Welcome to Soccermatics — Soccermatics documentation</a:t>
            </a:r>
            <a:endParaRPr b="1" sz="22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Course: mathematical modelling of football - YouTube</a:t>
            </a:r>
            <a:endParaRPr b="1"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Book: Soccermatics by David Sumpter</a:t>
            </a:r>
            <a:endParaRPr b="1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2024-12-29T05:51:07Z</dcterms:created>
  <dc:creator>BRACU</dc:creator>
</cp:coreProperties>
</file>