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E4D969-3089-4B12-A761-3EC8D21635BB}">
  <a:tblStyle styleId="{BAE4D969-3089-4B12-A761-3EC8D21635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e061220c4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e061220c4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e061220c4_0_30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e061220c4_0_30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2e061220c4_0_30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e061220c4_0_30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e061220c4_0_30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e061220c4_0_30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e061220c4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e061220c4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061220c4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061220c4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e061220c4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2e061220c4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061220c4_0_46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2e061220c4_0_46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061220c4_0_46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061220c4_0_46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e061220c4_0_46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2e061220c4_0_46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61220c4_0_5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061220c4_0_5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061220c4_0_5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e061220c4_0_5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061220c4_0_5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2e061220c4_0_5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e061220c4_0_64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e061220c4_0_64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e061220c4_0_64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e061220c4_0_6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e061220c4_0_64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2e061220c4_0_64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e061220c4_0_73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e061220c4_0_73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061220c4_0_73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061220c4_0_73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e061220c4_0_73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e061220c4_0_73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e061220c4_0_7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e061220c4_0_7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2e061220c4_0_7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2e061220c4_0_7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2e061220c4_0_7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2e061220c4_0_7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061220c4_0_7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2e061220c4_0_7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2e061220c4_0_7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2e061220c4_0_7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2e061220c4_0_7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2e061220c4_0_7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061220c4_0_779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e061220c4_0_779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e061220c4_0_779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e061220c4_0_77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e061220c4_0_779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2e061220c4_0_779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e061220c4_0_79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e061220c4_0_79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e061220c4_0_79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e061220c4_0_79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e061220c4_0_79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2e061220c4_0_79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e061220c4_0_82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e061220c4_0_82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2e061220c4_0_82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2e061220c4_0_82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2e061220c4_0_82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2e061220c4_0_82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e061220c4_0_84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e061220c4_0_84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e061220c4_0_84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e061220c4_0_84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e061220c4_0_84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2e061220c4_0_84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e061220c4_0_85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2e061220c4_0_85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2e061220c4_0_85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e061220c4_0_85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e061220c4_0_85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2e061220c4_0_85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8291c1c2e_0_2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8291c1c2e_0_2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8291c1c2e_0_2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8291c1c2e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8291c1c2e_0_2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28291c1c2e_0_2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291c1c2e_0_4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8291c1c2e_0_4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28291c1c2e_0_4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8291c1c2e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28291c1c2e_0_4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28291c1c2e_0_4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8291c1c2e_0_2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28291c1c2e_0_2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8291c1c2e_0_2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8291c1c2e_0_2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28291c1c2e_0_2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28291c1c2e_0_2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291c1c2e_0_24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8291c1c2e_0_24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8291c1c2e_0_24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8291c1c2e_0_24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28291c1c2e_0_24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28291c1c2e_0_24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8291c1c2e_0_26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28291c1c2e_0_26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28291c1c2e_0_26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28291c1c2e_0_26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8291c1c2e_0_26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28291c1c2e_0_26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8291c1c2e_0_28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28291c1c2e_0_28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8291c1c2e_0_28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8291c1c2e_0_2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28291c1c2e_0_28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28291c1c2e_0_28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28291c1c2e_0_3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8291c1c2e_0_3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8291c1c2e_0_3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8291c1c2e_0_3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8291c1c2e_0_3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28291c1c2e_0_3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8291c1c2e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8291c1c2e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28291c1c2e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8291c1c2e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28291c1c2e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28291c1c2e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8291c1c2e_0_41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28291c1c2e_0_41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8291c1c2e_0_41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28291c1c2e_0_41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28291c1c2e_0_41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28291c1c2e_0_41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8291c1c2e_0_49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8291c1c2e_0_49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8291c1c2e_0_49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28291c1c2e_0_49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28291c1c2e_0_49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28291c1c2e_0_49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8291c1c2e_0_57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28291c1c2e_0_57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28291c1c2e_0_57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28291c1c2e_0_57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28291c1c2e_0_57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28291c1c2e_0_57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8291c1c2e_0_6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8291c1c2e_0_6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8291c1c2e_0_6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28291c1c2e_0_6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8291c1c2e_0_6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28291c1c2e_0_6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8291c1c2e_0_72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28291c1c2e_0_72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28291c1c2e_0_72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28291c1c2e_0_72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28291c1c2e_0_72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28291c1c2e_0_72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8291c1c2e_0_73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8291c1c2e_0_73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8291c1c2e_0_73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8291c1c2e_0_7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28291c1c2e_0_73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28291c1c2e_0_73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291c1c2e_0_816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28291c1c2e_0_816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28291c1c2e_0_816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8291c1c2e_0_8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28291c1c2e_0_816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28291c1c2e_0_816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8291c1c2e_0_90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8291c1c2e_0_90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28291c1c2e_0_90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28291c1c2e_0_9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28291c1c2e_0_90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28291c1c2e_0_90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684213" y="109538"/>
            <a:ext cx="825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84213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4895850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668550" y="1070850"/>
            <a:ext cx="7806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CSE340: Computer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1143000" y="23120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Chapter - 1: Computer Abstractions and Technology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480950" y="10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{BAE4D969-3089-4B12-A761-3EC8D21635BB}</a:tableStyleId>
              </a:tblPr>
              <a:tblGrid>
                <a:gridCol w="2695725"/>
                <a:gridCol w="3745625"/>
                <a:gridCol w="174075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or Software Component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component affects performance?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Where to learn?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both the number of 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source-level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the number of I/O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Covered in CSE221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Language, Compiler and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the number of computer instructions for each source-level statement.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2 &amp; 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and memory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instructions can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system (Hardware and OS)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I/O operations may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Great Ideas in Computer Architecture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46897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{BAE4D969-3089-4B12-A761-3EC8D21635BB}</a:tableStyleId>
              </a:tblPr>
              <a:tblGrid>
                <a:gridCol w="2852850"/>
                <a:gridCol w="535320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abstraction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simplify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Divide systems into layers to manage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h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iding the lower level details.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the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case fast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frequently performed operations.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Running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tasks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simultaneously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boost speed.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pipelining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way to achieve parallelism. More will be discussed in Chapter - 4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Anticipate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data or values to avoid delays.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Hierarchy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memories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Organizing memory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(registers, cache, RAM, storage) based on speed and size.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Dependability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redundancy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Adding extra components ensures reliability by compensating for failures in critical hardware or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Your Program 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02-P374493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97" y="1474613"/>
            <a:ext cx="2194276" cy="21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076187" y="1098178"/>
            <a:ext cx="58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high-level language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Compiler: translates HLL code to machine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service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input/output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memory and storage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tasks &amp; sharing resources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Processor, memory, I/O controllers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Program Code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684202" y="844150"/>
            <a:ext cx="39801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 closer to problem domain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for productivity and portability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representation of instructions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representation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digits (bits)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Encoded instructions and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600" y="844149"/>
            <a:ext cx="2572201" cy="40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Computer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477450" y="1288900"/>
            <a:ext cx="41466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five classic components of a computer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 and control are sometimes combined and called the processor.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0" y="937514"/>
            <a:ext cx="4146476" cy="32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448050" y="4353250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standard organization of a computer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" y="1264797"/>
            <a:ext cx="3920849" cy="26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-30425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Components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01" y="1264808"/>
            <a:ext cx="4125223" cy="27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648100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Logic board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63" y="759475"/>
            <a:ext cx="4405080" cy="37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1967100" y="46187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processor integrated circuit inside the A12 package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for Building Processors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738500" y="43631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Manufacturing process of an IC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18-P374493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26" y="823924"/>
            <a:ext cx="6211200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10th Gen. Wafer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15575" y="436317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12-inch (300mm) wafer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325" y="911883"/>
            <a:ext cx="3642894" cy="329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626300" y="911875"/>
            <a:ext cx="388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10nm wafer contains 10th Gen Intel® Core™ processors, code-named “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Ice Lake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” (Courtesy Intel).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number of dies on this 300 mm (12 inch) wafer at 100% yield is 506.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Each die or chip size = 11.4mm by 10.7mm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4497450" y="2988500"/>
            <a:ext cx="41466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percentage of good dies from the  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total number of dies on the wafer.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Die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individual rectangular sections that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are cut from a wafer, more informally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known as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chips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Cost Calculation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5" y="1147323"/>
            <a:ext cx="4855600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54375" y="3147850"/>
            <a:ext cx="66630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relation to area and defect rate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Wafer cost and area are fixed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rate determined by manufacturing process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area determined by architecture and circuit design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063375" y="1062914"/>
            <a:ext cx="2528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 the yield formula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is a model parameter that determines how defects and die size impact yield. It is typically derived from real-world data and can range between 1 and 2, though it may vary outside this range depending on the technology and defect behavior.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628650" y="1201825"/>
            <a:ext cx="7270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Based on the table below which airplane has the best performance?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" y="1552750"/>
            <a:ext cx="8996251" cy="22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65200" y="3789150"/>
            <a:ext cx="61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capacity, range, and speed for a number of commercial airplanes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 and Throughput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529400" y="983550"/>
            <a:ext cx="72702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time between the start and completion of a task. Also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known as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Throughput: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work done per unit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e.g., tasks/transactions/… per hour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focus on response time for now…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are response time and throughput affected by,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Replacing the processor with a faster version?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Adding additional processors to a system that uses multiple 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separate tasks?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75" y="1748400"/>
            <a:ext cx="3916675" cy="7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529400" y="983550"/>
            <a:ext cx="7270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maximize performance, we want to minimize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response/execution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time for a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relation between performance and execution time for computer X: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29400" y="2735675"/>
            <a:ext cx="30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“X is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faster than Y”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54" y="2735679"/>
            <a:ext cx="3814823" cy="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1111325" y="3418675"/>
            <a:ext cx="54480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258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time taken to run a program 10s on A, 15s on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 / 10s = 1.5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is 1.5 times faster than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Execution Time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701775" y="958425"/>
            <a:ext cx="72702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Elapsed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response time, including all aspects. E.g Processing,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I/O, OS overhead, idle time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Determines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CPU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actual time the CPU spends computing for a specific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Discounts I/O time, other jobs’ shares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Comprises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user CPU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system CPU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 programs are affected differently by CPU and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Clocking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628650" y="838925"/>
            <a:ext cx="6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of digital hardware governed by a constant-rate clock.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1"/>
          <p:cNvCxnSpPr/>
          <p:nvPr/>
        </p:nvCxnSpPr>
        <p:spPr>
          <a:xfrm>
            <a:off x="2474912" y="1413272"/>
            <a:ext cx="17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2474912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41"/>
          <p:cNvCxnSpPr/>
          <p:nvPr/>
        </p:nvCxnSpPr>
        <p:spPr>
          <a:xfrm>
            <a:off x="42037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41"/>
          <p:cNvCxnSpPr/>
          <p:nvPr/>
        </p:nvCxnSpPr>
        <p:spPr>
          <a:xfrm>
            <a:off x="59309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7659687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41"/>
          <p:cNvCxnSpPr/>
          <p:nvPr/>
        </p:nvCxnSpPr>
        <p:spPr>
          <a:xfrm>
            <a:off x="2474912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/>
          <p:nvPr/>
        </p:nvCxnSpPr>
        <p:spPr>
          <a:xfrm>
            <a:off x="24749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/>
          <p:nvPr/>
        </p:nvCxnSpPr>
        <p:spPr>
          <a:xfrm>
            <a:off x="33385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/>
          <p:nvPr/>
        </p:nvCxnSpPr>
        <p:spPr>
          <a:xfrm>
            <a:off x="3338512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187575" y="1790700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>
            <a:off x="42037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2037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50673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>
            <a:off x="50673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>
            <a:off x="59309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>
            <a:off x="59309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67945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67945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7659687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659687" y="1575197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4059237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880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75152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1"/>
          <p:cNvCxnSpPr/>
          <p:nvPr/>
        </p:nvCxnSpPr>
        <p:spPr>
          <a:xfrm>
            <a:off x="2187575" y="2708672"/>
            <a:ext cx="590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2187575" y="1466972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/>
        </p:nvSpPr>
        <p:spPr>
          <a:xfrm>
            <a:off x="684212" y="1502569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(cycles)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684212" y="1750219"/>
            <a:ext cx="168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b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computation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84212" y="2235994"/>
            <a:ext cx="133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state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763837" y="1358503"/>
            <a:ext cx="1150800" cy="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26047" y="1253725"/>
            <a:ext cx="16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030275" y="2870601"/>
            <a:ext cx="77724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complete a clock cycle</a:t>
            </a:r>
            <a:endParaRPr i="0" sz="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250ps = 0.25ns = 250×10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–12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 (rate)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ycles 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ompleted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second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4.0GHz = 4000MHz = 4.0×10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Hz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42037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2474912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59309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and Its Factors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50" y="1011075"/>
            <a:ext cx="4908876" cy="18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869838" y="3030025"/>
            <a:ext cx="7404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formula mentioned above and determine how can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performance of a program?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830151" y="731325"/>
            <a:ext cx="8070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rogram runs in 10 seconds on computer A, which has a 2GHz clock. We are trying to help a computer designer build a computer, B, which will run this program in 6 seconds. The designer has determined that a substantial increase in the clock rate is possible, but this increase will affect the rest of the CPU design, causing computer B to require 1.2 times as many clock cycles as computer A for this program. What clock rate should we tell the designer to target?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00" y="2749475"/>
            <a:ext cx="3737651" cy="15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25" y="2749475"/>
            <a:ext cx="4110781" cy="1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63" y="4352250"/>
            <a:ext cx="537987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and CPI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013" y="911878"/>
            <a:ext cx="5329974" cy="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025" y="1609550"/>
            <a:ext cx="4920324" cy="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77" y="2121225"/>
            <a:ext cx="3221376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 txBox="1"/>
          <p:nvPr/>
        </p:nvSpPr>
        <p:spPr>
          <a:xfrm>
            <a:off x="1860000" y="2849550"/>
            <a:ext cx="5417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for a program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program, ISA and compiler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cycles per instruction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CPU hardware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instructions have different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spcBef>
                <a:spcPts val="40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affected by instruction mix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&amp; CPI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1441050" y="1041800"/>
            <a:ext cx="626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A: Cycle Time = 250ps, CPI = 2.0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B: Cycle Time = 500ps, CPI = 1.2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ISA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faster, and by how much?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50" y="2443004"/>
            <a:ext cx="4761873" cy="2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/>
        </p:nvSpPr>
        <p:spPr>
          <a:xfrm>
            <a:off x="6598050" y="2272125"/>
            <a:ext cx="234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assumed that the instruction count is same in both cases?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593450" y="4712400"/>
            <a:ext cx="234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 is 1.2 times faster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with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1441050" y="96560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 classes take different numbers of cycles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075" y="1295600"/>
            <a:ext cx="3436050" cy="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1441050" y="170835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average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906" y="2114550"/>
            <a:ext cx="3824400" cy="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6"/>
          <p:cNvSpPr txBox="1"/>
          <p:nvPr/>
        </p:nvSpPr>
        <p:spPr>
          <a:xfrm>
            <a:off x="1601100" y="2495550"/>
            <a:ext cx="6551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compiled code sequences using instructions in classes A, B, 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50" y="3063424"/>
            <a:ext cx="4074134" cy="2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Trends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7"/>
          <p:cNvSpPr txBox="1"/>
          <p:nvPr>
            <p:ph idx="1" type="body"/>
          </p:nvPr>
        </p:nvSpPr>
        <p:spPr>
          <a:xfrm>
            <a:off x="723912" y="3415144"/>
            <a:ext cx="8271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00"/>
              <a:buFont typeface="Times New Roman"/>
              <a:buChar char="■"/>
            </a:pPr>
            <a:r>
              <a:rPr i="0" lang="en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IC technology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387" y="3900840"/>
            <a:ext cx="5311381" cy="37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412" y="951309"/>
            <a:ext cx="5179219" cy="222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Power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8"/>
          <p:cNvSpPr txBox="1"/>
          <p:nvPr>
            <p:ph idx="1" type="body"/>
          </p:nvPr>
        </p:nvSpPr>
        <p:spPr>
          <a:xfrm>
            <a:off x="760412" y="844153"/>
            <a:ext cx="8271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new CPU has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of capacitive load of old CPU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voltage and 15% frequency reduction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75" y="2029869"/>
            <a:ext cx="5670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/>
        </p:nvSpPr>
        <p:spPr>
          <a:xfrm>
            <a:off x="760400" y="2950375"/>
            <a:ext cx="4152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wall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reduce voltage further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remove more heat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282000" y="2950375"/>
            <a:ext cx="3000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else can we improve performance?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Uniprocessor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1115999" y="4137425"/>
            <a:ext cx="5850300" cy="48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onstrained by power, instruction-level parallelism, memory latency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636" y="759476"/>
            <a:ext cx="5129024" cy="27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9"/>
          <p:cNvSpPr txBox="1"/>
          <p:nvPr>
            <p:ph idx="4294967295" type="body"/>
          </p:nvPr>
        </p:nvSpPr>
        <p:spPr>
          <a:xfrm>
            <a:off x="1610650" y="3529088"/>
            <a:ext cx="499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Growth in processor performance since the mid-1980s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/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Multiprocessors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628650" y="1026930"/>
            <a:ext cx="78867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Multicore microprocessors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one processor per chip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2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explicitly </a:t>
            </a:r>
            <a:r>
              <a:rPr i="0" lang="en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instruction level parallelism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executes multiple instructions at once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from the programmer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communication and synchronization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 Benchmark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1"/>
          <p:cNvSpPr txBox="1"/>
          <p:nvPr>
            <p:ph idx="1" type="body"/>
          </p:nvPr>
        </p:nvSpPr>
        <p:spPr>
          <a:xfrm>
            <a:off x="684212" y="844153"/>
            <a:ext cx="8271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What is Benchmark?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used to measure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Performance Evaluation Corp (</a:t>
            </a:r>
            <a:r>
              <a:rPr b="1" i="0" lang="en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Develops benchmarks for CPU, I/O, Web,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CPU2017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 time to execute a selection of programs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Negligible I/O, so focuses on CPU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relative to reference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as geometric mean of performance ratios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SPECspeed2017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(integer) and CFP2006 (floating-point)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868340"/>
            <a:ext cx="2828923" cy="7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</a:t>
            </a: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&amp; Geometric Mean Calculation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16" y="1070648"/>
            <a:ext cx="6563175" cy="35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7525775" y="1462100"/>
            <a:ext cx="15750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time is supplied by SPEC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Amdahl’s Law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684212" y="844153"/>
            <a:ext cx="7991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an aspect of a computer and expecting a proportional improvement in overall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925" y="3165897"/>
            <a:ext cx="1296591" cy="5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4520025" y="3245603"/>
            <a:ext cx="345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23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done!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924" y="1507350"/>
            <a:ext cx="3965975" cy="62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3"/>
          <p:cNvSpPr txBox="1"/>
          <p:nvPr/>
        </p:nvSpPr>
        <p:spPr>
          <a:xfrm>
            <a:off x="684225" y="2274753"/>
            <a:ext cx="79914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multiply accounts for 80s/100s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improvement in multiply performance to get 5× overall?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4853" y="3918350"/>
            <a:ext cx="5706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Corollary: make the common case fast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>
            <p:ph type="title"/>
          </p:nvPr>
        </p:nvSpPr>
        <p:spPr>
          <a:xfrm>
            <a:off x="684212" y="200025"/>
            <a:ext cx="82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 as a Performance Metric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54"/>
          <p:cNvSpPr txBox="1"/>
          <p:nvPr>
            <p:ph idx="1" type="body"/>
          </p:nvPr>
        </p:nvSpPr>
        <p:spPr>
          <a:xfrm>
            <a:off x="684212" y="844153"/>
            <a:ext cx="82710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MIPS: Millions of Instructions Per Second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account for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ISAs between computers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complexity between instructions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7" name="Google Shape;5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662" y="2409853"/>
            <a:ext cx="4917283" cy="1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4"/>
          <p:cNvSpPr txBox="1"/>
          <p:nvPr/>
        </p:nvSpPr>
        <p:spPr>
          <a:xfrm>
            <a:off x="684212" y="4192190"/>
            <a:ext cx="827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CPI varies between programs on a given CPU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55"/>
          <p:cNvSpPr txBox="1"/>
          <p:nvPr>
            <p:ph idx="1" type="body"/>
          </p:nvPr>
        </p:nvSpPr>
        <p:spPr>
          <a:xfrm>
            <a:off x="628650" y="1026930"/>
            <a:ext cx="7886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Cost/performance is improving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underlying technology development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layers of abstraction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hardware and software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set architecture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hardware/software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time: the best performance measure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is a limiting factor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parallelism to improve performance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